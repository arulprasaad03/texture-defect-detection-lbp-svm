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looking at our proposal for lightweight texture-based defect detection. And we want to establish our team and project scope right from the start. Let's move straight into the core problem we are trying to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industrial inspection is slow, inconsistent, and hard to scale. But heavy deep learning models often demand too much compute and lack transparency. So our formal goal is building a lightweight and interpretable vision system that balances accuracy, efficiency, and clarity. And that brings us to why we chose a classical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aren't using deep learning here because classical texture descriptors offer unmatched interpretability and CPU-friendly execution. LBP captures local spatial patterns, while GLCM adds statistical co-occurrence measures. And combining them gives us a robust feature set for a support vector machine. Let's look at the foundational literature that supports this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foundation rests on decades of proven texture analysis combined with a modern industrial benchmark. Haralick and Ojala gave us the statistical and local binary tools we still rely on today. And Bergmann's MVTec AD dataset gives us the rigorous testing ground we need. Let's examine how recent research builds on this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Recent literature is heavily dominated by heavy deep learning methods like PaDiM and PatchCore. But those heavy models leave a clear research gap for lightweight, interpretable alternatives. So our work steps in to systematically evaluate classical feature combinations on MVTec AD. And that benchmark is what we'll explore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MVTec AD gives us a realistic industrial testing ground with thousands of high-resolution images across diverse categories. Building on our review of modern anomalies, this benchmark lets us rigorously test classical texture descriptors against actual defects and pixel-precise ground truths. We use its structured object and texture classes to map normal training samples directly against defective test instances. And this prepares us to evaluate both local patterns and statistical features under controlled conditions. Let's look at how we structure the processing pipeline for these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Following our dataset analysis, we design a single architecture that scales across three distinct feature pipelines. We start with grayscale conversion and normalization, then feed the image into three separate branches of texture extraction. These branches range from single-scale LBP up to a hybrid multi-scale LBP and GLCM combination. After feature engineering and dimensionality reduction, a support vector machine makes the final normal or defective classification. And we maintain strict reproducibility through fixed preprocessing and consistent feature scaling. This modular setup allows us to directly compare the expressive power of each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directly on our methodology, our experimental framework isolates the exact value of scale and feature fusion across three pipelines. Pipeline one establishes our single-scale baseline using simple histogram features. Pipeline two introduces multi-scale LBP to capture patterns across different spatial resolutions. Pipeline three combines multi-scale LBP with GLCM statistical descriptors alongside feature selection. So our core research question asks whether this progression improves defect classification while keeping things efficient. And that brings us to the specific algorithms and metrics we use to evaluate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our experimental pipelines defined, we select each algorithm for a specific role in the representation-to-decision chain. Local binary patterns capture neighborhood structures efficiently, while gray-level co-occurrence matrices add statistical measures like contrast and homogeneity. Support vector machines then handle the structured feature vectors using either linear or nonlinear boundaries. We evaluate performance using accuracy, precision, recall, and the F1-score to balance false positives and false negatives. Because this is a proposal stage, our comparative evaluation table outlines the metrics we will populate as experiments run. And this structured metric framework leads directly into our research contributions.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contribution isn't just applying an existing descriptor. We've built a controlled comparative framework to measure what each feature adds. And building on how we select our metrics, we can now isolate the exact value of multi-scale representation and feature fusion. We systematically test whether combining LBP with GLCM justifies its extra computational weight. And this lets us offer a transparent, CPU-friendly alternative without claiming it beats heavy deep learning everywhere. Let's look at how we plan to execute this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structured our project into three clear phases to ensure steady and rigorous progress. Foundation work covers our literature review and dataset preparation on MVTec AD. Then we move into development, building our pipelines from single-scale LBP up to the hybrid GLCM fusion. And finally, evaluation and delivery tie everything together with rigorous cross-validation and metrics. Let's turn to what we expect to achieve with this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we are at the proposal stage, these are strictly expected outcomes rather than final claims. We anticipate a fully functional, lightweight classification pipeline that balances accuracy with low compute costs. We want to quantify the exact trade-offs between linear and RBF SVM kernels across our feature sets. And looking ahead, we plan to extend this binary work into pixel-level localization and adaptive scale selection. Thank you for your time, and we welcome your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slideLayout" Target="../slideLayouts/slideLayout1.xml"/><Relationship Id="rId1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slideLayout" Target="../slideLayouts/slideLayout1.xml"/><Relationship Id="rId1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1000125" y="401110"/>
            <a:ext cx="7143750" cy="4341223"/>
          </a:xfrm>
          <a:prstGeom prst="rect">
            <a:avLst/>
          </a:prstGeom>
          <a:solidFill>
            <a:srgbClr val="FFFFFF"/>
          </a:solidFill>
          <a:ln w="9144">
            <a:solidFill>
              <a:srgbClr val="0A192F">
                <a:alpha val="10000"/>
              </a:srgbClr>
            </a:solidFill>
            <a:prstDash val="solid"/>
          </a:ln>
        </p:spPr>
      </p:sp>
      <p:sp>
        <p:nvSpPr>
          <p:cNvPr id="5" name="Text 1"/>
          <p:cNvSpPr/>
          <p:nvPr/>
        </p:nvSpPr>
        <p:spPr>
          <a:xfrm>
            <a:off x="1428750" y="836879"/>
            <a:ext cx="6286500" cy="1080102"/>
          </a:xfrm>
          <a:prstGeom prst="rect">
            <a:avLst/>
          </a:prstGeom>
          <a:noFill/>
          <a:ln/>
        </p:spPr>
        <p:txBody>
          <a:bodyPr wrap="square" lIns="0" tIns="0" rIns="0" bIns="0" rtlCol="0" anchor="t">
            <a:spAutoFit/>
          </a:bodyPr>
          <a:lstStyle/>
          <a:p>
            <a:pPr algn="ctr" indent="0" marL="0">
              <a:lnSpc>
                <a:spcPct val="96000"/>
              </a:lnSpc>
              <a:buNone/>
            </a:pPr>
            <a:r>
              <a:rPr lang="en-US" sz="2250" spc="1" kern="0" dirty="0">
                <a:solidFill>
                  <a:srgbClr val="0A192F"/>
                </a:solidFill>
                <a:latin typeface="Courier New" pitchFamily="34" charset="0"/>
                <a:ea typeface="Courier New" pitchFamily="34" charset="-122"/>
                <a:cs typeface="Courier New" pitchFamily="34" charset="-120"/>
              </a:rPr>
              <a:t>LIGHTWEIGHT TEXTURE-BASED DEFECT DETECTION USING MULTI-SCALE LBP, GLCM AND SVM ON MVTEC AD DATASET</a:t>
            </a:r>
            <a:endParaRPr lang="en-US" sz="2250" dirty="0"/>
          </a:p>
        </p:txBody>
      </p:sp>
      <p:sp>
        <p:nvSpPr>
          <p:cNvPr id="6" name="Text 2"/>
          <p:cNvSpPr/>
          <p:nvPr/>
        </p:nvSpPr>
        <p:spPr>
          <a:xfrm>
            <a:off x="1428750" y="2059856"/>
            <a:ext cx="6286500" cy="196453"/>
          </a:xfrm>
          <a:prstGeom prst="rect">
            <a:avLst/>
          </a:prstGeom>
          <a:noFill/>
          <a:ln/>
        </p:spPr>
        <p:txBody>
          <a:bodyPr wrap="square" lIns="0" tIns="0" rIns="0" bIns="0" rtlCol="0" anchor="t">
            <a:spAutoFit/>
          </a:bodyPr>
          <a:lstStyle/>
          <a:p>
            <a:pPr algn="ctr" indent="0" marL="0">
              <a:buNone/>
            </a:pPr>
            <a:r>
              <a:rPr lang="en-US" sz="1250" spc="2" kern="0" dirty="0">
                <a:solidFill>
                  <a:srgbClr val="D95D39"/>
                </a:solidFill>
                <a:latin typeface="Segoe UI" pitchFamily="34" charset="0"/>
                <a:ea typeface="Segoe UI" pitchFamily="34" charset="-122"/>
                <a:cs typeface="Segoe UI" pitchFamily="34" charset="-120"/>
              </a:rPr>
              <a:t>REVIEW-1 PROJECT PROPOSAL</a:t>
            </a:r>
            <a:endParaRPr lang="en-US" sz="1250" dirty="0"/>
          </a:p>
        </p:txBody>
      </p:sp>
      <p:sp>
        <p:nvSpPr>
          <p:cNvPr id="7" name="Text 3"/>
          <p:cNvSpPr/>
          <p:nvPr/>
        </p:nvSpPr>
        <p:spPr>
          <a:xfrm>
            <a:off x="1428750" y="2977828"/>
            <a:ext cx="3036094" cy="114300"/>
          </a:xfrm>
          <a:prstGeom prst="rect">
            <a:avLst/>
          </a:prstGeom>
          <a:noFill/>
          <a:ln/>
        </p:spPr>
        <p:txBody>
          <a:bodyPr wrap="square" lIns="0" tIns="0" rIns="0" bIns="0" rtlCol="0" anchor="t">
            <a:spAutoFit/>
          </a:bodyPr>
          <a:lstStyle/>
          <a:p>
            <a:pPr algn="l" indent="0" marL="0">
              <a:buNone/>
            </a:pPr>
            <a:r>
              <a:rPr lang="en-US" sz="700" b="1" dirty="0">
                <a:solidFill>
                  <a:srgbClr val="888888"/>
                </a:solidFill>
                <a:latin typeface="Segoe UI" pitchFamily="34" charset="0"/>
                <a:ea typeface="Segoe UI" pitchFamily="34" charset="-122"/>
                <a:cs typeface="Segoe UI" pitchFamily="34" charset="-120"/>
              </a:rPr>
              <a:t>PROJECT TEAM</a:t>
            </a:r>
            <a:endParaRPr lang="en-US" sz="700" dirty="0"/>
          </a:p>
        </p:txBody>
      </p:sp>
      <p:sp>
        <p:nvSpPr>
          <p:cNvPr id="8" name="Text 4"/>
          <p:cNvSpPr/>
          <p:nvPr/>
        </p:nvSpPr>
        <p:spPr>
          <a:xfrm>
            <a:off x="1428750" y="3127846"/>
            <a:ext cx="3036094" cy="150019"/>
          </a:xfrm>
          <a:prstGeom prst="rect">
            <a:avLst/>
          </a:prstGeom>
          <a:noFill/>
          <a:ln/>
        </p:spPr>
        <p:txBody>
          <a:bodyPr wrap="square" lIns="0" tIns="0" rIns="0" bIns="0" rtlCol="0" anchor="t">
            <a:spAutoFit/>
          </a:bodyPr>
          <a:lstStyle/>
          <a:p>
            <a:pPr algn="l" indent="0" marL="0">
              <a:buNone/>
            </a:pPr>
            <a:r>
              <a:rPr lang="en-US" sz="950" dirty="0">
                <a:solidFill>
                  <a:srgbClr val="333F48"/>
                </a:solidFill>
                <a:latin typeface="Segoe UI" pitchFamily="34" charset="0"/>
                <a:ea typeface="Segoe UI" pitchFamily="34" charset="-122"/>
                <a:cs typeface="Segoe UI" pitchFamily="34" charset="-120"/>
              </a:rPr>
              <a:t>[Insert Team Members]</a:t>
            </a:r>
            <a:endParaRPr lang="en-US" sz="950" dirty="0"/>
          </a:p>
        </p:txBody>
      </p:sp>
      <p:sp>
        <p:nvSpPr>
          <p:cNvPr id="9" name="Text 5"/>
          <p:cNvSpPr/>
          <p:nvPr/>
        </p:nvSpPr>
        <p:spPr>
          <a:xfrm>
            <a:off x="4679156" y="2977828"/>
            <a:ext cx="3036094" cy="114300"/>
          </a:xfrm>
          <a:prstGeom prst="rect">
            <a:avLst/>
          </a:prstGeom>
          <a:noFill/>
          <a:ln/>
        </p:spPr>
        <p:txBody>
          <a:bodyPr wrap="square" lIns="0" tIns="0" rIns="0" bIns="0" rtlCol="0" anchor="t">
            <a:spAutoFit/>
          </a:bodyPr>
          <a:lstStyle/>
          <a:p>
            <a:pPr algn="l" indent="0" marL="0">
              <a:buNone/>
            </a:pPr>
            <a:r>
              <a:rPr lang="en-US" sz="700" b="1" dirty="0">
                <a:solidFill>
                  <a:srgbClr val="888888"/>
                </a:solidFill>
                <a:latin typeface="Segoe UI" pitchFamily="34" charset="0"/>
                <a:ea typeface="Segoe UI" pitchFamily="34" charset="-122"/>
                <a:cs typeface="Segoe UI" pitchFamily="34" charset="-120"/>
              </a:rPr>
              <a:t>REGISTER NUMBERS</a:t>
            </a:r>
            <a:endParaRPr lang="en-US" sz="700" dirty="0"/>
          </a:p>
        </p:txBody>
      </p:sp>
      <p:sp>
        <p:nvSpPr>
          <p:cNvPr id="10" name="Text 6"/>
          <p:cNvSpPr/>
          <p:nvPr/>
        </p:nvSpPr>
        <p:spPr>
          <a:xfrm>
            <a:off x="4679156" y="3127846"/>
            <a:ext cx="3036094" cy="150019"/>
          </a:xfrm>
          <a:prstGeom prst="rect">
            <a:avLst/>
          </a:prstGeom>
          <a:noFill/>
          <a:ln/>
        </p:spPr>
        <p:txBody>
          <a:bodyPr wrap="square" lIns="0" tIns="0" rIns="0" bIns="0" rtlCol="0" anchor="t">
            <a:spAutoFit/>
          </a:bodyPr>
          <a:lstStyle/>
          <a:p>
            <a:pPr algn="l" indent="0" marL="0">
              <a:buNone/>
            </a:pPr>
            <a:r>
              <a:rPr lang="en-US" sz="950" dirty="0">
                <a:solidFill>
                  <a:srgbClr val="333F48"/>
                </a:solidFill>
                <a:latin typeface="Segoe UI" pitchFamily="34" charset="0"/>
                <a:ea typeface="Segoe UI" pitchFamily="34" charset="-122"/>
                <a:cs typeface="Segoe UI" pitchFamily="34" charset="-120"/>
              </a:rPr>
              <a:t>[Insert Register Numbers]</a:t>
            </a:r>
            <a:endParaRPr lang="en-US" sz="950" dirty="0"/>
          </a:p>
        </p:txBody>
      </p:sp>
      <p:sp>
        <p:nvSpPr>
          <p:cNvPr id="11" name="Text 7"/>
          <p:cNvSpPr/>
          <p:nvPr/>
        </p:nvSpPr>
        <p:spPr>
          <a:xfrm>
            <a:off x="1428750" y="3492178"/>
            <a:ext cx="3036094" cy="114300"/>
          </a:xfrm>
          <a:prstGeom prst="rect">
            <a:avLst/>
          </a:prstGeom>
          <a:noFill/>
          <a:ln/>
        </p:spPr>
        <p:txBody>
          <a:bodyPr wrap="square" lIns="0" tIns="0" rIns="0" bIns="0" rtlCol="0" anchor="t">
            <a:spAutoFit/>
          </a:bodyPr>
          <a:lstStyle/>
          <a:p>
            <a:pPr algn="l" indent="0" marL="0">
              <a:buNone/>
            </a:pPr>
            <a:r>
              <a:rPr lang="en-US" sz="700" b="1" dirty="0">
                <a:solidFill>
                  <a:srgbClr val="888888"/>
                </a:solidFill>
                <a:latin typeface="Segoe UI" pitchFamily="34" charset="0"/>
                <a:ea typeface="Segoe UI" pitchFamily="34" charset="-122"/>
                <a:cs typeface="Segoe UI" pitchFamily="34" charset="-120"/>
              </a:rPr>
              <a:t>DEPARTMENT</a:t>
            </a:r>
            <a:endParaRPr lang="en-US" sz="700" dirty="0"/>
          </a:p>
        </p:txBody>
      </p:sp>
      <p:sp>
        <p:nvSpPr>
          <p:cNvPr id="12" name="Text 8"/>
          <p:cNvSpPr/>
          <p:nvPr/>
        </p:nvSpPr>
        <p:spPr>
          <a:xfrm>
            <a:off x="1428750" y="3642196"/>
            <a:ext cx="3036094" cy="150019"/>
          </a:xfrm>
          <a:prstGeom prst="rect">
            <a:avLst/>
          </a:prstGeom>
          <a:noFill/>
          <a:ln/>
        </p:spPr>
        <p:txBody>
          <a:bodyPr wrap="square" lIns="0" tIns="0" rIns="0" bIns="0" rtlCol="0" anchor="t">
            <a:spAutoFit/>
          </a:bodyPr>
          <a:lstStyle/>
          <a:p>
            <a:pPr algn="l" indent="0" marL="0">
              <a:buNone/>
            </a:pPr>
            <a:r>
              <a:rPr lang="en-US" sz="950" dirty="0">
                <a:solidFill>
                  <a:srgbClr val="333F48"/>
                </a:solidFill>
                <a:latin typeface="Segoe UI" pitchFamily="34" charset="0"/>
                <a:ea typeface="Segoe UI" pitchFamily="34" charset="-122"/>
                <a:cs typeface="Segoe UI" pitchFamily="34" charset="-120"/>
              </a:rPr>
              <a:t>[Insert Department]</a:t>
            </a:r>
            <a:endParaRPr lang="en-US" sz="950" dirty="0"/>
          </a:p>
        </p:txBody>
      </p:sp>
      <p:sp>
        <p:nvSpPr>
          <p:cNvPr id="13" name="Text 9"/>
          <p:cNvSpPr/>
          <p:nvPr/>
        </p:nvSpPr>
        <p:spPr>
          <a:xfrm>
            <a:off x="4679156" y="3492178"/>
            <a:ext cx="3036094" cy="114300"/>
          </a:xfrm>
          <a:prstGeom prst="rect">
            <a:avLst/>
          </a:prstGeom>
          <a:noFill/>
          <a:ln/>
        </p:spPr>
        <p:txBody>
          <a:bodyPr wrap="square" lIns="0" tIns="0" rIns="0" bIns="0" rtlCol="0" anchor="t">
            <a:spAutoFit/>
          </a:bodyPr>
          <a:lstStyle/>
          <a:p>
            <a:pPr algn="l" indent="0" marL="0">
              <a:buNone/>
            </a:pPr>
            <a:r>
              <a:rPr lang="en-US" sz="700" b="1" dirty="0">
                <a:solidFill>
                  <a:srgbClr val="888888"/>
                </a:solidFill>
                <a:latin typeface="Segoe UI" pitchFamily="34" charset="0"/>
                <a:ea typeface="Segoe UI" pitchFamily="34" charset="-122"/>
                <a:cs typeface="Segoe UI" pitchFamily="34" charset="-120"/>
              </a:rPr>
              <a:t>INSTITUTION</a:t>
            </a:r>
            <a:endParaRPr lang="en-US" sz="700" dirty="0"/>
          </a:p>
        </p:txBody>
      </p:sp>
      <p:sp>
        <p:nvSpPr>
          <p:cNvPr id="14" name="Text 10"/>
          <p:cNvSpPr/>
          <p:nvPr/>
        </p:nvSpPr>
        <p:spPr>
          <a:xfrm>
            <a:off x="4679156" y="3642196"/>
            <a:ext cx="3036094" cy="150019"/>
          </a:xfrm>
          <a:prstGeom prst="rect">
            <a:avLst/>
          </a:prstGeom>
          <a:noFill/>
          <a:ln/>
        </p:spPr>
        <p:txBody>
          <a:bodyPr wrap="square" lIns="0" tIns="0" rIns="0" bIns="0" rtlCol="0" anchor="t">
            <a:spAutoFit/>
          </a:bodyPr>
          <a:lstStyle/>
          <a:p>
            <a:pPr algn="l" indent="0" marL="0">
              <a:buNone/>
            </a:pPr>
            <a:r>
              <a:rPr lang="en-US" sz="950" dirty="0">
                <a:solidFill>
                  <a:srgbClr val="333F48"/>
                </a:solidFill>
                <a:latin typeface="Segoe UI" pitchFamily="34" charset="0"/>
                <a:ea typeface="Segoe UI" pitchFamily="34" charset="-122"/>
                <a:cs typeface="Segoe UI" pitchFamily="34" charset="-120"/>
              </a:rPr>
              <a:t>[Insert Institution]</a:t>
            </a:r>
            <a:endParaRPr lang="en-US" sz="950" dirty="0"/>
          </a:p>
        </p:txBody>
      </p:sp>
      <p:sp>
        <p:nvSpPr>
          <p:cNvPr id="15" name="Text 11"/>
          <p:cNvSpPr/>
          <p:nvPr/>
        </p:nvSpPr>
        <p:spPr>
          <a:xfrm>
            <a:off x="1428750" y="4006528"/>
            <a:ext cx="6286500" cy="114300"/>
          </a:xfrm>
          <a:prstGeom prst="rect">
            <a:avLst/>
          </a:prstGeom>
          <a:noFill/>
          <a:ln/>
        </p:spPr>
        <p:txBody>
          <a:bodyPr wrap="square" lIns="0" tIns="0" rIns="0" bIns="0" rtlCol="0" anchor="t">
            <a:spAutoFit/>
          </a:bodyPr>
          <a:lstStyle/>
          <a:p>
            <a:pPr algn="l" indent="0" marL="0">
              <a:buNone/>
            </a:pPr>
            <a:r>
              <a:rPr lang="en-US" sz="700" b="1" dirty="0">
                <a:solidFill>
                  <a:srgbClr val="888888"/>
                </a:solidFill>
                <a:latin typeface="Segoe UI" pitchFamily="34" charset="0"/>
                <a:ea typeface="Segoe UI" pitchFamily="34" charset="-122"/>
                <a:cs typeface="Segoe UI" pitchFamily="34" charset="-120"/>
              </a:rPr>
              <a:t>COURSE / SUBJECT</a:t>
            </a:r>
            <a:endParaRPr lang="en-US" sz="700" dirty="0"/>
          </a:p>
        </p:txBody>
      </p:sp>
      <p:sp>
        <p:nvSpPr>
          <p:cNvPr id="16" name="Text 12"/>
          <p:cNvSpPr/>
          <p:nvPr/>
        </p:nvSpPr>
        <p:spPr>
          <a:xfrm>
            <a:off x="1428750" y="4156546"/>
            <a:ext cx="6286500" cy="150019"/>
          </a:xfrm>
          <a:prstGeom prst="rect">
            <a:avLst/>
          </a:prstGeom>
          <a:noFill/>
          <a:ln/>
        </p:spPr>
        <p:txBody>
          <a:bodyPr wrap="square" lIns="0" tIns="0" rIns="0" bIns="0" rtlCol="0" anchor="t">
            <a:spAutoFit/>
          </a:bodyPr>
          <a:lstStyle/>
          <a:p>
            <a:pPr algn="l" indent="0" marL="0">
              <a:buNone/>
            </a:pPr>
            <a:r>
              <a:rPr lang="en-US" sz="950" dirty="0">
                <a:solidFill>
                  <a:srgbClr val="333F48"/>
                </a:solidFill>
                <a:latin typeface="Segoe UI" pitchFamily="34" charset="0"/>
                <a:ea typeface="Segoe UI" pitchFamily="34" charset="-122"/>
                <a:cs typeface="Segoe UI" pitchFamily="34" charset="-120"/>
              </a:rPr>
              <a:t>[Insert Course or Subject]</a:t>
            </a:r>
            <a:endParaRPr lang="en-US" sz="950" dirty="0"/>
          </a:p>
        </p:txBody>
      </p:sp>
      <p:sp>
        <p:nvSpPr>
          <p:cNvPr id="17" name="Text 13"/>
          <p:cNvSpPr/>
          <p:nvPr/>
        </p:nvSpPr>
        <p:spPr>
          <a:xfrm>
            <a:off x="0" y="4743450"/>
            <a:ext cx="9144000" cy="114300"/>
          </a:xfrm>
          <a:prstGeom prst="rect">
            <a:avLst/>
          </a:prstGeom>
          <a:noFill/>
          <a:ln/>
        </p:spPr>
        <p:txBody>
          <a:bodyPr wrap="square" lIns="0" tIns="0" rIns="0" bIns="0" rtlCol="0" anchor="t">
            <a:spAutoFit/>
          </a:bodyPr>
          <a:lstStyle/>
          <a:p>
            <a:pPr algn="ctr" indent="0" marL="0">
              <a:buNone/>
            </a:pPr>
            <a:r>
              <a:rPr lang="en-US" sz="750" dirty="0">
                <a:solidFill>
                  <a:srgbClr val="888888"/>
                </a:solidFill>
                <a:latin typeface="Segoe UI" pitchFamily="34" charset="0"/>
                <a:ea typeface="Segoe UI" pitchFamily="34" charset="-122"/>
                <a:cs typeface="Segoe UI" pitchFamily="34" charset="-120"/>
              </a:rPr>
              <a:t>Manus AI | 2026</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285750"/>
            <a:ext cx="2332100" cy="307181"/>
          </a:xfrm>
          <a:prstGeom prst="rect">
            <a:avLst/>
          </a:prstGeom>
          <a:noFill/>
          <a:ln/>
        </p:spPr>
        <p:txBody>
          <a:bodyPr wrap="square" lIns="0" tIns="0" rIns="0" bIns="42545" rtlCol="0" anchor="t">
            <a:spAutoFit/>
          </a:bodyPr>
          <a:lstStyle/>
          <a:p>
            <a:pPr algn="l" indent="0" marL="0">
              <a:buNone/>
            </a:pPr>
            <a:r>
              <a:rPr lang="en-US" sz="1700" dirty="0">
                <a:solidFill>
                  <a:srgbClr val="0A192F"/>
                </a:solidFill>
                <a:latin typeface="Courier New" pitchFamily="34" charset="0"/>
                <a:ea typeface="Courier New" pitchFamily="34" charset="-122"/>
                <a:cs typeface="Courier New" pitchFamily="34" charset="-120"/>
              </a:rPr>
              <a:t>PROBLEM STATEMENT</a:t>
            </a:r>
            <a:endParaRPr lang="en-US" sz="1700" dirty="0"/>
          </a:p>
        </p:txBody>
      </p:sp>
      <p:sp>
        <p:nvSpPr>
          <p:cNvPr id="5" name="Text 1"/>
          <p:cNvSpPr/>
          <p:nvPr/>
        </p:nvSpPr>
        <p:spPr>
          <a:xfrm>
            <a:off x="428625" y="878681"/>
            <a:ext cx="8286750" cy="457200"/>
          </a:xfrm>
          <a:prstGeom prst="rect">
            <a:avLst/>
          </a:prstGeom>
          <a:noFill/>
          <a:ln/>
        </p:spPr>
        <p:txBody>
          <a:bodyPr wrap="square" lIns="0" tIns="0" rIns="0" bIns="0" rtlCol="0" anchor="t">
            <a:spAutoFit/>
          </a:bodyPr>
          <a:lstStyle/>
          <a:p>
            <a:pPr algn="l" indent="0" marL="0">
              <a:lnSpc>
                <a:spcPct val="128000"/>
              </a:lnSpc>
              <a:buNone/>
            </a:pPr>
            <a:r>
              <a:rPr lang="en-US" sz="1050" dirty="0">
                <a:solidFill>
                  <a:srgbClr val="333F48"/>
                </a:solidFill>
                <a:latin typeface="Segoe UI" pitchFamily="34" charset="0"/>
                <a:ea typeface="Segoe UI" pitchFamily="34" charset="-122"/>
                <a:cs typeface="Segoe UI" pitchFamily="34" charset="-120"/>
              </a:rPr>
              <a:t>Industrial inspection must detect small, subtle deviations reliably and consistently. Manual inspection is often slow, inconsistent, and difficult to scale, while heavy deep-learning systems can be computationally expensive and less transparent.</a:t>
            </a:r>
            <a:endParaRPr lang="en-US" sz="1050" dirty="0"/>
          </a:p>
        </p:txBody>
      </p:sp>
      <p:sp>
        <p:nvSpPr>
          <p:cNvPr id="6" name="Shape 2"/>
          <p:cNvSpPr/>
          <p:nvPr/>
        </p:nvSpPr>
        <p:spPr>
          <a:xfrm>
            <a:off x="428625" y="1550194"/>
            <a:ext cx="8286750" cy="1285875"/>
          </a:xfrm>
          <a:prstGeom prst="rect">
            <a:avLst/>
          </a:prstGeom>
          <a:solidFill>
            <a:srgbClr val="FFFFFF"/>
          </a:solidFill>
          <a:ln w="9144">
            <a:solidFill>
              <a:srgbClr val="0A192F"/>
            </a:solidFill>
            <a:prstDash val="solid"/>
          </a:ln>
        </p:spPr>
      </p:sp>
      <p:sp>
        <p:nvSpPr>
          <p:cNvPr id="7" name="Text 3"/>
          <p:cNvSpPr/>
          <p:nvPr/>
        </p:nvSpPr>
        <p:spPr>
          <a:xfrm>
            <a:off x="642938" y="1728788"/>
            <a:ext cx="7858125" cy="205718"/>
          </a:xfrm>
          <a:prstGeom prst="rect">
            <a:avLst/>
          </a:prstGeom>
          <a:noFill/>
          <a:ln/>
        </p:spPr>
        <p:txBody>
          <a:bodyPr wrap="none" lIns="0" tIns="0" rIns="0" bIns="0" rtlCol="0" anchor="t">
            <a:spAutoFit/>
          </a:bodyPr>
          <a:lstStyle/>
          <a:p>
            <a:pPr algn="l" indent="0" marL="0">
              <a:lnSpc>
                <a:spcPct val="128000"/>
              </a:lnSpc>
              <a:buNone/>
            </a:pPr>
            <a:r>
              <a:rPr lang="en-US" sz="900" b="1" dirty="0">
                <a:solidFill>
                  <a:srgbClr val="0A192F"/>
                </a:solidFill>
                <a:latin typeface="Segoe UI" pitchFamily="34" charset="0"/>
                <a:ea typeface="Segoe UI" pitchFamily="34" charset="-122"/>
                <a:cs typeface="Segoe UI" pitchFamily="34" charset="-120"/>
              </a:rPr>
              <a:t>FORMAL PROBLEM STATEMENT</a:t>
            </a:r>
            <a:endParaRPr lang="en-US" sz="900" dirty="0"/>
          </a:p>
        </p:txBody>
      </p:sp>
      <p:sp>
        <p:nvSpPr>
          <p:cNvPr id="8" name="Text 4"/>
          <p:cNvSpPr/>
          <p:nvPr/>
        </p:nvSpPr>
        <p:spPr>
          <a:xfrm>
            <a:off x="642938" y="2005943"/>
            <a:ext cx="7858125" cy="754280"/>
          </a:xfrm>
          <a:prstGeom prst="rect">
            <a:avLst/>
          </a:prstGeom>
          <a:noFill/>
          <a:ln/>
        </p:spPr>
        <p:txBody>
          <a:bodyPr wrap="square" lIns="170053" tIns="0" rIns="0" bIns="0" rtlCol="0" anchor="t">
            <a:spAutoFit/>
          </a:bodyPr>
          <a:lstStyle/>
          <a:p>
            <a:pPr algn="l" indent="0" marL="0">
              <a:lnSpc>
                <a:spcPct val="128000"/>
              </a:lnSpc>
              <a:buNone/>
            </a:pPr>
            <a:r>
              <a:rPr lang="en-US" sz="1150" i="1" dirty="0">
                <a:solidFill>
                  <a:srgbClr val="333F48"/>
                </a:solidFill>
                <a:latin typeface="Segoe UI" pitchFamily="34" charset="0"/>
                <a:ea typeface="Segoe UI" pitchFamily="34" charset="-122"/>
                <a:cs typeface="Segoe UI" pitchFamily="34" charset="-120"/>
              </a:rPr>
              <a:t>"Develop a lightweight and interpretable machine-vision system capable of detecting industrial surface defects using classical texture descriptors and machine learning while maintaining a balance between accuracy, computational efficiency, and interpretability."</a:t>
            </a:r>
            <a:endParaRPr lang="en-US" sz="1150" dirty="0"/>
          </a:p>
        </p:txBody>
      </p:sp>
      <p:sp>
        <p:nvSpPr>
          <p:cNvPr id="9" name="Shape 5"/>
          <p:cNvSpPr/>
          <p:nvPr/>
        </p:nvSpPr>
        <p:spPr>
          <a:xfrm>
            <a:off x="428625" y="3336131"/>
            <a:ext cx="1571625" cy="571500"/>
          </a:xfrm>
          <a:prstGeom prst="rect">
            <a:avLst/>
          </a:prstGeom>
          <a:solidFill>
            <a:srgbClr val="FFFFFF"/>
          </a:solidFill>
          <a:ln w="9144">
            <a:solidFill>
              <a:srgbClr val="333F48"/>
            </a:solidFill>
            <a:prstDash val="solid"/>
          </a:ln>
        </p:spPr>
      </p:sp>
      <p:sp>
        <p:nvSpPr>
          <p:cNvPr id="10" name="Text 6"/>
          <p:cNvSpPr/>
          <p:nvPr/>
        </p:nvSpPr>
        <p:spPr>
          <a:xfrm>
            <a:off x="428625" y="3336131"/>
            <a:ext cx="1571625" cy="571500"/>
          </a:xfrm>
          <a:prstGeom prst="rect">
            <a:avLst/>
          </a:prstGeom>
          <a:noFill/>
          <a:ln/>
        </p:spPr>
        <p:txBody>
          <a:bodyPr wrap="square" lIns="0" tIns="0" rIns="0" bIns="0" rtlCol="0" anchor="ctr">
            <a:spAutoFit/>
          </a:bodyPr>
          <a:lstStyle/>
          <a:p>
            <a:pPr algn="ctr" indent="0" marL="0">
              <a:buNone/>
            </a:pPr>
            <a:r>
              <a:rPr lang="en-US" sz="800" b="1" dirty="0">
                <a:solidFill>
                  <a:srgbClr val="333F48"/>
                </a:solidFill>
                <a:latin typeface="Segoe UI" pitchFamily="34" charset="0"/>
                <a:ea typeface="Segoe UI" pitchFamily="34" charset="-122"/>
                <a:cs typeface="Segoe UI" pitchFamily="34" charset="-120"/>
              </a:rPr>
              <a:t>INDUSTRIAL IMAGE</a:t>
            </a:r>
            <a:endParaRPr lang="en-US" sz="800" dirty="0"/>
          </a:p>
        </p:txBody>
      </p:sp>
      <p:pic>
        <p:nvPicPr>
          <p:cNvPr id="11" name="Image 1" descr="preencoded.png">    </p:cNvPr>
          <p:cNvPicPr>
            <a:picLocks noChangeAspect="1"/>
          </p:cNvPicPr>
          <p:nvPr/>
        </p:nvPicPr>
        <p:blipFill>
          <a:blip r:embed="rId2"/>
          <a:stretch>
            <a:fillRect/>
          </a:stretch>
        </p:blipFill>
        <p:spPr>
          <a:xfrm>
            <a:off x="2280028" y="3527227"/>
            <a:ext cx="107156" cy="171450"/>
          </a:xfrm>
          <a:prstGeom prst="rect">
            <a:avLst/>
          </a:prstGeom>
        </p:spPr>
      </p:pic>
      <p:sp>
        <p:nvSpPr>
          <p:cNvPr id="12" name="Shape 7"/>
          <p:cNvSpPr/>
          <p:nvPr/>
        </p:nvSpPr>
        <p:spPr>
          <a:xfrm>
            <a:off x="2666963" y="3336131"/>
            <a:ext cx="1571625" cy="571500"/>
          </a:xfrm>
          <a:prstGeom prst="rect">
            <a:avLst/>
          </a:prstGeom>
          <a:solidFill>
            <a:srgbClr val="FFFFFF"/>
          </a:solidFill>
          <a:ln w="9144">
            <a:solidFill>
              <a:srgbClr val="333F48"/>
            </a:solidFill>
            <a:prstDash val="solid"/>
          </a:ln>
        </p:spPr>
      </p:sp>
      <p:sp>
        <p:nvSpPr>
          <p:cNvPr id="13" name="Text 8"/>
          <p:cNvSpPr/>
          <p:nvPr/>
        </p:nvSpPr>
        <p:spPr>
          <a:xfrm>
            <a:off x="2666963" y="3336131"/>
            <a:ext cx="1571625" cy="571500"/>
          </a:xfrm>
          <a:prstGeom prst="rect">
            <a:avLst/>
          </a:prstGeom>
          <a:noFill/>
          <a:ln/>
        </p:spPr>
        <p:txBody>
          <a:bodyPr wrap="square" lIns="0" tIns="0" rIns="0" bIns="0" rtlCol="0" anchor="ctr">
            <a:spAutoFit/>
          </a:bodyPr>
          <a:lstStyle/>
          <a:p>
            <a:pPr algn="ctr" indent="0" marL="0">
              <a:buNone/>
            </a:pPr>
            <a:r>
              <a:rPr lang="en-US" sz="800" b="1" dirty="0">
                <a:solidFill>
                  <a:srgbClr val="333F48"/>
                </a:solidFill>
                <a:latin typeface="Segoe UI" pitchFamily="34" charset="0"/>
                <a:ea typeface="Segoe UI" pitchFamily="34" charset="-122"/>
                <a:cs typeface="Segoe UI" pitchFamily="34" charset="-120"/>
              </a:rPr>
              <a:t>FEATURE EXTRACTION</a:t>
            </a:r>
            <a:endParaRPr lang="en-US" sz="800" dirty="0"/>
          </a:p>
        </p:txBody>
      </p:sp>
      <p:pic>
        <p:nvPicPr>
          <p:cNvPr id="14" name="Image 2" descr="preencoded.png">    </p:cNvPr>
          <p:cNvPicPr>
            <a:picLocks noChangeAspect="1"/>
          </p:cNvPicPr>
          <p:nvPr/>
        </p:nvPicPr>
        <p:blipFill>
          <a:blip r:embed="rId3"/>
          <a:stretch>
            <a:fillRect/>
          </a:stretch>
        </p:blipFill>
        <p:spPr>
          <a:xfrm>
            <a:off x="4518366" y="3527227"/>
            <a:ext cx="107156" cy="171450"/>
          </a:xfrm>
          <a:prstGeom prst="rect">
            <a:avLst/>
          </a:prstGeom>
        </p:spPr>
      </p:pic>
      <p:sp>
        <p:nvSpPr>
          <p:cNvPr id="15" name="Shape 9"/>
          <p:cNvSpPr/>
          <p:nvPr/>
        </p:nvSpPr>
        <p:spPr>
          <a:xfrm>
            <a:off x="4905301" y="3336131"/>
            <a:ext cx="1571625" cy="571500"/>
          </a:xfrm>
          <a:prstGeom prst="rect">
            <a:avLst/>
          </a:prstGeom>
          <a:solidFill>
            <a:srgbClr val="FFFFFF"/>
          </a:solidFill>
          <a:ln w="9144">
            <a:solidFill>
              <a:srgbClr val="333F48"/>
            </a:solidFill>
            <a:prstDash val="solid"/>
          </a:ln>
        </p:spPr>
      </p:sp>
      <p:sp>
        <p:nvSpPr>
          <p:cNvPr id="16" name="Text 10"/>
          <p:cNvSpPr/>
          <p:nvPr/>
        </p:nvSpPr>
        <p:spPr>
          <a:xfrm>
            <a:off x="4905301" y="3336131"/>
            <a:ext cx="1571625" cy="571500"/>
          </a:xfrm>
          <a:prstGeom prst="rect">
            <a:avLst/>
          </a:prstGeom>
          <a:noFill/>
          <a:ln/>
        </p:spPr>
        <p:txBody>
          <a:bodyPr wrap="square" lIns="0" tIns="0" rIns="0" bIns="0" rtlCol="0" anchor="ctr">
            <a:spAutoFit/>
          </a:bodyPr>
          <a:lstStyle/>
          <a:p>
            <a:pPr algn="ctr" indent="0" marL="0">
              <a:buNone/>
            </a:pPr>
            <a:r>
              <a:rPr lang="en-US" sz="800" b="1" dirty="0">
                <a:solidFill>
                  <a:srgbClr val="333F48"/>
                </a:solidFill>
                <a:latin typeface="Segoe UI" pitchFamily="34" charset="0"/>
                <a:ea typeface="Segoe UI" pitchFamily="34" charset="-122"/>
                <a:cs typeface="Segoe UI" pitchFamily="34" charset="-120"/>
              </a:rPr>
              <a:t>SVM CLASSIFICATION</a:t>
            </a:r>
            <a:endParaRPr lang="en-US" sz="800" dirty="0"/>
          </a:p>
        </p:txBody>
      </p:sp>
      <p:pic>
        <p:nvPicPr>
          <p:cNvPr id="17" name="Image 3" descr="preencoded.png">    </p:cNvPr>
          <p:cNvPicPr>
            <a:picLocks noChangeAspect="1"/>
          </p:cNvPicPr>
          <p:nvPr/>
        </p:nvPicPr>
        <p:blipFill>
          <a:blip r:embed="rId4"/>
          <a:stretch>
            <a:fillRect/>
          </a:stretch>
        </p:blipFill>
        <p:spPr>
          <a:xfrm>
            <a:off x="6756704" y="3527227"/>
            <a:ext cx="107156" cy="171450"/>
          </a:xfrm>
          <a:prstGeom prst="rect">
            <a:avLst/>
          </a:prstGeom>
        </p:spPr>
      </p:pic>
      <p:sp>
        <p:nvSpPr>
          <p:cNvPr id="18" name="Shape 11"/>
          <p:cNvSpPr/>
          <p:nvPr/>
        </p:nvSpPr>
        <p:spPr>
          <a:xfrm>
            <a:off x="7143638" y="3336131"/>
            <a:ext cx="1571625" cy="571500"/>
          </a:xfrm>
          <a:prstGeom prst="rect">
            <a:avLst/>
          </a:prstGeom>
          <a:solidFill>
            <a:srgbClr val="FFFFFF"/>
          </a:solidFill>
          <a:ln w="9144">
            <a:solidFill>
              <a:srgbClr val="333F48"/>
            </a:solidFill>
            <a:prstDash val="solid"/>
          </a:ln>
        </p:spPr>
      </p:sp>
      <p:sp>
        <p:nvSpPr>
          <p:cNvPr id="19" name="Text 12"/>
          <p:cNvSpPr/>
          <p:nvPr/>
        </p:nvSpPr>
        <p:spPr>
          <a:xfrm>
            <a:off x="7143638" y="3336131"/>
            <a:ext cx="1571625" cy="571500"/>
          </a:xfrm>
          <a:prstGeom prst="rect">
            <a:avLst/>
          </a:prstGeom>
          <a:noFill/>
          <a:ln/>
        </p:spPr>
        <p:txBody>
          <a:bodyPr wrap="square" lIns="0" tIns="0" rIns="0" bIns="0" rtlCol="0" anchor="ctr">
            <a:spAutoFit/>
          </a:bodyPr>
          <a:lstStyle/>
          <a:p>
            <a:pPr algn="ctr" indent="0" marL="0">
              <a:buNone/>
            </a:pPr>
            <a:r>
              <a:rPr lang="en-US" sz="800" b="1" dirty="0">
                <a:solidFill>
                  <a:srgbClr val="333F48"/>
                </a:solidFill>
                <a:latin typeface="Segoe UI" pitchFamily="34" charset="0"/>
                <a:ea typeface="Segoe UI" pitchFamily="34" charset="-122"/>
                <a:cs typeface="Segoe UI" pitchFamily="34" charset="-120"/>
              </a:rPr>
              <a:t>NORMAL / DEFECTIVE</a:t>
            </a:r>
            <a:endParaRPr lang="en-US" sz="800" dirty="0"/>
          </a:p>
        </p:txBody>
      </p:sp>
      <p:sp>
        <p:nvSpPr>
          <p:cNvPr id="20" name="Text 13"/>
          <p:cNvSpPr/>
          <p:nvPr/>
        </p:nvSpPr>
        <p:spPr>
          <a:xfrm>
            <a:off x="7363699" y="4900613"/>
            <a:ext cx="1351676" cy="100013"/>
          </a:xfrm>
          <a:prstGeom prst="rect">
            <a:avLst/>
          </a:prstGeom>
          <a:noFill/>
          <a:ln/>
        </p:spPr>
        <p:txBody>
          <a:bodyPr wrap="square" lIns="0" tIns="0" rIns="0" bIns="0" rtlCol="0" anchor="t">
            <a:spAutoFit/>
          </a:bodyPr>
          <a:lstStyle/>
          <a:p>
            <a:pPr algn="l" indent="0" marL="0">
              <a:buNone/>
            </a:pPr>
            <a:r>
              <a:rPr lang="en-US" sz="600" dirty="0">
                <a:solidFill>
                  <a:srgbClr val="888888"/>
                </a:solidFill>
                <a:latin typeface="Segoe UI" pitchFamily="34" charset="0"/>
                <a:ea typeface="Segoe UI" pitchFamily="34" charset="-122"/>
                <a:cs typeface="Segoe UI" pitchFamily="34" charset="-120"/>
              </a:rPr>
              <a:t>Page 2 | Review-1 Project Proposal</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285750"/>
            <a:ext cx="3841105" cy="307181"/>
          </a:xfrm>
          <a:prstGeom prst="rect">
            <a:avLst/>
          </a:prstGeom>
          <a:noFill/>
          <a:ln/>
        </p:spPr>
        <p:txBody>
          <a:bodyPr wrap="square" lIns="0" tIns="0" rIns="0" bIns="42545" rtlCol="0" anchor="t">
            <a:spAutoFit/>
          </a:bodyPr>
          <a:lstStyle/>
          <a:p>
            <a:pPr algn="l" indent="0" marL="0">
              <a:buNone/>
            </a:pPr>
            <a:r>
              <a:rPr lang="en-US" sz="1700" dirty="0">
                <a:solidFill>
                  <a:srgbClr val="0A192F"/>
                </a:solidFill>
                <a:latin typeface="Courier New" pitchFamily="34" charset="0"/>
                <a:ea typeface="Courier New" pitchFamily="34" charset="-122"/>
                <a:cs typeface="Courier New" pitchFamily="34" charset="-120"/>
              </a:rPr>
              <a:t>JUSTIFICATION AND MOTIVATION</a:t>
            </a:r>
            <a:endParaRPr lang="en-US" sz="1700" dirty="0"/>
          </a:p>
        </p:txBody>
      </p:sp>
      <p:sp>
        <p:nvSpPr>
          <p:cNvPr id="5" name="Shape 1"/>
          <p:cNvSpPr/>
          <p:nvPr/>
        </p:nvSpPr>
        <p:spPr>
          <a:xfrm>
            <a:off x="428625" y="807244"/>
            <a:ext cx="2666963" cy="1000125"/>
          </a:xfrm>
          <a:prstGeom prst="rect">
            <a:avLst/>
          </a:prstGeom>
          <a:solidFill>
            <a:srgbClr val="FFFFFF"/>
          </a:solidFill>
          <a:ln w="9144">
            <a:solidFill>
              <a:srgbClr val="0A192F">
                <a:alpha val="10000"/>
              </a:srgbClr>
            </a:solidFill>
            <a:prstDash val="solid"/>
          </a:ln>
        </p:spPr>
      </p:sp>
      <p:sp>
        <p:nvSpPr>
          <p:cNvPr id="6" name="Text 2"/>
          <p:cNvSpPr/>
          <p:nvPr/>
        </p:nvSpPr>
        <p:spPr>
          <a:xfrm>
            <a:off x="571500" y="950119"/>
            <a:ext cx="2381213" cy="132159"/>
          </a:xfrm>
          <a:prstGeom prst="rect">
            <a:avLst/>
          </a:prstGeom>
          <a:noFill/>
          <a:ln/>
        </p:spPr>
        <p:txBody>
          <a:bodyPr wrap="square" lIns="0" tIns="0" rIns="0" bIns="0" rtlCol="0" anchor="t">
            <a:spAutoFit/>
          </a:bodyPr>
          <a:lstStyle/>
          <a:p>
            <a:pPr algn="l" indent="0" marL="0">
              <a:buNone/>
            </a:pPr>
            <a:r>
              <a:rPr lang="en-US" sz="800" b="1" dirty="0">
                <a:solidFill>
                  <a:srgbClr val="0A192F"/>
                </a:solidFill>
                <a:latin typeface="Segoe UI" pitchFamily="34" charset="0"/>
                <a:ea typeface="Segoe UI" pitchFamily="34" charset="-122"/>
                <a:cs typeface="Segoe UI" pitchFamily="34" charset="-120"/>
              </a:rPr>
              <a:t>TEXTURE ANALYSIS</a:t>
            </a:r>
            <a:endParaRPr lang="en-US" sz="800" dirty="0"/>
          </a:p>
        </p:txBody>
      </p:sp>
      <p:sp>
        <p:nvSpPr>
          <p:cNvPr id="7" name="Text 3"/>
          <p:cNvSpPr/>
          <p:nvPr/>
        </p:nvSpPr>
        <p:spPr>
          <a:xfrm>
            <a:off x="571500" y="1139428"/>
            <a:ext cx="2381213" cy="419919"/>
          </a:xfrm>
          <a:prstGeom prst="rect">
            <a:avLst/>
          </a:prstGeom>
          <a:noFill/>
          <a:ln/>
        </p:spPr>
        <p:txBody>
          <a:bodyPr wrap="square" lIns="0" tIns="0" rIns="0" bIns="0" rtlCol="0" anchor="t">
            <a:spAutoFit/>
          </a:bodyPr>
          <a:lstStyle/>
          <a:p>
            <a:pPr algn="l" indent="0" marL="0">
              <a:lnSpc>
                <a:spcPct val="112000"/>
              </a:lnSpc>
              <a:buNone/>
            </a:pPr>
            <a:r>
              <a:rPr lang="en-US" sz="750" dirty="0">
                <a:solidFill>
                  <a:srgbClr val="333F48"/>
                </a:solidFill>
                <a:latin typeface="Segoe UI" pitchFamily="34" charset="0"/>
                <a:ea typeface="Segoe UI" pitchFamily="34" charset="-122"/>
                <a:cs typeface="Segoe UI" pitchFamily="34" charset="-120"/>
              </a:rPr>
              <a:t>LBP captures local transitions while GLCM summarizes statistical relationships (contrast, energy, homogeneity).</a:t>
            </a:r>
            <a:endParaRPr lang="en-US" sz="750" dirty="0"/>
          </a:p>
        </p:txBody>
      </p:sp>
      <p:sp>
        <p:nvSpPr>
          <p:cNvPr id="8" name="Shape 4"/>
          <p:cNvSpPr/>
          <p:nvPr/>
        </p:nvSpPr>
        <p:spPr>
          <a:xfrm>
            <a:off x="3238463" y="807244"/>
            <a:ext cx="2667019" cy="1000125"/>
          </a:xfrm>
          <a:prstGeom prst="rect">
            <a:avLst/>
          </a:prstGeom>
          <a:solidFill>
            <a:srgbClr val="FFFFFF"/>
          </a:solidFill>
          <a:ln w="9144">
            <a:solidFill>
              <a:srgbClr val="0A192F">
                <a:alpha val="10000"/>
              </a:srgbClr>
            </a:solidFill>
            <a:prstDash val="solid"/>
          </a:ln>
        </p:spPr>
      </p:sp>
      <p:sp>
        <p:nvSpPr>
          <p:cNvPr id="9" name="Text 5"/>
          <p:cNvSpPr/>
          <p:nvPr/>
        </p:nvSpPr>
        <p:spPr>
          <a:xfrm>
            <a:off x="3381338" y="950119"/>
            <a:ext cx="2381269" cy="132159"/>
          </a:xfrm>
          <a:prstGeom prst="rect">
            <a:avLst/>
          </a:prstGeom>
          <a:noFill/>
          <a:ln/>
        </p:spPr>
        <p:txBody>
          <a:bodyPr wrap="square" lIns="0" tIns="0" rIns="0" bIns="0" rtlCol="0" anchor="t">
            <a:spAutoFit/>
          </a:bodyPr>
          <a:lstStyle/>
          <a:p>
            <a:pPr algn="l" indent="0" marL="0">
              <a:buNone/>
            </a:pPr>
            <a:r>
              <a:rPr lang="en-US" sz="800" b="1" dirty="0">
                <a:solidFill>
                  <a:srgbClr val="0A192F"/>
                </a:solidFill>
                <a:latin typeface="Segoe UI" pitchFamily="34" charset="0"/>
                <a:ea typeface="Segoe UI" pitchFamily="34" charset="-122"/>
                <a:cs typeface="Segoe UI" pitchFamily="34" charset="-120"/>
              </a:rPr>
              <a:t>EFFICIENCY &amp; SCALE</a:t>
            </a:r>
            <a:endParaRPr lang="en-US" sz="800" dirty="0"/>
          </a:p>
        </p:txBody>
      </p:sp>
      <p:sp>
        <p:nvSpPr>
          <p:cNvPr id="10" name="Text 6"/>
          <p:cNvSpPr/>
          <p:nvPr/>
        </p:nvSpPr>
        <p:spPr>
          <a:xfrm>
            <a:off x="3381338" y="1139428"/>
            <a:ext cx="2381269" cy="419919"/>
          </a:xfrm>
          <a:prstGeom prst="rect">
            <a:avLst/>
          </a:prstGeom>
          <a:noFill/>
          <a:ln/>
        </p:spPr>
        <p:txBody>
          <a:bodyPr wrap="square" lIns="0" tIns="0" rIns="0" bIns="0" rtlCol="0" anchor="t">
            <a:spAutoFit/>
          </a:bodyPr>
          <a:lstStyle/>
          <a:p>
            <a:pPr algn="l" indent="0" marL="0">
              <a:lnSpc>
                <a:spcPct val="112000"/>
              </a:lnSpc>
              <a:buNone/>
            </a:pPr>
            <a:r>
              <a:rPr lang="en-US" sz="750" dirty="0">
                <a:solidFill>
                  <a:srgbClr val="333F48"/>
                </a:solidFill>
                <a:latin typeface="Segoe UI" pitchFamily="34" charset="0"/>
                <a:ea typeface="Segoe UI" pitchFamily="34" charset="-122"/>
                <a:cs typeface="Segoe UI" pitchFamily="34" charset="-120"/>
              </a:rPr>
              <a:t>SVM offers effective boundaries with low compute. Multi-scale analysis captures defects at varying spatial sizes.</a:t>
            </a:r>
            <a:endParaRPr lang="en-US" sz="750" dirty="0"/>
          </a:p>
        </p:txBody>
      </p:sp>
      <p:sp>
        <p:nvSpPr>
          <p:cNvPr id="11" name="Shape 7"/>
          <p:cNvSpPr/>
          <p:nvPr/>
        </p:nvSpPr>
        <p:spPr>
          <a:xfrm>
            <a:off x="6048356" y="807244"/>
            <a:ext cx="2667019" cy="1000125"/>
          </a:xfrm>
          <a:prstGeom prst="rect">
            <a:avLst/>
          </a:prstGeom>
          <a:solidFill>
            <a:srgbClr val="FFFFFF"/>
          </a:solidFill>
          <a:ln w="9144">
            <a:solidFill>
              <a:srgbClr val="0A192F">
                <a:alpha val="10000"/>
              </a:srgbClr>
            </a:solidFill>
            <a:prstDash val="solid"/>
          </a:ln>
        </p:spPr>
      </p:sp>
      <p:sp>
        <p:nvSpPr>
          <p:cNvPr id="12" name="Text 8"/>
          <p:cNvSpPr/>
          <p:nvPr/>
        </p:nvSpPr>
        <p:spPr>
          <a:xfrm>
            <a:off x="6191231" y="950119"/>
            <a:ext cx="2381269" cy="132159"/>
          </a:xfrm>
          <a:prstGeom prst="rect">
            <a:avLst/>
          </a:prstGeom>
          <a:noFill/>
          <a:ln/>
        </p:spPr>
        <p:txBody>
          <a:bodyPr wrap="square" lIns="0" tIns="0" rIns="0" bIns="0" rtlCol="0" anchor="t">
            <a:spAutoFit/>
          </a:bodyPr>
          <a:lstStyle/>
          <a:p>
            <a:pPr algn="l" indent="0" marL="0">
              <a:buNone/>
            </a:pPr>
            <a:r>
              <a:rPr lang="en-US" sz="800" b="1" dirty="0">
                <a:solidFill>
                  <a:srgbClr val="0A192F"/>
                </a:solidFill>
                <a:latin typeface="Segoe UI" pitchFamily="34" charset="0"/>
                <a:ea typeface="Segoe UI" pitchFamily="34" charset="-122"/>
                <a:cs typeface="Segoe UI" pitchFamily="34" charset="-120"/>
              </a:rPr>
              <a:t>INTERPRETABILITY</a:t>
            </a:r>
            <a:endParaRPr lang="en-US" sz="800" dirty="0"/>
          </a:p>
        </p:txBody>
      </p:sp>
      <p:sp>
        <p:nvSpPr>
          <p:cNvPr id="13" name="Text 9"/>
          <p:cNvSpPr/>
          <p:nvPr/>
        </p:nvSpPr>
        <p:spPr>
          <a:xfrm>
            <a:off x="6191231" y="1139428"/>
            <a:ext cx="2381269" cy="419919"/>
          </a:xfrm>
          <a:prstGeom prst="rect">
            <a:avLst/>
          </a:prstGeom>
          <a:noFill/>
          <a:ln/>
        </p:spPr>
        <p:txBody>
          <a:bodyPr wrap="square" lIns="0" tIns="0" rIns="0" bIns="0" rtlCol="0" anchor="t">
            <a:spAutoFit/>
          </a:bodyPr>
          <a:lstStyle/>
          <a:p>
            <a:pPr algn="l" indent="0" marL="0">
              <a:lnSpc>
                <a:spcPct val="112000"/>
              </a:lnSpc>
              <a:buNone/>
            </a:pPr>
            <a:r>
              <a:rPr lang="en-US" sz="750" dirty="0">
                <a:solidFill>
                  <a:srgbClr val="333F48"/>
                </a:solidFill>
                <a:latin typeface="Segoe UI" pitchFamily="34" charset="0"/>
                <a:ea typeface="Segoe UI" pitchFamily="34" charset="-122"/>
                <a:cs typeface="Segoe UI" pitchFamily="34" charset="-120"/>
              </a:rPr>
              <a:t>Unlike black-box models, texture descriptors have clear physical meanings, crucial for industrial quality assurance.</a:t>
            </a:r>
            <a:endParaRPr lang="en-US" sz="750" dirty="0"/>
          </a:p>
        </p:txBody>
      </p:sp>
      <p:sp>
        <p:nvSpPr>
          <p:cNvPr id="14" name="Shape 10"/>
          <p:cNvSpPr/>
          <p:nvPr/>
        </p:nvSpPr>
        <p:spPr>
          <a:xfrm>
            <a:off x="428625" y="2235994"/>
            <a:ext cx="8286750" cy="1757363"/>
          </a:xfrm>
          <a:prstGeom prst="rect">
            <a:avLst/>
          </a:prstGeom>
          <a:solidFill>
            <a:srgbClr val="FFFFFF"/>
          </a:solidFill>
          <a:ln w="9144">
            <a:solidFill>
              <a:srgbClr val="0A192F"/>
            </a:solidFill>
            <a:prstDash val="solid"/>
          </a:ln>
        </p:spPr>
      </p:sp>
      <p:sp>
        <p:nvSpPr>
          <p:cNvPr id="15" name="Shape 11"/>
          <p:cNvSpPr/>
          <p:nvPr/>
        </p:nvSpPr>
        <p:spPr>
          <a:xfrm>
            <a:off x="428625" y="2235994"/>
            <a:ext cx="1428750" cy="285750"/>
          </a:xfrm>
          <a:prstGeom prst="rect">
            <a:avLst/>
          </a:prstGeom>
          <a:solidFill>
            <a:srgbClr val="0A192F"/>
          </a:solidFill>
          <a:ln/>
        </p:spPr>
      </p:sp>
      <p:sp>
        <p:nvSpPr>
          <p:cNvPr id="16" name="Text 12"/>
          <p:cNvSpPr/>
          <p:nvPr/>
        </p:nvSpPr>
        <p:spPr>
          <a:xfrm>
            <a:off x="428625" y="2235994"/>
            <a:ext cx="1428750" cy="285750"/>
          </a:xfrm>
          <a:prstGeom prst="rect">
            <a:avLst/>
          </a:prstGeom>
          <a:noFill/>
          <a:ln/>
        </p:spPr>
        <p:txBody>
          <a:bodyPr wrap="square" lIns="127508" tIns="102108" rIns="127508" bIns="102108" rtlCol="0" anchor="ctr">
            <a:spAutoFit/>
          </a:bodyPr>
          <a:lstStyle/>
          <a:p>
            <a:pPr algn="l" indent="0" marL="0">
              <a:buNone/>
            </a:pPr>
            <a:r>
              <a:rPr lang="en-US" sz="700" b="1" spc="1" kern="0" dirty="0">
                <a:solidFill>
                  <a:srgbClr val="FFFFFF"/>
                </a:solidFill>
                <a:latin typeface="Segoe UI" pitchFamily="34" charset="0"/>
                <a:ea typeface="Segoe UI" pitchFamily="34" charset="-122"/>
                <a:cs typeface="Segoe UI" pitchFamily="34" charset="-120"/>
              </a:rPr>
              <a:t>DIMENSION</a:t>
            </a:r>
            <a:endParaRPr lang="en-US" sz="700" dirty="0"/>
          </a:p>
        </p:txBody>
      </p:sp>
      <p:sp>
        <p:nvSpPr>
          <p:cNvPr id="17" name="Shape 13"/>
          <p:cNvSpPr/>
          <p:nvPr/>
        </p:nvSpPr>
        <p:spPr>
          <a:xfrm>
            <a:off x="1857375" y="2235994"/>
            <a:ext cx="3209106" cy="285750"/>
          </a:xfrm>
          <a:prstGeom prst="rect">
            <a:avLst/>
          </a:prstGeom>
          <a:solidFill>
            <a:srgbClr val="0A192F"/>
          </a:solidFill>
          <a:ln/>
        </p:spPr>
      </p:sp>
      <p:sp>
        <p:nvSpPr>
          <p:cNvPr id="18" name="Text 14"/>
          <p:cNvSpPr/>
          <p:nvPr/>
        </p:nvSpPr>
        <p:spPr>
          <a:xfrm>
            <a:off x="1857375" y="2235994"/>
            <a:ext cx="3209106" cy="285750"/>
          </a:xfrm>
          <a:prstGeom prst="rect">
            <a:avLst/>
          </a:prstGeom>
          <a:noFill/>
          <a:ln/>
        </p:spPr>
        <p:txBody>
          <a:bodyPr wrap="square" lIns="127508" tIns="102108" rIns="127508" bIns="102108" rtlCol="0" anchor="ctr">
            <a:spAutoFit/>
          </a:bodyPr>
          <a:lstStyle/>
          <a:p>
            <a:pPr algn="l" indent="0" marL="0">
              <a:buNone/>
            </a:pPr>
            <a:r>
              <a:rPr lang="en-US" sz="700" b="1" spc="1" kern="0" dirty="0">
                <a:solidFill>
                  <a:srgbClr val="FFFFFF"/>
                </a:solidFill>
                <a:latin typeface="Segoe UI" pitchFamily="34" charset="0"/>
                <a:ea typeface="Segoe UI" pitchFamily="34" charset="-122"/>
                <a:cs typeface="Segoe UI" pitchFamily="34" charset="-120"/>
              </a:rPr>
              <a:t>DEEP-LEARNING APPROACH</a:t>
            </a:r>
            <a:endParaRPr lang="en-US" sz="700" dirty="0"/>
          </a:p>
        </p:txBody>
      </p:sp>
      <p:sp>
        <p:nvSpPr>
          <p:cNvPr id="19" name="Shape 15"/>
          <p:cNvSpPr/>
          <p:nvPr/>
        </p:nvSpPr>
        <p:spPr>
          <a:xfrm>
            <a:off x="5066481" y="2235994"/>
            <a:ext cx="3648894" cy="285750"/>
          </a:xfrm>
          <a:prstGeom prst="rect">
            <a:avLst/>
          </a:prstGeom>
          <a:solidFill>
            <a:srgbClr val="0A192F"/>
          </a:solidFill>
          <a:ln/>
        </p:spPr>
      </p:sp>
      <p:sp>
        <p:nvSpPr>
          <p:cNvPr id="20" name="Text 16"/>
          <p:cNvSpPr/>
          <p:nvPr/>
        </p:nvSpPr>
        <p:spPr>
          <a:xfrm>
            <a:off x="5066481" y="2235994"/>
            <a:ext cx="3648894" cy="285750"/>
          </a:xfrm>
          <a:prstGeom prst="rect">
            <a:avLst/>
          </a:prstGeom>
          <a:noFill/>
          <a:ln/>
        </p:spPr>
        <p:txBody>
          <a:bodyPr wrap="square" lIns="127508" tIns="102108" rIns="127508" bIns="102108" rtlCol="0" anchor="ctr">
            <a:spAutoFit/>
          </a:bodyPr>
          <a:lstStyle/>
          <a:p>
            <a:pPr algn="l" indent="0" marL="0">
              <a:buNone/>
            </a:pPr>
            <a:r>
              <a:rPr lang="en-US" sz="700" b="1" spc="1" kern="0" dirty="0">
                <a:solidFill>
                  <a:srgbClr val="FFFFFF"/>
                </a:solidFill>
                <a:latin typeface="Segoe UI" pitchFamily="34" charset="0"/>
                <a:ea typeface="Segoe UI" pitchFamily="34" charset="-122"/>
                <a:cs typeface="Segoe UI" pitchFamily="34" charset="-120"/>
              </a:rPr>
              <a:t>PROPOSED CLASSICAL APPROACH</a:t>
            </a:r>
            <a:endParaRPr lang="en-US" sz="700" dirty="0"/>
          </a:p>
        </p:txBody>
      </p:sp>
      <p:sp>
        <p:nvSpPr>
          <p:cNvPr id="21" name="Text 17"/>
          <p:cNvSpPr/>
          <p:nvPr/>
        </p:nvSpPr>
        <p:spPr>
          <a:xfrm>
            <a:off x="428625" y="2521744"/>
            <a:ext cx="1428750" cy="289322"/>
          </a:xfrm>
          <a:prstGeom prst="rect">
            <a:avLst/>
          </a:prstGeom>
          <a:noFill/>
          <a:ln/>
        </p:spPr>
        <p:txBody>
          <a:bodyPr wrap="square" lIns="127508" tIns="102108" rIns="127508" bIns="102108" rtlCol="0" anchor="ctr">
            <a:spAutoFit/>
          </a:bodyPr>
          <a:lstStyle/>
          <a:p>
            <a:pPr algn="l" indent="0" marL="0">
              <a:buNone/>
            </a:pPr>
            <a:r>
              <a:rPr lang="en-US" sz="700" b="1" dirty="0">
                <a:solidFill>
                  <a:srgbClr val="0A192F"/>
                </a:solidFill>
                <a:latin typeface="Segoe UI" pitchFamily="34" charset="0"/>
                <a:ea typeface="Segoe UI" pitchFamily="34" charset="-122"/>
                <a:cs typeface="Segoe UI" pitchFamily="34" charset="-120"/>
              </a:rPr>
              <a:t>Computation</a:t>
            </a:r>
            <a:endParaRPr lang="en-US" sz="700" dirty="0"/>
          </a:p>
        </p:txBody>
      </p:sp>
      <p:sp>
        <p:nvSpPr>
          <p:cNvPr id="22" name="Text 18"/>
          <p:cNvSpPr/>
          <p:nvPr/>
        </p:nvSpPr>
        <p:spPr>
          <a:xfrm>
            <a:off x="1857375" y="2521744"/>
            <a:ext cx="3209106" cy="289322"/>
          </a:xfrm>
          <a:prstGeom prst="rect">
            <a:avLst/>
          </a:prstGeom>
          <a:noFill/>
          <a:ln/>
        </p:spPr>
        <p:txBody>
          <a:bodyPr wrap="square" lIns="127508" tIns="102108" rIns="127508" bIns="102108" rtlCol="0" anchor="ctr">
            <a:spAutoFit/>
          </a:bodyPr>
          <a:lstStyle/>
          <a:p>
            <a:pPr algn="l" indent="0" marL="0">
              <a:buNone/>
            </a:pPr>
            <a:r>
              <a:rPr lang="en-US" sz="750" dirty="0">
                <a:solidFill>
                  <a:srgbClr val="333F48"/>
                </a:solidFill>
                <a:latin typeface="Segoe UI" pitchFamily="34" charset="0"/>
                <a:ea typeface="Segoe UI" pitchFamily="34" charset="-122"/>
                <a:cs typeface="Segoe UI" pitchFamily="34" charset="-120"/>
              </a:rPr>
              <a:t>GPU-intensive training and inference</a:t>
            </a:r>
            <a:endParaRPr lang="en-US" sz="750" dirty="0"/>
          </a:p>
        </p:txBody>
      </p:sp>
      <p:sp>
        <p:nvSpPr>
          <p:cNvPr id="23" name="Text 19"/>
          <p:cNvSpPr/>
          <p:nvPr/>
        </p:nvSpPr>
        <p:spPr>
          <a:xfrm>
            <a:off x="5066481" y="2521744"/>
            <a:ext cx="3648894" cy="289322"/>
          </a:xfrm>
          <a:prstGeom prst="rect">
            <a:avLst/>
          </a:prstGeom>
          <a:noFill/>
          <a:ln/>
        </p:spPr>
        <p:txBody>
          <a:bodyPr wrap="square" lIns="127508" tIns="102108" rIns="127508" bIns="102108" rtlCol="0" anchor="ctr">
            <a:spAutoFit/>
          </a:bodyPr>
          <a:lstStyle/>
          <a:p>
            <a:pPr algn="l" indent="0" marL="0">
              <a:buNone/>
            </a:pPr>
            <a:r>
              <a:rPr lang="en-US" sz="750" dirty="0">
                <a:solidFill>
                  <a:srgbClr val="333F48"/>
                </a:solidFill>
                <a:latin typeface="Segoe UI" pitchFamily="34" charset="0"/>
                <a:ea typeface="Segoe UI" pitchFamily="34" charset="-122"/>
                <a:cs typeface="Segoe UI" pitchFamily="34" charset="-120"/>
              </a:rPr>
              <a:t>CPU-friendly feature extraction &amp; SVM</a:t>
            </a:r>
            <a:endParaRPr lang="en-US" sz="750" dirty="0"/>
          </a:p>
        </p:txBody>
      </p:sp>
      <p:sp>
        <p:nvSpPr>
          <p:cNvPr id="24" name="Shape 20"/>
          <p:cNvSpPr/>
          <p:nvPr/>
        </p:nvSpPr>
        <p:spPr>
          <a:xfrm>
            <a:off x="428625" y="2811066"/>
            <a:ext cx="8286750" cy="292894"/>
          </a:xfrm>
          <a:prstGeom prst="rect">
            <a:avLst/>
          </a:prstGeom>
          <a:solidFill>
            <a:srgbClr val="F9F9F9"/>
          </a:solidFill>
          <a:ln/>
        </p:spPr>
      </p:sp>
      <p:sp>
        <p:nvSpPr>
          <p:cNvPr id="25" name="Text 21"/>
          <p:cNvSpPr/>
          <p:nvPr/>
        </p:nvSpPr>
        <p:spPr>
          <a:xfrm>
            <a:off x="428625" y="2811066"/>
            <a:ext cx="1428750" cy="292894"/>
          </a:xfrm>
          <a:prstGeom prst="rect">
            <a:avLst/>
          </a:prstGeom>
          <a:noFill/>
          <a:ln/>
        </p:spPr>
        <p:txBody>
          <a:bodyPr wrap="square" lIns="127508" tIns="102108" rIns="127508" bIns="102108" rtlCol="0" anchor="ctr">
            <a:spAutoFit/>
          </a:bodyPr>
          <a:lstStyle/>
          <a:p>
            <a:pPr algn="l" indent="0" marL="0">
              <a:buNone/>
            </a:pPr>
            <a:r>
              <a:rPr lang="en-US" sz="700" b="1" dirty="0">
                <a:solidFill>
                  <a:srgbClr val="0A192F"/>
                </a:solidFill>
                <a:latin typeface="Segoe UI" pitchFamily="34" charset="0"/>
                <a:ea typeface="Segoe UI" pitchFamily="34" charset="-122"/>
                <a:cs typeface="Segoe UI" pitchFamily="34" charset="-120"/>
              </a:rPr>
              <a:t>Interpretability</a:t>
            </a:r>
            <a:endParaRPr lang="en-US" sz="700" dirty="0"/>
          </a:p>
        </p:txBody>
      </p:sp>
      <p:sp>
        <p:nvSpPr>
          <p:cNvPr id="26" name="Text 22"/>
          <p:cNvSpPr/>
          <p:nvPr/>
        </p:nvSpPr>
        <p:spPr>
          <a:xfrm>
            <a:off x="1857375" y="2811066"/>
            <a:ext cx="3209106" cy="292894"/>
          </a:xfrm>
          <a:prstGeom prst="rect">
            <a:avLst/>
          </a:prstGeom>
          <a:noFill/>
          <a:ln/>
        </p:spPr>
        <p:txBody>
          <a:bodyPr wrap="square" lIns="127508" tIns="102108" rIns="127508" bIns="102108" rtlCol="0" anchor="ctr">
            <a:spAutoFit/>
          </a:bodyPr>
          <a:lstStyle/>
          <a:p>
            <a:pPr algn="l" indent="0" marL="0">
              <a:buNone/>
            </a:pPr>
            <a:r>
              <a:rPr lang="en-US" sz="750" dirty="0">
                <a:solidFill>
                  <a:srgbClr val="333F48"/>
                </a:solidFill>
                <a:latin typeface="Segoe UI" pitchFamily="34" charset="0"/>
                <a:ea typeface="Segoe UI" pitchFamily="34" charset="-122"/>
                <a:cs typeface="Segoe UI" pitchFamily="34" charset="-120"/>
              </a:rPr>
              <a:t>Learned representations are opaque</a:t>
            </a:r>
            <a:endParaRPr lang="en-US" sz="750" dirty="0"/>
          </a:p>
        </p:txBody>
      </p:sp>
      <p:sp>
        <p:nvSpPr>
          <p:cNvPr id="27" name="Text 23"/>
          <p:cNvSpPr/>
          <p:nvPr/>
        </p:nvSpPr>
        <p:spPr>
          <a:xfrm>
            <a:off x="5066481" y="2811066"/>
            <a:ext cx="3648894" cy="292894"/>
          </a:xfrm>
          <a:prstGeom prst="rect">
            <a:avLst/>
          </a:prstGeom>
          <a:noFill/>
          <a:ln/>
        </p:spPr>
        <p:txBody>
          <a:bodyPr wrap="square" lIns="127508" tIns="102108" rIns="127508" bIns="102108" rtlCol="0" anchor="ctr">
            <a:spAutoFit/>
          </a:bodyPr>
          <a:lstStyle/>
          <a:p>
            <a:pPr algn="l" indent="0" marL="0">
              <a:buNone/>
            </a:pPr>
            <a:r>
              <a:rPr lang="en-US" sz="750" dirty="0">
                <a:solidFill>
                  <a:srgbClr val="333F48"/>
                </a:solidFill>
                <a:latin typeface="Segoe UI" pitchFamily="34" charset="0"/>
                <a:ea typeface="Segoe UI" pitchFamily="34" charset="-122"/>
                <a:cs typeface="Segoe UI" pitchFamily="34" charset="-120"/>
              </a:rPr>
              <a:t>Explicit descriptors with clear meanings</a:t>
            </a:r>
            <a:endParaRPr lang="en-US" sz="750" dirty="0"/>
          </a:p>
        </p:txBody>
      </p:sp>
      <p:sp>
        <p:nvSpPr>
          <p:cNvPr id="28" name="Text 24"/>
          <p:cNvSpPr/>
          <p:nvPr/>
        </p:nvSpPr>
        <p:spPr>
          <a:xfrm>
            <a:off x="428625" y="3103959"/>
            <a:ext cx="1428750" cy="292894"/>
          </a:xfrm>
          <a:prstGeom prst="rect">
            <a:avLst/>
          </a:prstGeom>
          <a:noFill/>
          <a:ln/>
        </p:spPr>
        <p:txBody>
          <a:bodyPr wrap="square" lIns="127508" tIns="102108" rIns="127508" bIns="102108" rtlCol="0" anchor="ctr">
            <a:spAutoFit/>
          </a:bodyPr>
          <a:lstStyle/>
          <a:p>
            <a:pPr algn="l" indent="0" marL="0">
              <a:buNone/>
            </a:pPr>
            <a:r>
              <a:rPr lang="en-US" sz="700" b="1" dirty="0">
                <a:solidFill>
                  <a:srgbClr val="0A192F"/>
                </a:solidFill>
                <a:latin typeface="Segoe UI" pitchFamily="34" charset="0"/>
                <a:ea typeface="Segoe UI" pitchFamily="34" charset="-122"/>
                <a:cs typeface="Segoe UI" pitchFamily="34" charset="-120"/>
              </a:rPr>
              <a:t>Training</a:t>
            </a:r>
            <a:endParaRPr lang="en-US" sz="700" dirty="0"/>
          </a:p>
        </p:txBody>
      </p:sp>
      <p:sp>
        <p:nvSpPr>
          <p:cNvPr id="29" name="Text 25"/>
          <p:cNvSpPr/>
          <p:nvPr/>
        </p:nvSpPr>
        <p:spPr>
          <a:xfrm>
            <a:off x="1857375" y="3103959"/>
            <a:ext cx="3209106" cy="292894"/>
          </a:xfrm>
          <a:prstGeom prst="rect">
            <a:avLst/>
          </a:prstGeom>
          <a:noFill/>
          <a:ln/>
        </p:spPr>
        <p:txBody>
          <a:bodyPr wrap="square" lIns="127508" tIns="102108" rIns="127508" bIns="102108" rtlCol="0" anchor="ctr">
            <a:spAutoFit/>
          </a:bodyPr>
          <a:lstStyle/>
          <a:p>
            <a:pPr algn="l" indent="0" marL="0">
              <a:buNone/>
            </a:pPr>
            <a:r>
              <a:rPr lang="en-US" sz="750" dirty="0">
                <a:solidFill>
                  <a:srgbClr val="333F48"/>
                </a:solidFill>
                <a:latin typeface="Segoe UI" pitchFamily="34" charset="0"/>
                <a:ea typeface="Segoe UI" pitchFamily="34" charset="-122"/>
                <a:cs typeface="Segoe UI" pitchFamily="34" charset="-120"/>
              </a:rPr>
              <a:t>High complexity (tuning, augmentation)</a:t>
            </a:r>
            <a:endParaRPr lang="en-US" sz="750" dirty="0"/>
          </a:p>
        </p:txBody>
      </p:sp>
      <p:sp>
        <p:nvSpPr>
          <p:cNvPr id="30" name="Text 26"/>
          <p:cNvSpPr/>
          <p:nvPr/>
        </p:nvSpPr>
        <p:spPr>
          <a:xfrm>
            <a:off x="5066481" y="3103959"/>
            <a:ext cx="3648894" cy="292894"/>
          </a:xfrm>
          <a:prstGeom prst="rect">
            <a:avLst/>
          </a:prstGeom>
          <a:noFill/>
          <a:ln/>
        </p:spPr>
        <p:txBody>
          <a:bodyPr wrap="square" lIns="127508" tIns="102108" rIns="127508" bIns="102108" rtlCol="0" anchor="ctr">
            <a:spAutoFit/>
          </a:bodyPr>
          <a:lstStyle/>
          <a:p>
            <a:pPr algn="l" indent="0" marL="0">
              <a:buNone/>
            </a:pPr>
            <a:r>
              <a:rPr lang="en-US" sz="750" dirty="0">
                <a:solidFill>
                  <a:srgbClr val="333F48"/>
                </a:solidFill>
                <a:latin typeface="Segoe UI" pitchFamily="34" charset="0"/>
                <a:ea typeface="Segoe UI" pitchFamily="34" charset="-122"/>
                <a:cs typeface="Segoe UI" pitchFamily="34" charset="-120"/>
              </a:rPr>
              <a:t>Compact pipeline with explicit engineering</a:t>
            </a:r>
            <a:endParaRPr lang="en-US" sz="750" dirty="0"/>
          </a:p>
        </p:txBody>
      </p:sp>
      <p:sp>
        <p:nvSpPr>
          <p:cNvPr id="31" name="Shape 27"/>
          <p:cNvSpPr/>
          <p:nvPr/>
        </p:nvSpPr>
        <p:spPr>
          <a:xfrm>
            <a:off x="428625" y="3396853"/>
            <a:ext cx="8286750" cy="292894"/>
          </a:xfrm>
          <a:prstGeom prst="rect">
            <a:avLst/>
          </a:prstGeom>
          <a:solidFill>
            <a:srgbClr val="F9F9F9"/>
          </a:solidFill>
          <a:ln/>
        </p:spPr>
      </p:sp>
      <p:sp>
        <p:nvSpPr>
          <p:cNvPr id="32" name="Text 28"/>
          <p:cNvSpPr/>
          <p:nvPr/>
        </p:nvSpPr>
        <p:spPr>
          <a:xfrm>
            <a:off x="428625" y="3396853"/>
            <a:ext cx="1428750" cy="292894"/>
          </a:xfrm>
          <a:prstGeom prst="rect">
            <a:avLst/>
          </a:prstGeom>
          <a:noFill/>
          <a:ln/>
        </p:spPr>
        <p:txBody>
          <a:bodyPr wrap="square" lIns="127508" tIns="102108" rIns="127508" bIns="102108" rtlCol="0" anchor="ctr">
            <a:spAutoFit/>
          </a:bodyPr>
          <a:lstStyle/>
          <a:p>
            <a:pPr algn="l" indent="0" marL="0">
              <a:buNone/>
            </a:pPr>
            <a:r>
              <a:rPr lang="en-US" sz="700" b="1" dirty="0">
                <a:solidFill>
                  <a:srgbClr val="0A192F"/>
                </a:solidFill>
                <a:latin typeface="Segoe UI" pitchFamily="34" charset="0"/>
                <a:ea typeface="Segoe UI" pitchFamily="34" charset="-122"/>
                <a:cs typeface="Segoe UI" pitchFamily="34" charset="-120"/>
              </a:rPr>
              <a:t>Understanding</a:t>
            </a:r>
            <a:endParaRPr lang="en-US" sz="700" dirty="0"/>
          </a:p>
        </p:txBody>
      </p:sp>
      <p:sp>
        <p:nvSpPr>
          <p:cNvPr id="33" name="Text 29"/>
          <p:cNvSpPr/>
          <p:nvPr/>
        </p:nvSpPr>
        <p:spPr>
          <a:xfrm>
            <a:off x="1857375" y="3396853"/>
            <a:ext cx="3209106" cy="292894"/>
          </a:xfrm>
          <a:prstGeom prst="rect">
            <a:avLst/>
          </a:prstGeom>
          <a:noFill/>
          <a:ln/>
        </p:spPr>
        <p:txBody>
          <a:bodyPr wrap="square" lIns="127508" tIns="102108" rIns="127508" bIns="102108" rtlCol="0" anchor="ctr">
            <a:spAutoFit/>
          </a:bodyPr>
          <a:lstStyle/>
          <a:p>
            <a:pPr algn="l" indent="0" marL="0">
              <a:buNone/>
            </a:pPr>
            <a:r>
              <a:rPr lang="en-US" sz="750" dirty="0">
                <a:solidFill>
                  <a:srgbClr val="333F48"/>
                </a:solidFill>
                <a:latin typeface="Segoe UI" pitchFamily="34" charset="0"/>
                <a:ea typeface="Segoe UI" pitchFamily="34" charset="-122"/>
                <a:cs typeface="Segoe UI" pitchFamily="34" charset="-120"/>
              </a:rPr>
              <a:t>Implicit feature learning</a:t>
            </a:r>
            <a:endParaRPr lang="en-US" sz="750" dirty="0"/>
          </a:p>
        </p:txBody>
      </p:sp>
      <p:sp>
        <p:nvSpPr>
          <p:cNvPr id="34" name="Text 30"/>
          <p:cNvSpPr/>
          <p:nvPr/>
        </p:nvSpPr>
        <p:spPr>
          <a:xfrm>
            <a:off x="5066481" y="3396853"/>
            <a:ext cx="3648894" cy="292894"/>
          </a:xfrm>
          <a:prstGeom prst="rect">
            <a:avLst/>
          </a:prstGeom>
          <a:noFill/>
          <a:ln/>
        </p:spPr>
        <p:txBody>
          <a:bodyPr wrap="square" lIns="127508" tIns="102108" rIns="127508" bIns="102108" rtlCol="0" anchor="ctr">
            <a:spAutoFit/>
          </a:bodyPr>
          <a:lstStyle/>
          <a:p>
            <a:pPr algn="l" indent="0" marL="0">
              <a:buNone/>
            </a:pPr>
            <a:r>
              <a:rPr lang="en-US" sz="750" dirty="0">
                <a:solidFill>
                  <a:srgbClr val="333F48"/>
                </a:solidFill>
                <a:latin typeface="Segoe UI" pitchFamily="34" charset="0"/>
                <a:ea typeface="Segoe UI" pitchFamily="34" charset="-122"/>
                <a:cs typeface="Segoe UI" pitchFamily="34" charset="-120"/>
              </a:rPr>
              <a:t>Local patterns and statistics are explicit</a:t>
            </a:r>
            <a:endParaRPr lang="en-US" sz="750" dirty="0"/>
          </a:p>
        </p:txBody>
      </p:sp>
      <p:sp>
        <p:nvSpPr>
          <p:cNvPr id="35" name="Text 31"/>
          <p:cNvSpPr/>
          <p:nvPr/>
        </p:nvSpPr>
        <p:spPr>
          <a:xfrm>
            <a:off x="428625" y="3689747"/>
            <a:ext cx="1428750" cy="292894"/>
          </a:xfrm>
          <a:prstGeom prst="rect">
            <a:avLst/>
          </a:prstGeom>
          <a:noFill/>
          <a:ln/>
        </p:spPr>
        <p:txBody>
          <a:bodyPr wrap="square" lIns="127508" tIns="102108" rIns="127508" bIns="102108" rtlCol="0" anchor="ctr">
            <a:spAutoFit/>
          </a:bodyPr>
          <a:lstStyle/>
          <a:p>
            <a:pPr algn="l" indent="0" marL="0">
              <a:buNone/>
            </a:pPr>
            <a:r>
              <a:rPr lang="en-US" sz="700" b="1" dirty="0">
                <a:solidFill>
                  <a:srgbClr val="0A192F"/>
                </a:solidFill>
                <a:latin typeface="Segoe UI" pitchFamily="34" charset="0"/>
                <a:ea typeface="Segoe UI" pitchFamily="34" charset="-122"/>
                <a:cs typeface="Segoe UI" pitchFamily="34" charset="-120"/>
              </a:rPr>
              <a:t>Deployment</a:t>
            </a:r>
            <a:endParaRPr lang="en-US" sz="700" dirty="0"/>
          </a:p>
        </p:txBody>
      </p:sp>
      <p:sp>
        <p:nvSpPr>
          <p:cNvPr id="36" name="Text 32"/>
          <p:cNvSpPr/>
          <p:nvPr/>
        </p:nvSpPr>
        <p:spPr>
          <a:xfrm>
            <a:off x="1857375" y="3689747"/>
            <a:ext cx="3209106" cy="292894"/>
          </a:xfrm>
          <a:prstGeom prst="rect">
            <a:avLst/>
          </a:prstGeom>
          <a:noFill/>
          <a:ln/>
        </p:spPr>
        <p:txBody>
          <a:bodyPr wrap="square" lIns="127508" tIns="102108" rIns="127508" bIns="102108" rtlCol="0" anchor="ctr">
            <a:spAutoFit/>
          </a:bodyPr>
          <a:lstStyle/>
          <a:p>
            <a:pPr algn="l" indent="0" marL="0">
              <a:buNone/>
            </a:pPr>
            <a:r>
              <a:rPr lang="en-US" sz="750" dirty="0">
                <a:solidFill>
                  <a:srgbClr val="333F48"/>
                </a:solidFill>
                <a:latin typeface="Segoe UI" pitchFamily="34" charset="0"/>
                <a:ea typeface="Segoe UI" pitchFamily="34" charset="-122"/>
                <a:cs typeface="Segoe UI" pitchFamily="34" charset="-120"/>
              </a:rPr>
              <a:t>Requires specialized accelerators</a:t>
            </a:r>
            <a:endParaRPr lang="en-US" sz="750" dirty="0"/>
          </a:p>
        </p:txBody>
      </p:sp>
      <p:sp>
        <p:nvSpPr>
          <p:cNvPr id="37" name="Text 33"/>
          <p:cNvSpPr/>
          <p:nvPr/>
        </p:nvSpPr>
        <p:spPr>
          <a:xfrm>
            <a:off x="5066481" y="3689747"/>
            <a:ext cx="3648894" cy="292894"/>
          </a:xfrm>
          <a:prstGeom prst="rect">
            <a:avLst/>
          </a:prstGeom>
          <a:noFill/>
          <a:ln/>
        </p:spPr>
        <p:txBody>
          <a:bodyPr wrap="square" lIns="127508" tIns="102108" rIns="127508" bIns="102108" rtlCol="0" anchor="ctr">
            <a:spAutoFit/>
          </a:bodyPr>
          <a:lstStyle/>
          <a:p>
            <a:pPr algn="l" indent="0" marL="0">
              <a:buNone/>
            </a:pPr>
            <a:r>
              <a:rPr lang="en-US" sz="750" dirty="0">
                <a:solidFill>
                  <a:srgbClr val="333F48"/>
                </a:solidFill>
                <a:latin typeface="Segoe UI" pitchFamily="34" charset="0"/>
                <a:ea typeface="Segoe UI" pitchFamily="34" charset="-122"/>
                <a:cs typeface="Segoe UI" pitchFamily="34" charset="-120"/>
              </a:rPr>
              <a:t>Suitable for lightweight/embedded prototypes</a:t>
            </a:r>
            <a:endParaRPr lang="en-US" sz="750" dirty="0"/>
          </a:p>
        </p:txBody>
      </p:sp>
      <p:sp>
        <p:nvSpPr>
          <p:cNvPr id="38" name="Text 34"/>
          <p:cNvSpPr/>
          <p:nvPr/>
        </p:nvSpPr>
        <p:spPr>
          <a:xfrm>
            <a:off x="7363699" y="4900613"/>
            <a:ext cx="1351676" cy="100013"/>
          </a:xfrm>
          <a:prstGeom prst="rect">
            <a:avLst/>
          </a:prstGeom>
          <a:noFill/>
          <a:ln/>
        </p:spPr>
        <p:txBody>
          <a:bodyPr wrap="square" lIns="0" tIns="0" rIns="0" bIns="0" rtlCol="0" anchor="t">
            <a:spAutoFit/>
          </a:bodyPr>
          <a:lstStyle/>
          <a:p>
            <a:pPr algn="l" indent="0" marL="0">
              <a:buNone/>
            </a:pPr>
            <a:r>
              <a:rPr lang="en-US" sz="600" dirty="0">
                <a:solidFill>
                  <a:srgbClr val="888888"/>
                </a:solidFill>
                <a:latin typeface="Segoe UI" pitchFamily="34" charset="0"/>
                <a:ea typeface="Segoe UI" pitchFamily="34" charset="-122"/>
                <a:cs typeface="Segoe UI" pitchFamily="34" charset="-120"/>
              </a:rPr>
              <a:t>Page 3 | Review-1 Project Proposal</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285750"/>
            <a:ext cx="4389834" cy="307181"/>
          </a:xfrm>
          <a:prstGeom prst="rect">
            <a:avLst/>
          </a:prstGeom>
          <a:noFill/>
          <a:ln/>
        </p:spPr>
        <p:txBody>
          <a:bodyPr wrap="square" lIns="0" tIns="0" rIns="0" bIns="42545" rtlCol="0" anchor="t">
            <a:spAutoFit/>
          </a:bodyPr>
          <a:lstStyle/>
          <a:p>
            <a:pPr algn="l" indent="0" marL="0">
              <a:buNone/>
            </a:pPr>
            <a:r>
              <a:rPr lang="en-US" sz="1700" dirty="0">
                <a:solidFill>
                  <a:srgbClr val="0A192F"/>
                </a:solidFill>
                <a:latin typeface="Courier New" pitchFamily="34" charset="0"/>
                <a:ea typeface="Courier New" pitchFamily="34" charset="-122"/>
                <a:cs typeface="Courier New" pitchFamily="34" charset="-120"/>
              </a:rPr>
              <a:t>LITERATURE SURVEY I: FOUNDATIONS</a:t>
            </a:r>
            <a:endParaRPr lang="en-US" sz="1700" dirty="0"/>
          </a:p>
        </p:txBody>
      </p:sp>
      <p:sp>
        <p:nvSpPr>
          <p:cNvPr id="5" name="Shape 1"/>
          <p:cNvSpPr/>
          <p:nvPr/>
        </p:nvSpPr>
        <p:spPr>
          <a:xfrm>
            <a:off x="428625" y="807244"/>
            <a:ext cx="8286750" cy="2296269"/>
          </a:xfrm>
          <a:prstGeom prst="rect">
            <a:avLst/>
          </a:prstGeom>
          <a:solidFill>
            <a:srgbClr val="FFFFFF"/>
          </a:solidFill>
          <a:ln w="9144">
            <a:solidFill>
              <a:srgbClr val="0A192F"/>
            </a:solidFill>
            <a:prstDash val="solid"/>
          </a:ln>
        </p:spPr>
      </p:sp>
      <p:sp>
        <p:nvSpPr>
          <p:cNvPr id="6" name="Shape 2"/>
          <p:cNvSpPr/>
          <p:nvPr/>
        </p:nvSpPr>
        <p:spPr>
          <a:xfrm>
            <a:off x="428625" y="807244"/>
            <a:ext cx="984554" cy="282178"/>
          </a:xfrm>
          <a:prstGeom prst="rect">
            <a:avLst/>
          </a:prstGeom>
          <a:solidFill>
            <a:srgbClr val="0A192F"/>
          </a:solidFill>
          <a:ln/>
        </p:spPr>
      </p:sp>
      <p:sp>
        <p:nvSpPr>
          <p:cNvPr id="7" name="Text 3"/>
          <p:cNvSpPr/>
          <p:nvPr/>
        </p:nvSpPr>
        <p:spPr>
          <a:xfrm>
            <a:off x="428625" y="807244"/>
            <a:ext cx="984554" cy="282178"/>
          </a:xfrm>
          <a:prstGeom prst="rect">
            <a:avLst/>
          </a:prstGeom>
          <a:noFill/>
          <a:ln/>
        </p:spPr>
        <p:txBody>
          <a:bodyPr wrap="none" lIns="85090" tIns="102108" rIns="85090" bIns="102108" rtlCol="0" anchor="ctr">
            <a:spAutoFit/>
          </a:bodyPr>
          <a:lstStyle/>
          <a:p>
            <a:pPr algn="l" indent="0" marL="0">
              <a:buNone/>
            </a:pPr>
            <a:r>
              <a:rPr lang="en-US" sz="650" b="1" dirty="0">
                <a:solidFill>
                  <a:srgbClr val="0A192F"/>
                </a:solidFill>
                <a:latin typeface="Segoe UI" pitchFamily="34" charset="0"/>
                <a:ea typeface="Segoe UI" pitchFamily="34" charset="-122"/>
                <a:cs typeface="Segoe UI" pitchFamily="34" charset="-120"/>
              </a:rPr>
              <a:t>AUTHOR / YEAR</a:t>
            </a:r>
            <a:endParaRPr lang="en-US" sz="650" dirty="0"/>
          </a:p>
        </p:txBody>
      </p:sp>
      <p:sp>
        <p:nvSpPr>
          <p:cNvPr id="8" name="Shape 4"/>
          <p:cNvSpPr/>
          <p:nvPr/>
        </p:nvSpPr>
        <p:spPr>
          <a:xfrm>
            <a:off x="1413179" y="807244"/>
            <a:ext cx="1476803" cy="282178"/>
          </a:xfrm>
          <a:prstGeom prst="rect">
            <a:avLst/>
          </a:prstGeom>
          <a:solidFill>
            <a:srgbClr val="0A192F"/>
          </a:solidFill>
          <a:ln/>
        </p:spPr>
      </p:sp>
      <p:sp>
        <p:nvSpPr>
          <p:cNvPr id="9" name="Text 5"/>
          <p:cNvSpPr/>
          <p:nvPr/>
        </p:nvSpPr>
        <p:spPr>
          <a:xfrm>
            <a:off x="1413179" y="807244"/>
            <a:ext cx="1476803" cy="282178"/>
          </a:xfrm>
          <a:prstGeom prst="rect">
            <a:avLst/>
          </a:prstGeom>
          <a:noFill/>
          <a:ln/>
        </p:spPr>
        <p:txBody>
          <a:bodyPr wrap="square" lIns="85090" tIns="102108" rIns="85090" bIns="102108" rtlCol="0" anchor="ctr">
            <a:spAutoFit/>
          </a:bodyPr>
          <a:lstStyle/>
          <a:p>
            <a:pPr algn="l" indent="0" marL="0">
              <a:buNone/>
            </a:pPr>
            <a:r>
              <a:rPr lang="en-US" sz="650" b="1" dirty="0">
                <a:solidFill>
                  <a:srgbClr val="FFFFFF"/>
                </a:solidFill>
                <a:latin typeface="Segoe UI" pitchFamily="34" charset="0"/>
                <a:ea typeface="Segoe UI" pitchFamily="34" charset="-122"/>
                <a:cs typeface="Segoe UI" pitchFamily="34" charset="-120"/>
              </a:rPr>
              <a:t>METHOD / CONTRIBUTION</a:t>
            </a:r>
            <a:endParaRPr lang="en-US" sz="650" dirty="0"/>
          </a:p>
        </p:txBody>
      </p:sp>
      <p:sp>
        <p:nvSpPr>
          <p:cNvPr id="10" name="Shape 6"/>
          <p:cNvSpPr/>
          <p:nvPr/>
        </p:nvSpPr>
        <p:spPr>
          <a:xfrm>
            <a:off x="2889982" y="807244"/>
            <a:ext cx="1230678" cy="282178"/>
          </a:xfrm>
          <a:prstGeom prst="rect">
            <a:avLst/>
          </a:prstGeom>
          <a:solidFill>
            <a:srgbClr val="0A192F"/>
          </a:solidFill>
          <a:ln/>
        </p:spPr>
      </p:sp>
      <p:sp>
        <p:nvSpPr>
          <p:cNvPr id="11" name="Text 7"/>
          <p:cNvSpPr/>
          <p:nvPr/>
        </p:nvSpPr>
        <p:spPr>
          <a:xfrm>
            <a:off x="2889982" y="807244"/>
            <a:ext cx="1230678" cy="282178"/>
          </a:xfrm>
          <a:prstGeom prst="rect">
            <a:avLst/>
          </a:prstGeom>
          <a:noFill/>
          <a:ln/>
        </p:spPr>
        <p:txBody>
          <a:bodyPr wrap="none" lIns="85090" tIns="102108" rIns="85090" bIns="102108" rtlCol="0" anchor="ctr">
            <a:spAutoFit/>
          </a:bodyPr>
          <a:lstStyle/>
          <a:p>
            <a:pPr algn="l" indent="0" marL="0">
              <a:buNone/>
            </a:pPr>
            <a:r>
              <a:rPr lang="en-US" sz="650" b="1" dirty="0">
                <a:solidFill>
                  <a:srgbClr val="FFFFFF"/>
                </a:solidFill>
                <a:latin typeface="Segoe UI" pitchFamily="34" charset="0"/>
                <a:ea typeface="Segoe UI" pitchFamily="34" charset="-122"/>
                <a:cs typeface="Segoe UI" pitchFamily="34" charset="-120"/>
              </a:rPr>
              <a:t>DATASET</a:t>
            </a:r>
            <a:endParaRPr lang="en-US" sz="650" dirty="0"/>
          </a:p>
        </p:txBody>
      </p:sp>
      <p:sp>
        <p:nvSpPr>
          <p:cNvPr id="12" name="Shape 8"/>
          <p:cNvSpPr/>
          <p:nvPr/>
        </p:nvSpPr>
        <p:spPr>
          <a:xfrm>
            <a:off x="4120660" y="807244"/>
            <a:ext cx="2297274" cy="282178"/>
          </a:xfrm>
          <a:prstGeom prst="rect">
            <a:avLst/>
          </a:prstGeom>
          <a:solidFill>
            <a:srgbClr val="0A192F"/>
          </a:solidFill>
          <a:ln/>
        </p:spPr>
      </p:sp>
      <p:sp>
        <p:nvSpPr>
          <p:cNvPr id="13" name="Text 9"/>
          <p:cNvSpPr/>
          <p:nvPr/>
        </p:nvSpPr>
        <p:spPr>
          <a:xfrm>
            <a:off x="4120660" y="807244"/>
            <a:ext cx="2297274" cy="282178"/>
          </a:xfrm>
          <a:prstGeom prst="rect">
            <a:avLst/>
          </a:prstGeom>
          <a:noFill/>
          <a:ln/>
        </p:spPr>
        <p:txBody>
          <a:bodyPr wrap="square" lIns="85090" tIns="102108" rIns="85090" bIns="102108" rtlCol="0" anchor="ctr">
            <a:spAutoFit/>
          </a:bodyPr>
          <a:lstStyle/>
          <a:p>
            <a:pPr algn="l" indent="0" marL="0">
              <a:buNone/>
            </a:pPr>
            <a:r>
              <a:rPr lang="en-US" sz="650" b="1" dirty="0">
                <a:solidFill>
                  <a:srgbClr val="FFFFFF"/>
                </a:solidFill>
                <a:latin typeface="Segoe UI" pitchFamily="34" charset="0"/>
                <a:ea typeface="Segoe UI" pitchFamily="34" charset="-122"/>
                <a:cs typeface="Segoe UI" pitchFamily="34" charset="-120"/>
              </a:rPr>
              <a:t>KEY FINDING</a:t>
            </a:r>
            <a:endParaRPr lang="en-US" sz="650" dirty="0"/>
          </a:p>
        </p:txBody>
      </p:sp>
      <p:sp>
        <p:nvSpPr>
          <p:cNvPr id="14" name="Shape 10"/>
          <p:cNvSpPr/>
          <p:nvPr/>
        </p:nvSpPr>
        <p:spPr>
          <a:xfrm>
            <a:off x="6417934" y="807244"/>
            <a:ext cx="2297441" cy="282178"/>
          </a:xfrm>
          <a:prstGeom prst="rect">
            <a:avLst/>
          </a:prstGeom>
          <a:solidFill>
            <a:srgbClr val="0A192F"/>
          </a:solidFill>
          <a:ln/>
        </p:spPr>
      </p:sp>
      <p:sp>
        <p:nvSpPr>
          <p:cNvPr id="15" name="Text 11"/>
          <p:cNvSpPr/>
          <p:nvPr/>
        </p:nvSpPr>
        <p:spPr>
          <a:xfrm>
            <a:off x="6417934" y="807244"/>
            <a:ext cx="2297441" cy="282178"/>
          </a:xfrm>
          <a:prstGeom prst="rect">
            <a:avLst/>
          </a:prstGeom>
          <a:noFill/>
          <a:ln/>
        </p:spPr>
        <p:txBody>
          <a:bodyPr wrap="square" lIns="85090" tIns="102108" rIns="85090" bIns="102108" rtlCol="0" anchor="ctr">
            <a:spAutoFit/>
          </a:bodyPr>
          <a:lstStyle/>
          <a:p>
            <a:pPr algn="l" indent="0" marL="0">
              <a:buNone/>
            </a:pPr>
            <a:r>
              <a:rPr lang="en-US" sz="650" b="1" dirty="0">
                <a:solidFill>
                  <a:srgbClr val="FFFFFF"/>
                </a:solidFill>
                <a:latin typeface="Segoe UI" pitchFamily="34" charset="0"/>
                <a:ea typeface="Segoe UI" pitchFamily="34" charset="-122"/>
                <a:cs typeface="Segoe UI" pitchFamily="34" charset="-120"/>
              </a:rPr>
              <a:t>RESEARCH GAP</a:t>
            </a:r>
            <a:endParaRPr lang="en-US" sz="650" dirty="0"/>
          </a:p>
        </p:txBody>
      </p:sp>
      <p:sp>
        <p:nvSpPr>
          <p:cNvPr id="16" name="Text 12"/>
          <p:cNvSpPr/>
          <p:nvPr/>
        </p:nvSpPr>
        <p:spPr>
          <a:xfrm>
            <a:off x="428625" y="1089422"/>
            <a:ext cx="984554" cy="397818"/>
          </a:xfrm>
          <a:prstGeom prst="rect">
            <a:avLst/>
          </a:prstGeom>
          <a:noFill/>
          <a:ln/>
        </p:spPr>
        <p:txBody>
          <a:bodyPr wrap="square" lIns="85090" tIns="102108" rIns="85090" bIns="102108" rtlCol="0" anchor="t">
            <a:spAutoFit/>
          </a:bodyPr>
          <a:lstStyle/>
          <a:p>
            <a:pPr algn="l" indent="0" marL="0">
              <a:lnSpc>
                <a:spcPct val="104000"/>
              </a:lnSpc>
              <a:buNone/>
            </a:pPr>
            <a:r>
              <a:rPr lang="en-US" sz="600" b="1" dirty="0">
                <a:solidFill>
                  <a:srgbClr val="0A192F"/>
                </a:solidFill>
                <a:latin typeface="Segoe UI" pitchFamily="34" charset="0"/>
                <a:ea typeface="Segoe UI" pitchFamily="34" charset="-122"/>
                <a:cs typeface="Segoe UI" pitchFamily="34" charset="-120"/>
              </a:rPr>
              <a:t>Haralick et al. (1973)</a:t>
            </a:r>
            <a:endParaRPr lang="en-US" sz="600" dirty="0"/>
          </a:p>
        </p:txBody>
      </p:sp>
      <p:sp>
        <p:nvSpPr>
          <p:cNvPr id="17" name="Text 13"/>
          <p:cNvSpPr/>
          <p:nvPr/>
        </p:nvSpPr>
        <p:spPr>
          <a:xfrm>
            <a:off x="1413179" y="1089422"/>
            <a:ext cx="1476803" cy="397818"/>
          </a:xfrm>
          <a:prstGeom prst="rect">
            <a:avLst/>
          </a:prstGeom>
          <a:noFill/>
          <a:ln/>
        </p:spPr>
        <p:txBody>
          <a:bodyPr wrap="square" lIns="85090" tIns="102108" rIns="85090" bIns="102108" rtlCol="0" anchor="t">
            <a:spAutoFit/>
          </a:bodyPr>
          <a:lstStyle/>
          <a:p>
            <a:pPr algn="l" indent="0" marL="0">
              <a:lnSpc>
                <a:spcPct val="104000"/>
              </a:lnSpc>
              <a:buNone/>
            </a:pPr>
            <a:r>
              <a:rPr lang="en-US" sz="600" dirty="0">
                <a:solidFill>
                  <a:srgbClr val="333F48"/>
                </a:solidFill>
                <a:latin typeface="Segoe UI" pitchFamily="34" charset="0"/>
                <a:ea typeface="Segoe UI" pitchFamily="34" charset="-122"/>
                <a:cs typeface="Segoe UI" pitchFamily="34" charset="-120"/>
              </a:rPr>
              <a:t>GLCM Statistical Descriptors</a:t>
            </a:r>
            <a:endParaRPr lang="en-US" sz="600" dirty="0"/>
          </a:p>
        </p:txBody>
      </p:sp>
      <p:sp>
        <p:nvSpPr>
          <p:cNvPr id="18" name="Text 14"/>
          <p:cNvSpPr/>
          <p:nvPr/>
        </p:nvSpPr>
        <p:spPr>
          <a:xfrm>
            <a:off x="2889982" y="1089422"/>
            <a:ext cx="1230678" cy="397818"/>
          </a:xfrm>
          <a:prstGeom prst="rect">
            <a:avLst/>
          </a:prstGeom>
          <a:noFill/>
          <a:ln/>
        </p:spPr>
        <p:txBody>
          <a:bodyPr wrap="square" lIns="85090" tIns="102108" rIns="85090" bIns="102108" rtlCol="0" anchor="t">
            <a:spAutoFit/>
          </a:bodyPr>
          <a:lstStyle/>
          <a:p>
            <a:pPr algn="l" indent="0" marL="0">
              <a:lnSpc>
                <a:spcPct val="104000"/>
              </a:lnSpc>
              <a:buNone/>
            </a:pPr>
            <a:r>
              <a:rPr lang="en-US" sz="600" dirty="0">
                <a:solidFill>
                  <a:srgbClr val="333F48"/>
                </a:solidFill>
                <a:latin typeface="Segoe UI" pitchFamily="34" charset="0"/>
                <a:ea typeface="Segoe UI" pitchFamily="34" charset="-122"/>
                <a:cs typeface="Segoe UI" pitchFamily="34" charset="-120"/>
              </a:rPr>
              <a:t>Photomicrographs, Satellite Imagery</a:t>
            </a:r>
            <a:endParaRPr lang="en-US" sz="600" dirty="0"/>
          </a:p>
        </p:txBody>
      </p:sp>
      <p:sp>
        <p:nvSpPr>
          <p:cNvPr id="19" name="Text 15"/>
          <p:cNvSpPr/>
          <p:nvPr/>
        </p:nvSpPr>
        <p:spPr>
          <a:xfrm>
            <a:off x="4120660" y="1089422"/>
            <a:ext cx="2297274" cy="397818"/>
          </a:xfrm>
          <a:prstGeom prst="rect">
            <a:avLst/>
          </a:prstGeom>
          <a:noFill/>
          <a:ln/>
        </p:spPr>
        <p:txBody>
          <a:bodyPr wrap="square" lIns="85090" tIns="102108" rIns="85090" bIns="102108" rtlCol="0" anchor="t">
            <a:spAutoFit/>
          </a:bodyPr>
          <a:lstStyle/>
          <a:p>
            <a:pPr algn="l" indent="0" marL="0">
              <a:lnSpc>
                <a:spcPct val="104000"/>
              </a:lnSpc>
              <a:buNone/>
            </a:pPr>
            <a:r>
              <a:rPr lang="en-US" sz="600" dirty="0">
                <a:solidFill>
                  <a:srgbClr val="333F48"/>
                </a:solidFill>
                <a:latin typeface="Segoe UI" pitchFamily="34" charset="0"/>
                <a:ea typeface="Segoe UI" pitchFamily="34" charset="-122"/>
                <a:cs typeface="Segoe UI" pitchFamily="34" charset="-120"/>
              </a:rPr>
              <a:t>Established computable spatial-dependency features for texture classification.</a:t>
            </a:r>
            <a:endParaRPr lang="en-US" sz="600" dirty="0"/>
          </a:p>
        </p:txBody>
      </p:sp>
      <p:sp>
        <p:nvSpPr>
          <p:cNvPr id="20" name="Text 16"/>
          <p:cNvSpPr/>
          <p:nvPr/>
        </p:nvSpPr>
        <p:spPr>
          <a:xfrm>
            <a:off x="6417934" y="1089422"/>
            <a:ext cx="2297441" cy="397818"/>
          </a:xfrm>
          <a:prstGeom prst="rect">
            <a:avLst/>
          </a:prstGeom>
          <a:noFill/>
          <a:ln/>
        </p:spPr>
        <p:txBody>
          <a:bodyPr wrap="square" lIns="85090" tIns="102108" rIns="85090" bIns="102108" rtlCol="0" anchor="t">
            <a:spAutoFit/>
          </a:bodyPr>
          <a:lstStyle/>
          <a:p>
            <a:pPr algn="l" indent="0" marL="0">
              <a:lnSpc>
                <a:spcPct val="104000"/>
              </a:lnSpc>
              <a:buNone/>
            </a:pPr>
            <a:r>
              <a:rPr lang="en-US" sz="600" dirty="0">
                <a:solidFill>
                  <a:srgbClr val="333F48"/>
                </a:solidFill>
                <a:latin typeface="Segoe UI" pitchFamily="34" charset="0"/>
                <a:ea typeface="Segoe UI" pitchFamily="34" charset="-122"/>
                <a:cs typeface="Segoe UI" pitchFamily="34" charset="-120"/>
              </a:rPr>
              <a:t>Not evaluated on modern industrial anomaly benchmarks.</a:t>
            </a:r>
            <a:endParaRPr lang="en-US" sz="600" dirty="0"/>
          </a:p>
        </p:txBody>
      </p:sp>
      <p:sp>
        <p:nvSpPr>
          <p:cNvPr id="21" name="Shape 17"/>
          <p:cNvSpPr/>
          <p:nvPr/>
        </p:nvSpPr>
        <p:spPr>
          <a:xfrm>
            <a:off x="428625" y="1487239"/>
            <a:ext cx="8286750" cy="401389"/>
          </a:xfrm>
          <a:prstGeom prst="rect">
            <a:avLst/>
          </a:prstGeom>
          <a:solidFill>
            <a:srgbClr val="F9F9F9"/>
          </a:solidFill>
          <a:ln/>
        </p:spPr>
      </p:sp>
      <p:sp>
        <p:nvSpPr>
          <p:cNvPr id="22" name="Text 18"/>
          <p:cNvSpPr/>
          <p:nvPr/>
        </p:nvSpPr>
        <p:spPr>
          <a:xfrm>
            <a:off x="428625" y="1487239"/>
            <a:ext cx="984554" cy="401389"/>
          </a:xfrm>
          <a:prstGeom prst="rect">
            <a:avLst/>
          </a:prstGeom>
          <a:noFill/>
          <a:ln/>
        </p:spPr>
        <p:txBody>
          <a:bodyPr wrap="square" lIns="85090" tIns="102108" rIns="85090" bIns="102108" rtlCol="0" anchor="t">
            <a:spAutoFit/>
          </a:bodyPr>
          <a:lstStyle/>
          <a:p>
            <a:pPr algn="l" indent="0" marL="0">
              <a:lnSpc>
                <a:spcPct val="104000"/>
              </a:lnSpc>
              <a:buNone/>
            </a:pPr>
            <a:r>
              <a:rPr lang="en-US" sz="600" b="1" dirty="0">
                <a:solidFill>
                  <a:srgbClr val="0A192F"/>
                </a:solidFill>
                <a:latin typeface="Segoe UI" pitchFamily="34" charset="0"/>
                <a:ea typeface="Segoe UI" pitchFamily="34" charset="-122"/>
                <a:cs typeface="Segoe UI" pitchFamily="34" charset="-120"/>
              </a:rPr>
              <a:t>Ojala et al. (2002)</a:t>
            </a:r>
            <a:endParaRPr lang="en-US" sz="600" dirty="0"/>
          </a:p>
        </p:txBody>
      </p:sp>
      <p:sp>
        <p:nvSpPr>
          <p:cNvPr id="23" name="Text 19"/>
          <p:cNvSpPr/>
          <p:nvPr/>
        </p:nvSpPr>
        <p:spPr>
          <a:xfrm>
            <a:off x="1413179" y="1487239"/>
            <a:ext cx="1476803" cy="401389"/>
          </a:xfrm>
          <a:prstGeom prst="rect">
            <a:avLst/>
          </a:prstGeom>
          <a:noFill/>
          <a:ln/>
        </p:spPr>
        <p:txBody>
          <a:bodyPr wrap="square" lIns="85090" tIns="102108" rIns="85090" bIns="102108" rtlCol="0" anchor="t">
            <a:spAutoFit/>
          </a:bodyPr>
          <a:lstStyle/>
          <a:p>
            <a:pPr algn="l" indent="0" marL="0">
              <a:lnSpc>
                <a:spcPct val="104000"/>
              </a:lnSpc>
              <a:buNone/>
            </a:pPr>
            <a:r>
              <a:rPr lang="en-US" sz="600" dirty="0">
                <a:solidFill>
                  <a:srgbClr val="333F48"/>
                </a:solidFill>
                <a:latin typeface="Segoe UI" pitchFamily="34" charset="0"/>
                <a:ea typeface="Segoe UI" pitchFamily="34" charset="-122"/>
                <a:cs typeface="Segoe UI" pitchFamily="34" charset="-120"/>
              </a:rPr>
              <a:t>Multiresolution LBP</a:t>
            </a:r>
            <a:endParaRPr lang="en-US" sz="600" dirty="0"/>
          </a:p>
        </p:txBody>
      </p:sp>
      <p:sp>
        <p:nvSpPr>
          <p:cNvPr id="24" name="Text 20"/>
          <p:cNvSpPr/>
          <p:nvPr/>
        </p:nvSpPr>
        <p:spPr>
          <a:xfrm>
            <a:off x="2889982" y="1487239"/>
            <a:ext cx="1230678" cy="401389"/>
          </a:xfrm>
          <a:prstGeom prst="rect">
            <a:avLst/>
          </a:prstGeom>
          <a:noFill/>
          <a:ln/>
        </p:spPr>
        <p:txBody>
          <a:bodyPr wrap="square" lIns="85090" tIns="102108" rIns="85090" bIns="102108" rtlCol="0" anchor="t">
            <a:spAutoFit/>
          </a:bodyPr>
          <a:lstStyle/>
          <a:p>
            <a:pPr algn="l" indent="0" marL="0">
              <a:lnSpc>
                <a:spcPct val="104000"/>
              </a:lnSpc>
              <a:buNone/>
            </a:pPr>
            <a:r>
              <a:rPr lang="en-US" sz="600" dirty="0">
                <a:solidFill>
                  <a:srgbClr val="333F48"/>
                </a:solidFill>
                <a:latin typeface="Segoe UI" pitchFamily="34" charset="0"/>
                <a:ea typeface="Segoe UI" pitchFamily="34" charset="-122"/>
                <a:cs typeface="Segoe UI" pitchFamily="34" charset="-120"/>
              </a:rPr>
              <a:t>Texture Classification</a:t>
            </a:r>
            <a:endParaRPr lang="en-US" sz="600" dirty="0"/>
          </a:p>
        </p:txBody>
      </p:sp>
      <p:sp>
        <p:nvSpPr>
          <p:cNvPr id="25" name="Text 21"/>
          <p:cNvSpPr/>
          <p:nvPr/>
        </p:nvSpPr>
        <p:spPr>
          <a:xfrm>
            <a:off x="4120660" y="1487239"/>
            <a:ext cx="2297274" cy="401389"/>
          </a:xfrm>
          <a:prstGeom prst="rect">
            <a:avLst/>
          </a:prstGeom>
          <a:noFill/>
          <a:ln/>
        </p:spPr>
        <p:txBody>
          <a:bodyPr wrap="square" lIns="85090" tIns="102108" rIns="85090" bIns="102108" rtlCol="0" anchor="t">
            <a:spAutoFit/>
          </a:bodyPr>
          <a:lstStyle/>
          <a:p>
            <a:pPr algn="l" indent="0" marL="0">
              <a:lnSpc>
                <a:spcPct val="104000"/>
              </a:lnSpc>
              <a:buNone/>
            </a:pPr>
            <a:r>
              <a:rPr lang="en-US" sz="600" dirty="0">
                <a:solidFill>
                  <a:srgbClr val="333F48"/>
                </a:solidFill>
                <a:latin typeface="Segoe UI" pitchFamily="34" charset="0"/>
                <a:ea typeface="Segoe UI" pitchFamily="34" charset="-122"/>
                <a:cs typeface="Segoe UI" pitchFamily="34" charset="-120"/>
              </a:rPr>
              <a:t>LBP histograms provide compact, rotation-invariant local texture representation.</a:t>
            </a:r>
            <a:endParaRPr lang="en-US" sz="600" dirty="0"/>
          </a:p>
        </p:txBody>
      </p:sp>
      <p:sp>
        <p:nvSpPr>
          <p:cNvPr id="26" name="Text 22"/>
          <p:cNvSpPr/>
          <p:nvPr/>
        </p:nvSpPr>
        <p:spPr>
          <a:xfrm>
            <a:off x="6417934" y="1487239"/>
            <a:ext cx="2297441" cy="401389"/>
          </a:xfrm>
          <a:prstGeom prst="rect">
            <a:avLst/>
          </a:prstGeom>
          <a:noFill/>
          <a:ln/>
        </p:spPr>
        <p:txBody>
          <a:bodyPr wrap="square" lIns="85090" tIns="102108" rIns="85090" bIns="102108" rtlCol="0" anchor="t">
            <a:spAutoFit/>
          </a:bodyPr>
          <a:lstStyle/>
          <a:p>
            <a:pPr algn="l" indent="0" marL="0">
              <a:lnSpc>
                <a:spcPct val="104000"/>
              </a:lnSpc>
              <a:buNone/>
            </a:pPr>
            <a:r>
              <a:rPr lang="en-US" sz="600" dirty="0">
                <a:solidFill>
                  <a:srgbClr val="333F48"/>
                </a:solidFill>
                <a:latin typeface="Segoe UI" pitchFamily="34" charset="0"/>
                <a:ea typeface="Segoe UI" pitchFamily="34" charset="-122"/>
                <a:cs typeface="Segoe UI" pitchFamily="34" charset="-120"/>
              </a:rPr>
              <a:t>Scale selection remains application-dependent for industrial defects.</a:t>
            </a:r>
            <a:endParaRPr lang="en-US" sz="600" dirty="0"/>
          </a:p>
        </p:txBody>
      </p:sp>
      <p:sp>
        <p:nvSpPr>
          <p:cNvPr id="27" name="Text 23"/>
          <p:cNvSpPr/>
          <p:nvPr/>
        </p:nvSpPr>
        <p:spPr>
          <a:xfrm>
            <a:off x="428625" y="1888629"/>
            <a:ext cx="984554" cy="401389"/>
          </a:xfrm>
          <a:prstGeom prst="rect">
            <a:avLst/>
          </a:prstGeom>
          <a:noFill/>
          <a:ln/>
        </p:spPr>
        <p:txBody>
          <a:bodyPr wrap="square" lIns="85090" tIns="102108" rIns="85090" bIns="102108" rtlCol="0" anchor="t">
            <a:spAutoFit/>
          </a:bodyPr>
          <a:lstStyle/>
          <a:p>
            <a:pPr algn="l" indent="0" marL="0">
              <a:lnSpc>
                <a:spcPct val="104000"/>
              </a:lnSpc>
              <a:buNone/>
            </a:pPr>
            <a:r>
              <a:rPr lang="en-US" sz="600" b="1" dirty="0">
                <a:solidFill>
                  <a:srgbClr val="0A192F"/>
                </a:solidFill>
                <a:latin typeface="Segoe UI" pitchFamily="34" charset="0"/>
                <a:ea typeface="Segoe UI" pitchFamily="34" charset="-122"/>
                <a:cs typeface="Segoe UI" pitchFamily="34" charset="-120"/>
              </a:rPr>
              <a:t>Cortes &amp; Vapnik (1995)</a:t>
            </a:r>
            <a:endParaRPr lang="en-US" sz="600" dirty="0"/>
          </a:p>
        </p:txBody>
      </p:sp>
      <p:sp>
        <p:nvSpPr>
          <p:cNvPr id="28" name="Text 24"/>
          <p:cNvSpPr/>
          <p:nvPr/>
        </p:nvSpPr>
        <p:spPr>
          <a:xfrm>
            <a:off x="1413179" y="1888629"/>
            <a:ext cx="1476803" cy="401389"/>
          </a:xfrm>
          <a:prstGeom prst="rect">
            <a:avLst/>
          </a:prstGeom>
          <a:noFill/>
          <a:ln/>
        </p:spPr>
        <p:txBody>
          <a:bodyPr wrap="square" lIns="85090" tIns="102108" rIns="85090" bIns="102108" rtlCol="0" anchor="t">
            <a:spAutoFit/>
          </a:bodyPr>
          <a:lstStyle/>
          <a:p>
            <a:pPr algn="l" indent="0" marL="0">
              <a:lnSpc>
                <a:spcPct val="104000"/>
              </a:lnSpc>
              <a:buNone/>
            </a:pPr>
            <a:r>
              <a:rPr lang="en-US" sz="600" dirty="0">
                <a:solidFill>
                  <a:srgbClr val="333F48"/>
                </a:solidFill>
                <a:latin typeface="Segoe UI" pitchFamily="34" charset="0"/>
                <a:ea typeface="Segoe UI" pitchFamily="34" charset="-122"/>
                <a:cs typeface="Segoe UI" pitchFamily="34" charset="-120"/>
              </a:rPr>
              <a:t>Support Vector Networks</a:t>
            </a:r>
            <a:endParaRPr lang="en-US" sz="600" dirty="0"/>
          </a:p>
        </p:txBody>
      </p:sp>
      <p:sp>
        <p:nvSpPr>
          <p:cNvPr id="29" name="Text 25"/>
          <p:cNvSpPr/>
          <p:nvPr/>
        </p:nvSpPr>
        <p:spPr>
          <a:xfrm>
            <a:off x="2889982" y="1888629"/>
            <a:ext cx="1230678" cy="401389"/>
          </a:xfrm>
          <a:prstGeom prst="rect">
            <a:avLst/>
          </a:prstGeom>
          <a:noFill/>
          <a:ln/>
        </p:spPr>
        <p:txBody>
          <a:bodyPr wrap="square" lIns="85090" tIns="102108" rIns="85090" bIns="102108" rtlCol="0" anchor="t">
            <a:spAutoFit/>
          </a:bodyPr>
          <a:lstStyle/>
          <a:p>
            <a:pPr algn="l" indent="0" marL="0">
              <a:lnSpc>
                <a:spcPct val="104000"/>
              </a:lnSpc>
              <a:buNone/>
            </a:pPr>
            <a:r>
              <a:rPr lang="en-US" sz="600" dirty="0">
                <a:solidFill>
                  <a:srgbClr val="333F48"/>
                </a:solidFill>
                <a:latin typeface="Segoe UI" pitchFamily="34" charset="0"/>
                <a:ea typeface="Segoe UI" pitchFamily="34" charset="-122"/>
                <a:cs typeface="Segoe UI" pitchFamily="34" charset="-120"/>
              </a:rPr>
              <a:t>General Classification</a:t>
            </a:r>
            <a:endParaRPr lang="en-US" sz="600" dirty="0"/>
          </a:p>
        </p:txBody>
      </p:sp>
      <p:sp>
        <p:nvSpPr>
          <p:cNvPr id="30" name="Text 26"/>
          <p:cNvSpPr/>
          <p:nvPr/>
        </p:nvSpPr>
        <p:spPr>
          <a:xfrm>
            <a:off x="4120660" y="1888629"/>
            <a:ext cx="2297274" cy="401389"/>
          </a:xfrm>
          <a:prstGeom prst="rect">
            <a:avLst/>
          </a:prstGeom>
          <a:noFill/>
          <a:ln/>
        </p:spPr>
        <p:txBody>
          <a:bodyPr wrap="square" lIns="85090" tIns="102108" rIns="85090" bIns="102108" rtlCol="0" anchor="t">
            <a:spAutoFit/>
          </a:bodyPr>
          <a:lstStyle/>
          <a:p>
            <a:pPr algn="l" indent="0" marL="0">
              <a:lnSpc>
                <a:spcPct val="104000"/>
              </a:lnSpc>
              <a:buNone/>
            </a:pPr>
            <a:r>
              <a:rPr lang="en-US" sz="600" dirty="0">
                <a:solidFill>
                  <a:srgbClr val="333F48"/>
                </a:solidFill>
                <a:latin typeface="Segoe UI" pitchFamily="34" charset="0"/>
                <a:ea typeface="Segoe UI" pitchFamily="34" charset="-122"/>
                <a:cs typeface="Segoe UI" pitchFamily="34" charset="-120"/>
              </a:rPr>
              <a:t>Introduced maximum-margin learning with nonlinear kernel capabilities.</a:t>
            </a:r>
            <a:endParaRPr lang="en-US" sz="600" dirty="0"/>
          </a:p>
        </p:txBody>
      </p:sp>
      <p:sp>
        <p:nvSpPr>
          <p:cNvPr id="31" name="Text 27"/>
          <p:cNvSpPr/>
          <p:nvPr/>
        </p:nvSpPr>
        <p:spPr>
          <a:xfrm>
            <a:off x="6417934" y="1888629"/>
            <a:ext cx="2297441" cy="401389"/>
          </a:xfrm>
          <a:prstGeom prst="rect">
            <a:avLst/>
          </a:prstGeom>
          <a:noFill/>
          <a:ln/>
        </p:spPr>
        <p:txBody>
          <a:bodyPr wrap="square" lIns="85090" tIns="102108" rIns="85090" bIns="102108" rtlCol="0" anchor="t">
            <a:spAutoFit/>
          </a:bodyPr>
          <a:lstStyle/>
          <a:p>
            <a:pPr algn="l" indent="0" marL="0">
              <a:lnSpc>
                <a:spcPct val="104000"/>
              </a:lnSpc>
              <a:buNone/>
            </a:pPr>
            <a:r>
              <a:rPr lang="en-US" sz="600" dirty="0">
                <a:solidFill>
                  <a:srgbClr val="333F48"/>
                </a:solidFill>
                <a:latin typeface="Segoe UI" pitchFamily="34" charset="0"/>
                <a:ea typeface="Segoe UI" pitchFamily="34" charset="-122"/>
                <a:cs typeface="Segoe UI" pitchFamily="34" charset="-120"/>
              </a:rPr>
              <a:t>Requires carefully engineered features for specific domains.</a:t>
            </a:r>
            <a:endParaRPr lang="en-US" sz="600" dirty="0"/>
          </a:p>
        </p:txBody>
      </p:sp>
      <p:sp>
        <p:nvSpPr>
          <p:cNvPr id="32" name="Shape 28"/>
          <p:cNvSpPr/>
          <p:nvPr/>
        </p:nvSpPr>
        <p:spPr>
          <a:xfrm>
            <a:off x="428625" y="2290018"/>
            <a:ext cx="8286750" cy="401389"/>
          </a:xfrm>
          <a:prstGeom prst="rect">
            <a:avLst/>
          </a:prstGeom>
          <a:solidFill>
            <a:srgbClr val="F9F9F9"/>
          </a:solidFill>
          <a:ln/>
        </p:spPr>
      </p:sp>
      <p:sp>
        <p:nvSpPr>
          <p:cNvPr id="33" name="Text 29"/>
          <p:cNvSpPr/>
          <p:nvPr/>
        </p:nvSpPr>
        <p:spPr>
          <a:xfrm>
            <a:off x="428625" y="2290018"/>
            <a:ext cx="984554" cy="401389"/>
          </a:xfrm>
          <a:prstGeom prst="rect">
            <a:avLst/>
          </a:prstGeom>
          <a:noFill/>
          <a:ln/>
        </p:spPr>
        <p:txBody>
          <a:bodyPr wrap="square" lIns="85090" tIns="102108" rIns="85090" bIns="102108" rtlCol="0" anchor="t">
            <a:spAutoFit/>
          </a:bodyPr>
          <a:lstStyle/>
          <a:p>
            <a:pPr algn="l" indent="0" marL="0">
              <a:lnSpc>
                <a:spcPct val="104000"/>
              </a:lnSpc>
              <a:buNone/>
            </a:pPr>
            <a:r>
              <a:rPr lang="en-US" sz="600" b="1" dirty="0">
                <a:solidFill>
                  <a:srgbClr val="0A192F"/>
                </a:solidFill>
                <a:latin typeface="Segoe UI" pitchFamily="34" charset="0"/>
                <a:ea typeface="Segoe UI" pitchFamily="34" charset="-122"/>
                <a:cs typeface="Segoe UI" pitchFamily="34" charset="-120"/>
              </a:rPr>
              <a:t>Bergmann et al. (2019)</a:t>
            </a:r>
            <a:endParaRPr lang="en-US" sz="600" dirty="0"/>
          </a:p>
        </p:txBody>
      </p:sp>
      <p:sp>
        <p:nvSpPr>
          <p:cNvPr id="34" name="Text 30"/>
          <p:cNvSpPr/>
          <p:nvPr/>
        </p:nvSpPr>
        <p:spPr>
          <a:xfrm>
            <a:off x="1413179" y="2290018"/>
            <a:ext cx="1476803" cy="401389"/>
          </a:xfrm>
          <a:prstGeom prst="rect">
            <a:avLst/>
          </a:prstGeom>
          <a:noFill/>
          <a:ln/>
        </p:spPr>
        <p:txBody>
          <a:bodyPr wrap="square" lIns="85090" tIns="102108" rIns="85090" bIns="102108" rtlCol="0" anchor="t">
            <a:spAutoFit/>
          </a:bodyPr>
          <a:lstStyle/>
          <a:p>
            <a:pPr algn="l" indent="0" marL="0">
              <a:lnSpc>
                <a:spcPct val="104000"/>
              </a:lnSpc>
              <a:buNone/>
            </a:pPr>
            <a:r>
              <a:rPr lang="en-US" sz="600" dirty="0">
                <a:solidFill>
                  <a:srgbClr val="333F48"/>
                </a:solidFill>
                <a:latin typeface="Segoe UI" pitchFamily="34" charset="0"/>
                <a:ea typeface="Segoe UI" pitchFamily="34" charset="-122"/>
                <a:cs typeface="Segoe UI" pitchFamily="34" charset="-120"/>
              </a:rPr>
              <a:t>MVTec AD Benchmark</a:t>
            </a:r>
            <a:endParaRPr lang="en-US" sz="600" dirty="0"/>
          </a:p>
        </p:txBody>
      </p:sp>
      <p:sp>
        <p:nvSpPr>
          <p:cNvPr id="35" name="Text 31"/>
          <p:cNvSpPr/>
          <p:nvPr/>
        </p:nvSpPr>
        <p:spPr>
          <a:xfrm>
            <a:off x="2889982" y="2290018"/>
            <a:ext cx="1230678" cy="401389"/>
          </a:xfrm>
          <a:prstGeom prst="rect">
            <a:avLst/>
          </a:prstGeom>
          <a:noFill/>
          <a:ln/>
        </p:spPr>
        <p:txBody>
          <a:bodyPr wrap="square" lIns="85090" tIns="102108" rIns="85090" bIns="102108" rtlCol="0" anchor="t">
            <a:spAutoFit/>
          </a:bodyPr>
          <a:lstStyle/>
          <a:p>
            <a:pPr algn="l" indent="0" marL="0">
              <a:lnSpc>
                <a:spcPct val="104000"/>
              </a:lnSpc>
              <a:buNone/>
            </a:pPr>
            <a:r>
              <a:rPr lang="en-US" sz="600" dirty="0">
                <a:solidFill>
                  <a:srgbClr val="333F48"/>
                </a:solidFill>
                <a:latin typeface="Segoe UI" pitchFamily="34" charset="0"/>
                <a:ea typeface="Segoe UI" pitchFamily="34" charset="-122"/>
                <a:cs typeface="Segoe UI" pitchFamily="34" charset="-120"/>
              </a:rPr>
              <a:t>Industrial Objects &amp; Textures</a:t>
            </a:r>
            <a:endParaRPr lang="en-US" sz="600" dirty="0"/>
          </a:p>
        </p:txBody>
      </p:sp>
      <p:sp>
        <p:nvSpPr>
          <p:cNvPr id="36" name="Text 32"/>
          <p:cNvSpPr/>
          <p:nvPr/>
        </p:nvSpPr>
        <p:spPr>
          <a:xfrm>
            <a:off x="4120660" y="2290018"/>
            <a:ext cx="2297274" cy="401389"/>
          </a:xfrm>
          <a:prstGeom prst="rect">
            <a:avLst/>
          </a:prstGeom>
          <a:noFill/>
          <a:ln/>
        </p:spPr>
        <p:txBody>
          <a:bodyPr wrap="square" lIns="85090" tIns="102108" rIns="85090" bIns="102108" rtlCol="0" anchor="t">
            <a:spAutoFit/>
          </a:bodyPr>
          <a:lstStyle/>
          <a:p>
            <a:pPr algn="l" indent="0" marL="0">
              <a:lnSpc>
                <a:spcPct val="104000"/>
              </a:lnSpc>
              <a:buNone/>
            </a:pPr>
            <a:r>
              <a:rPr lang="en-US" sz="600" dirty="0">
                <a:solidFill>
                  <a:srgbClr val="333F48"/>
                </a:solidFill>
                <a:latin typeface="Segoe UI" pitchFamily="34" charset="0"/>
                <a:ea typeface="Segoe UI" pitchFamily="34" charset="-122"/>
                <a:cs typeface="Segoe UI" pitchFamily="34" charset="-120"/>
              </a:rPr>
              <a:t>Introduced a realistic multi-category benchmark with pixel-precise ground truth.</a:t>
            </a:r>
            <a:endParaRPr lang="en-US" sz="600" dirty="0"/>
          </a:p>
        </p:txBody>
      </p:sp>
      <p:sp>
        <p:nvSpPr>
          <p:cNvPr id="37" name="Text 33"/>
          <p:cNvSpPr/>
          <p:nvPr/>
        </p:nvSpPr>
        <p:spPr>
          <a:xfrm>
            <a:off x="6417934" y="2290018"/>
            <a:ext cx="2297441" cy="401389"/>
          </a:xfrm>
          <a:prstGeom prst="rect">
            <a:avLst/>
          </a:prstGeom>
          <a:noFill/>
          <a:ln/>
        </p:spPr>
        <p:txBody>
          <a:bodyPr wrap="square" lIns="85090" tIns="102108" rIns="85090" bIns="102108" rtlCol="0" anchor="t">
            <a:spAutoFit/>
          </a:bodyPr>
          <a:lstStyle/>
          <a:p>
            <a:pPr algn="l" indent="0" marL="0">
              <a:lnSpc>
                <a:spcPct val="104000"/>
              </a:lnSpc>
              <a:buNone/>
            </a:pPr>
            <a:r>
              <a:rPr lang="en-US" sz="600" dirty="0">
                <a:solidFill>
                  <a:srgbClr val="333F48"/>
                </a:solidFill>
                <a:latin typeface="Segoe UI" pitchFamily="34" charset="0"/>
                <a:ea typeface="Segoe UI" pitchFamily="34" charset="-122"/>
                <a:cs typeface="Segoe UI" pitchFamily="34" charset="-120"/>
              </a:rPr>
              <a:t>Initial baselines focused on detection rather than comparative feature analysis.</a:t>
            </a:r>
            <a:endParaRPr lang="en-US" sz="600" dirty="0"/>
          </a:p>
        </p:txBody>
      </p:sp>
      <p:sp>
        <p:nvSpPr>
          <p:cNvPr id="38" name="Text 34"/>
          <p:cNvSpPr/>
          <p:nvPr/>
        </p:nvSpPr>
        <p:spPr>
          <a:xfrm>
            <a:off x="428625" y="2691408"/>
            <a:ext cx="984554" cy="401389"/>
          </a:xfrm>
          <a:prstGeom prst="rect">
            <a:avLst/>
          </a:prstGeom>
          <a:noFill/>
          <a:ln/>
        </p:spPr>
        <p:txBody>
          <a:bodyPr wrap="square" lIns="85090" tIns="102108" rIns="85090" bIns="102108" rtlCol="0" anchor="t">
            <a:spAutoFit/>
          </a:bodyPr>
          <a:lstStyle/>
          <a:p>
            <a:pPr algn="l" indent="0" marL="0">
              <a:lnSpc>
                <a:spcPct val="104000"/>
              </a:lnSpc>
              <a:buNone/>
            </a:pPr>
            <a:r>
              <a:rPr lang="en-US" sz="600" b="1" dirty="0">
                <a:solidFill>
                  <a:srgbClr val="0A192F"/>
                </a:solidFill>
                <a:latin typeface="Segoe UI" pitchFamily="34" charset="0"/>
                <a:ea typeface="Segoe UI" pitchFamily="34" charset="-122"/>
                <a:cs typeface="Segoe UI" pitchFamily="34" charset="-120"/>
              </a:rPr>
              <a:t>Bergmann et al. (2021)</a:t>
            </a:r>
            <a:endParaRPr lang="en-US" sz="600" dirty="0"/>
          </a:p>
        </p:txBody>
      </p:sp>
      <p:sp>
        <p:nvSpPr>
          <p:cNvPr id="39" name="Text 35"/>
          <p:cNvSpPr/>
          <p:nvPr/>
        </p:nvSpPr>
        <p:spPr>
          <a:xfrm>
            <a:off x="1413179" y="2691408"/>
            <a:ext cx="1476803" cy="401389"/>
          </a:xfrm>
          <a:prstGeom prst="rect">
            <a:avLst/>
          </a:prstGeom>
          <a:noFill/>
          <a:ln/>
        </p:spPr>
        <p:txBody>
          <a:bodyPr wrap="square" lIns="85090" tIns="102108" rIns="85090" bIns="102108" rtlCol="0" anchor="t">
            <a:spAutoFit/>
          </a:bodyPr>
          <a:lstStyle/>
          <a:p>
            <a:pPr algn="l" indent="0" marL="0">
              <a:lnSpc>
                <a:spcPct val="104000"/>
              </a:lnSpc>
              <a:buNone/>
            </a:pPr>
            <a:r>
              <a:rPr lang="en-US" sz="600" dirty="0">
                <a:solidFill>
                  <a:srgbClr val="333F48"/>
                </a:solidFill>
                <a:latin typeface="Segoe UI" pitchFamily="34" charset="0"/>
                <a:ea typeface="Segoe UI" pitchFamily="34" charset="-122"/>
                <a:cs typeface="Segoe UI" pitchFamily="34" charset="-120"/>
              </a:rPr>
              <a:t>Extended MVTec AD Analysis</a:t>
            </a:r>
            <a:endParaRPr lang="en-US" sz="600" dirty="0"/>
          </a:p>
        </p:txBody>
      </p:sp>
      <p:sp>
        <p:nvSpPr>
          <p:cNvPr id="40" name="Text 36"/>
          <p:cNvSpPr/>
          <p:nvPr/>
        </p:nvSpPr>
        <p:spPr>
          <a:xfrm>
            <a:off x="2889982" y="2691408"/>
            <a:ext cx="1230678" cy="401389"/>
          </a:xfrm>
          <a:prstGeom prst="rect">
            <a:avLst/>
          </a:prstGeom>
          <a:noFill/>
          <a:ln/>
        </p:spPr>
        <p:txBody>
          <a:bodyPr wrap="square" lIns="85090" tIns="102108" rIns="85090" bIns="102108" rtlCol="0" anchor="t">
            <a:spAutoFit/>
          </a:bodyPr>
          <a:lstStyle/>
          <a:p>
            <a:pPr algn="l" indent="0" marL="0">
              <a:lnSpc>
                <a:spcPct val="104000"/>
              </a:lnSpc>
              <a:buNone/>
            </a:pPr>
            <a:r>
              <a:rPr lang="en-US" sz="600" dirty="0">
                <a:solidFill>
                  <a:srgbClr val="333F48"/>
                </a:solidFill>
                <a:latin typeface="Segoe UI" pitchFamily="34" charset="0"/>
                <a:ea typeface="Segoe UI" pitchFamily="34" charset="-122"/>
                <a:cs typeface="Segoe UI" pitchFamily="34" charset="-120"/>
              </a:rPr>
              <a:t>MVTec AD</a:t>
            </a:r>
            <a:endParaRPr lang="en-US" sz="600" dirty="0"/>
          </a:p>
        </p:txBody>
      </p:sp>
      <p:sp>
        <p:nvSpPr>
          <p:cNvPr id="41" name="Text 37"/>
          <p:cNvSpPr/>
          <p:nvPr/>
        </p:nvSpPr>
        <p:spPr>
          <a:xfrm>
            <a:off x="4120660" y="2691408"/>
            <a:ext cx="2297274" cy="401389"/>
          </a:xfrm>
          <a:prstGeom prst="rect">
            <a:avLst/>
          </a:prstGeom>
          <a:noFill/>
          <a:ln/>
        </p:spPr>
        <p:txBody>
          <a:bodyPr wrap="square" lIns="85090" tIns="102108" rIns="85090" bIns="102108" rtlCol="0" anchor="t">
            <a:spAutoFit/>
          </a:bodyPr>
          <a:lstStyle/>
          <a:p>
            <a:pPr algn="l" indent="0" marL="0">
              <a:lnSpc>
                <a:spcPct val="104000"/>
              </a:lnSpc>
              <a:buNone/>
            </a:pPr>
            <a:r>
              <a:rPr lang="en-US" sz="600" dirty="0">
                <a:solidFill>
                  <a:srgbClr val="333F48"/>
                </a:solidFill>
                <a:latin typeface="Segoe UI" pitchFamily="34" charset="0"/>
                <a:ea typeface="Segoe UI" pitchFamily="34" charset="-122"/>
                <a:cs typeface="Segoe UI" pitchFamily="34" charset="-120"/>
              </a:rPr>
              <a:t>Detailed 15 categories and 73 anomaly types; compared deep vs. classical methods.</a:t>
            </a:r>
            <a:endParaRPr lang="en-US" sz="600" dirty="0"/>
          </a:p>
        </p:txBody>
      </p:sp>
      <p:sp>
        <p:nvSpPr>
          <p:cNvPr id="42" name="Text 38"/>
          <p:cNvSpPr/>
          <p:nvPr/>
        </p:nvSpPr>
        <p:spPr>
          <a:xfrm>
            <a:off x="6417934" y="2691408"/>
            <a:ext cx="2297441" cy="401389"/>
          </a:xfrm>
          <a:prstGeom prst="rect">
            <a:avLst/>
          </a:prstGeom>
          <a:noFill/>
          <a:ln/>
        </p:spPr>
        <p:txBody>
          <a:bodyPr wrap="square" lIns="85090" tIns="102108" rIns="85090" bIns="102108" rtlCol="0" anchor="t">
            <a:spAutoFit/>
          </a:bodyPr>
          <a:lstStyle/>
          <a:p>
            <a:pPr algn="l" indent="0" marL="0">
              <a:lnSpc>
                <a:spcPct val="104000"/>
              </a:lnSpc>
              <a:buNone/>
            </a:pPr>
            <a:r>
              <a:rPr lang="en-US" sz="600" dirty="0">
                <a:solidFill>
                  <a:srgbClr val="333F48"/>
                </a:solidFill>
                <a:latin typeface="Segoe UI" pitchFamily="34" charset="0"/>
                <a:ea typeface="Segoe UI" pitchFamily="34" charset="-122"/>
                <a:cs typeface="Segoe UI" pitchFamily="34" charset="-120"/>
              </a:rPr>
              <a:t>Deep methods outperformed classical ones, motivating refined lightweight studies.</a:t>
            </a:r>
            <a:endParaRPr lang="en-US" sz="600" dirty="0"/>
          </a:p>
        </p:txBody>
      </p:sp>
      <p:sp>
        <p:nvSpPr>
          <p:cNvPr id="43" name="Text 39"/>
          <p:cNvSpPr/>
          <p:nvPr/>
        </p:nvSpPr>
        <p:spPr>
          <a:xfrm>
            <a:off x="7363699" y="4900613"/>
            <a:ext cx="1351676" cy="100013"/>
          </a:xfrm>
          <a:prstGeom prst="rect">
            <a:avLst/>
          </a:prstGeom>
          <a:noFill/>
          <a:ln/>
        </p:spPr>
        <p:txBody>
          <a:bodyPr wrap="square" lIns="0" tIns="0" rIns="0" bIns="0" rtlCol="0" anchor="t">
            <a:spAutoFit/>
          </a:bodyPr>
          <a:lstStyle/>
          <a:p>
            <a:pPr algn="l" indent="0" marL="0">
              <a:buNone/>
            </a:pPr>
            <a:r>
              <a:rPr lang="en-US" sz="600" dirty="0">
                <a:solidFill>
                  <a:srgbClr val="888888"/>
                </a:solidFill>
                <a:latin typeface="Segoe UI" pitchFamily="34" charset="0"/>
                <a:ea typeface="Segoe UI" pitchFamily="34" charset="-122"/>
                <a:cs typeface="Segoe UI" pitchFamily="34" charset="-120"/>
              </a:rPr>
              <a:t>Page 4 | Review-1 Project Proposal</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285750"/>
            <a:ext cx="4938564" cy="307181"/>
          </a:xfrm>
          <a:prstGeom prst="rect">
            <a:avLst/>
          </a:prstGeom>
          <a:noFill/>
          <a:ln/>
        </p:spPr>
        <p:txBody>
          <a:bodyPr wrap="square" lIns="0" tIns="0" rIns="0" bIns="42545" rtlCol="0" anchor="t">
            <a:spAutoFit/>
          </a:bodyPr>
          <a:lstStyle/>
          <a:p>
            <a:pPr algn="l" indent="0" marL="0">
              <a:buNone/>
            </a:pPr>
            <a:r>
              <a:rPr lang="en-US" sz="1700" dirty="0">
                <a:solidFill>
                  <a:srgbClr val="0A192F"/>
                </a:solidFill>
                <a:latin typeface="Courier New" pitchFamily="34" charset="0"/>
                <a:ea typeface="Courier New" pitchFamily="34" charset="-122"/>
                <a:cs typeface="Courier New" pitchFamily="34" charset="-120"/>
              </a:rPr>
              <a:t>LITERATURE SURVEY II: MODERN CONTEXT</a:t>
            </a:r>
            <a:endParaRPr lang="en-US" sz="1700" dirty="0"/>
          </a:p>
        </p:txBody>
      </p:sp>
      <p:sp>
        <p:nvSpPr>
          <p:cNvPr id="5" name="Shape 1"/>
          <p:cNvSpPr/>
          <p:nvPr/>
        </p:nvSpPr>
        <p:spPr>
          <a:xfrm>
            <a:off x="428625" y="807244"/>
            <a:ext cx="8286750" cy="1826568"/>
          </a:xfrm>
          <a:prstGeom prst="rect">
            <a:avLst/>
          </a:prstGeom>
          <a:solidFill>
            <a:srgbClr val="FFFFFF"/>
          </a:solidFill>
          <a:ln w="9144">
            <a:solidFill>
              <a:srgbClr val="0A192F"/>
            </a:solidFill>
            <a:prstDash val="solid"/>
          </a:ln>
        </p:spPr>
      </p:sp>
      <p:sp>
        <p:nvSpPr>
          <p:cNvPr id="6" name="Shape 2"/>
          <p:cNvSpPr/>
          <p:nvPr/>
        </p:nvSpPr>
        <p:spPr>
          <a:xfrm>
            <a:off x="428625" y="807244"/>
            <a:ext cx="1143000" cy="253603"/>
          </a:xfrm>
          <a:prstGeom prst="rect">
            <a:avLst/>
          </a:prstGeom>
          <a:solidFill>
            <a:srgbClr val="0A192F"/>
          </a:solidFill>
          <a:ln/>
        </p:spPr>
      </p:sp>
      <p:sp>
        <p:nvSpPr>
          <p:cNvPr id="7" name="Text 3"/>
          <p:cNvSpPr/>
          <p:nvPr/>
        </p:nvSpPr>
        <p:spPr>
          <a:xfrm>
            <a:off x="428625" y="807244"/>
            <a:ext cx="1143000" cy="253603"/>
          </a:xfrm>
          <a:prstGeom prst="rect">
            <a:avLst/>
          </a:prstGeom>
          <a:noFill/>
          <a:ln/>
        </p:spPr>
        <p:txBody>
          <a:bodyPr wrap="none" lIns="102108" tIns="85090" rIns="102108" bIns="85090" rtlCol="0" anchor="ctr">
            <a:spAutoFit/>
          </a:bodyPr>
          <a:lstStyle/>
          <a:p>
            <a:pPr algn="l" indent="0" marL="0">
              <a:buNone/>
            </a:pPr>
            <a:r>
              <a:rPr lang="en-US" sz="650" b="1" spc="1" kern="0" dirty="0">
                <a:solidFill>
                  <a:srgbClr val="FFFFFF"/>
                </a:solidFill>
                <a:latin typeface="Segoe UI" pitchFamily="34" charset="0"/>
                <a:ea typeface="Segoe UI" pitchFamily="34" charset="-122"/>
                <a:cs typeface="Segoe UI" pitchFamily="34" charset="-120"/>
              </a:rPr>
              <a:t>AUTHOR / YEAR</a:t>
            </a:r>
            <a:endParaRPr lang="en-US" sz="650" dirty="0"/>
          </a:p>
        </p:txBody>
      </p:sp>
      <p:sp>
        <p:nvSpPr>
          <p:cNvPr id="8" name="Shape 4"/>
          <p:cNvSpPr/>
          <p:nvPr/>
        </p:nvSpPr>
        <p:spPr>
          <a:xfrm>
            <a:off x="1571625" y="807244"/>
            <a:ext cx="1428750" cy="253603"/>
          </a:xfrm>
          <a:prstGeom prst="rect">
            <a:avLst/>
          </a:prstGeom>
          <a:solidFill>
            <a:srgbClr val="0A192F"/>
          </a:solidFill>
          <a:ln/>
        </p:spPr>
      </p:sp>
      <p:sp>
        <p:nvSpPr>
          <p:cNvPr id="9" name="Text 5"/>
          <p:cNvSpPr/>
          <p:nvPr/>
        </p:nvSpPr>
        <p:spPr>
          <a:xfrm>
            <a:off x="1571625" y="807244"/>
            <a:ext cx="1428750" cy="253603"/>
          </a:xfrm>
          <a:prstGeom prst="rect">
            <a:avLst/>
          </a:prstGeom>
          <a:noFill/>
          <a:ln/>
        </p:spPr>
        <p:txBody>
          <a:bodyPr wrap="square" lIns="102108" tIns="85090" rIns="102108" bIns="85090" rtlCol="0" anchor="ctr">
            <a:spAutoFit/>
          </a:bodyPr>
          <a:lstStyle/>
          <a:p>
            <a:pPr algn="l" indent="0" marL="0">
              <a:buNone/>
            </a:pPr>
            <a:r>
              <a:rPr lang="en-US" sz="650" b="1" spc="1" kern="0" dirty="0">
                <a:solidFill>
                  <a:srgbClr val="FFFFFF"/>
                </a:solidFill>
                <a:latin typeface="Segoe UI" pitchFamily="34" charset="0"/>
                <a:ea typeface="Segoe UI" pitchFamily="34" charset="-122"/>
                <a:cs typeface="Segoe UI" pitchFamily="34" charset="-120"/>
              </a:rPr>
              <a:t>METHOD</a:t>
            </a:r>
            <a:endParaRPr lang="en-US" sz="650" dirty="0"/>
          </a:p>
        </p:txBody>
      </p:sp>
      <p:sp>
        <p:nvSpPr>
          <p:cNvPr id="10" name="Shape 6"/>
          <p:cNvSpPr/>
          <p:nvPr/>
        </p:nvSpPr>
        <p:spPr>
          <a:xfrm>
            <a:off x="3000375" y="807244"/>
            <a:ext cx="857250" cy="253603"/>
          </a:xfrm>
          <a:prstGeom prst="rect">
            <a:avLst/>
          </a:prstGeom>
          <a:solidFill>
            <a:srgbClr val="0A192F"/>
          </a:solidFill>
          <a:ln/>
        </p:spPr>
      </p:sp>
      <p:sp>
        <p:nvSpPr>
          <p:cNvPr id="11" name="Text 7"/>
          <p:cNvSpPr/>
          <p:nvPr/>
        </p:nvSpPr>
        <p:spPr>
          <a:xfrm>
            <a:off x="3000375" y="807244"/>
            <a:ext cx="857250" cy="253603"/>
          </a:xfrm>
          <a:prstGeom prst="rect">
            <a:avLst/>
          </a:prstGeom>
          <a:noFill/>
          <a:ln/>
        </p:spPr>
        <p:txBody>
          <a:bodyPr wrap="none" lIns="102108" tIns="85090" rIns="102108" bIns="85090" rtlCol="0" anchor="ctr">
            <a:spAutoFit/>
          </a:bodyPr>
          <a:lstStyle/>
          <a:p>
            <a:pPr algn="l" indent="0" marL="0">
              <a:buNone/>
            </a:pPr>
            <a:r>
              <a:rPr lang="en-US" sz="650" b="1" spc="1" kern="0" dirty="0">
                <a:solidFill>
                  <a:srgbClr val="FFFFFF"/>
                </a:solidFill>
                <a:latin typeface="Segoe UI" pitchFamily="34" charset="0"/>
                <a:ea typeface="Segoe UI" pitchFamily="34" charset="-122"/>
                <a:cs typeface="Segoe UI" pitchFamily="34" charset="-120"/>
              </a:rPr>
              <a:t>DATASET</a:t>
            </a:r>
            <a:endParaRPr lang="en-US" sz="650" dirty="0"/>
          </a:p>
        </p:txBody>
      </p:sp>
      <p:sp>
        <p:nvSpPr>
          <p:cNvPr id="12" name="Shape 8"/>
          <p:cNvSpPr/>
          <p:nvPr/>
        </p:nvSpPr>
        <p:spPr>
          <a:xfrm>
            <a:off x="3857625" y="807244"/>
            <a:ext cx="2392319" cy="253603"/>
          </a:xfrm>
          <a:prstGeom prst="rect">
            <a:avLst/>
          </a:prstGeom>
          <a:solidFill>
            <a:srgbClr val="0A192F"/>
          </a:solidFill>
          <a:ln/>
        </p:spPr>
      </p:sp>
      <p:sp>
        <p:nvSpPr>
          <p:cNvPr id="13" name="Text 9"/>
          <p:cNvSpPr/>
          <p:nvPr/>
        </p:nvSpPr>
        <p:spPr>
          <a:xfrm>
            <a:off x="3857625" y="807244"/>
            <a:ext cx="2392319" cy="253603"/>
          </a:xfrm>
          <a:prstGeom prst="rect">
            <a:avLst/>
          </a:prstGeom>
          <a:noFill/>
          <a:ln/>
        </p:spPr>
        <p:txBody>
          <a:bodyPr wrap="square" lIns="102108" tIns="85090" rIns="102108" bIns="85090" rtlCol="0" anchor="ctr">
            <a:spAutoFit/>
          </a:bodyPr>
          <a:lstStyle/>
          <a:p>
            <a:pPr algn="l" indent="0" marL="0">
              <a:buNone/>
            </a:pPr>
            <a:r>
              <a:rPr lang="en-US" sz="650" b="1" spc="1" kern="0" dirty="0">
                <a:solidFill>
                  <a:srgbClr val="FFFFFF"/>
                </a:solidFill>
                <a:latin typeface="Segoe UI" pitchFamily="34" charset="0"/>
                <a:ea typeface="Segoe UI" pitchFamily="34" charset="-122"/>
                <a:cs typeface="Segoe UI" pitchFamily="34" charset="-120"/>
              </a:rPr>
              <a:t>KEY FINDING</a:t>
            </a:r>
            <a:endParaRPr lang="en-US" sz="650" dirty="0"/>
          </a:p>
        </p:txBody>
      </p:sp>
      <p:sp>
        <p:nvSpPr>
          <p:cNvPr id="14" name="Shape 10"/>
          <p:cNvSpPr/>
          <p:nvPr/>
        </p:nvSpPr>
        <p:spPr>
          <a:xfrm>
            <a:off x="6249944" y="807244"/>
            <a:ext cx="2465431" cy="253603"/>
          </a:xfrm>
          <a:prstGeom prst="rect">
            <a:avLst/>
          </a:prstGeom>
          <a:solidFill>
            <a:srgbClr val="0A192F"/>
          </a:solidFill>
          <a:ln/>
        </p:spPr>
      </p:sp>
      <p:sp>
        <p:nvSpPr>
          <p:cNvPr id="15" name="Text 11"/>
          <p:cNvSpPr/>
          <p:nvPr/>
        </p:nvSpPr>
        <p:spPr>
          <a:xfrm>
            <a:off x="6249944" y="807244"/>
            <a:ext cx="2465431" cy="253603"/>
          </a:xfrm>
          <a:prstGeom prst="rect">
            <a:avLst/>
          </a:prstGeom>
          <a:noFill/>
          <a:ln/>
        </p:spPr>
        <p:txBody>
          <a:bodyPr wrap="square" lIns="102108" tIns="85090" rIns="102108" bIns="85090" rtlCol="0" anchor="ctr">
            <a:spAutoFit/>
          </a:bodyPr>
          <a:lstStyle/>
          <a:p>
            <a:pPr algn="l" indent="0" marL="0">
              <a:buNone/>
            </a:pPr>
            <a:r>
              <a:rPr lang="en-US" sz="650" b="1" spc="1" kern="0" dirty="0">
                <a:solidFill>
                  <a:srgbClr val="FFFFFF"/>
                </a:solidFill>
                <a:latin typeface="Segoe UI" pitchFamily="34" charset="0"/>
                <a:ea typeface="Segoe UI" pitchFamily="34" charset="-122"/>
                <a:cs typeface="Segoe UI" pitchFamily="34" charset="-120"/>
              </a:rPr>
              <a:t>LIMITATION / RESEARCH GAP</a:t>
            </a:r>
            <a:endParaRPr lang="en-US" sz="650" dirty="0"/>
          </a:p>
        </p:txBody>
      </p:sp>
      <p:sp>
        <p:nvSpPr>
          <p:cNvPr id="16" name="Text 12"/>
          <p:cNvSpPr/>
          <p:nvPr/>
        </p:nvSpPr>
        <p:spPr>
          <a:xfrm>
            <a:off x="428625" y="1060847"/>
            <a:ext cx="1143000" cy="387883"/>
          </a:xfrm>
          <a:prstGeom prst="rect">
            <a:avLst/>
          </a:prstGeom>
          <a:noFill/>
          <a:ln/>
        </p:spPr>
        <p:txBody>
          <a:bodyPr wrap="square" lIns="102108" tIns="85090" rIns="102108" bIns="85090" rtlCol="0" anchor="t">
            <a:spAutoFit/>
          </a:bodyPr>
          <a:lstStyle/>
          <a:p>
            <a:pPr algn="l" indent="0" marL="0">
              <a:lnSpc>
                <a:spcPct val="104000"/>
              </a:lnSpc>
              <a:buNone/>
            </a:pPr>
            <a:r>
              <a:rPr lang="en-US" sz="650" b="1" dirty="0">
                <a:solidFill>
                  <a:srgbClr val="0A192F"/>
                </a:solidFill>
                <a:latin typeface="Segoe UI" pitchFamily="34" charset="0"/>
                <a:ea typeface="Segoe UI" pitchFamily="34" charset="-122"/>
                <a:cs typeface="Segoe UI" pitchFamily="34" charset="-120"/>
              </a:rPr>
              <a:t>Defard et al., 2021 [6]</a:t>
            </a:r>
            <a:endParaRPr lang="en-US" sz="650" dirty="0"/>
          </a:p>
        </p:txBody>
      </p:sp>
      <p:sp>
        <p:nvSpPr>
          <p:cNvPr id="17" name="Text 13"/>
          <p:cNvSpPr/>
          <p:nvPr/>
        </p:nvSpPr>
        <p:spPr>
          <a:xfrm>
            <a:off x="1571625" y="1060847"/>
            <a:ext cx="1428750" cy="387883"/>
          </a:xfrm>
          <a:prstGeom prst="rect">
            <a:avLst/>
          </a:prstGeom>
          <a:noFill/>
          <a:ln/>
        </p:spPr>
        <p:txBody>
          <a:bodyPr wrap="square" lIns="102108" tIns="85090" rIns="102108" bIns="85090" rtlCol="0" anchor="t">
            <a:spAutoFit/>
          </a:bodyPr>
          <a:lstStyle/>
          <a:p>
            <a:pPr algn="l" indent="0" marL="0">
              <a:lnSpc>
                <a:spcPct val="104000"/>
              </a:lnSpc>
              <a:buNone/>
            </a:pPr>
            <a:r>
              <a:rPr lang="en-US" sz="650" dirty="0">
                <a:solidFill>
                  <a:srgbClr val="333F48"/>
                </a:solidFill>
                <a:latin typeface="Segoe UI" pitchFamily="34" charset="0"/>
                <a:ea typeface="Segoe UI" pitchFamily="34" charset="-122"/>
                <a:cs typeface="Segoe UI" pitchFamily="34" charset="-120"/>
              </a:rPr>
              <a:t>PaDiM: Patch Distribution Modeling</a:t>
            </a:r>
            <a:endParaRPr lang="en-US" sz="650" dirty="0"/>
          </a:p>
        </p:txBody>
      </p:sp>
      <p:sp>
        <p:nvSpPr>
          <p:cNvPr id="18" name="Text 14"/>
          <p:cNvSpPr/>
          <p:nvPr/>
        </p:nvSpPr>
        <p:spPr>
          <a:xfrm>
            <a:off x="3000375" y="1060847"/>
            <a:ext cx="857250" cy="387883"/>
          </a:xfrm>
          <a:prstGeom prst="rect">
            <a:avLst/>
          </a:prstGeom>
          <a:noFill/>
          <a:ln/>
        </p:spPr>
        <p:txBody>
          <a:bodyPr wrap="square" lIns="102108" tIns="85090" rIns="102108" bIns="85090" rtlCol="0" anchor="t">
            <a:spAutoFit/>
          </a:bodyPr>
          <a:lstStyle/>
          <a:p>
            <a:pPr algn="l" indent="0" marL="0">
              <a:lnSpc>
                <a:spcPct val="104000"/>
              </a:lnSpc>
              <a:buNone/>
            </a:pPr>
            <a:r>
              <a:rPr lang="en-US" sz="650" dirty="0">
                <a:solidFill>
                  <a:srgbClr val="333F48"/>
                </a:solidFill>
                <a:latin typeface="Segoe UI" pitchFamily="34" charset="0"/>
                <a:ea typeface="Segoe UI" pitchFamily="34" charset="-122"/>
                <a:cs typeface="Segoe UI" pitchFamily="34" charset="-120"/>
              </a:rPr>
              <a:t>MVTec AD</a:t>
            </a:r>
            <a:endParaRPr lang="en-US" sz="650" dirty="0"/>
          </a:p>
        </p:txBody>
      </p:sp>
      <p:sp>
        <p:nvSpPr>
          <p:cNvPr id="19" name="Text 15"/>
          <p:cNvSpPr/>
          <p:nvPr/>
        </p:nvSpPr>
        <p:spPr>
          <a:xfrm>
            <a:off x="3857625" y="1060847"/>
            <a:ext cx="2392319" cy="387883"/>
          </a:xfrm>
          <a:prstGeom prst="rect">
            <a:avLst/>
          </a:prstGeom>
          <a:noFill/>
          <a:ln/>
        </p:spPr>
        <p:txBody>
          <a:bodyPr wrap="square" lIns="102108" tIns="85090" rIns="102108" bIns="85090" rtlCol="0" anchor="t">
            <a:spAutoFit/>
          </a:bodyPr>
          <a:lstStyle/>
          <a:p>
            <a:pPr algn="l" indent="0" marL="0">
              <a:lnSpc>
                <a:spcPct val="104000"/>
              </a:lnSpc>
              <a:buNone/>
            </a:pPr>
            <a:r>
              <a:rPr lang="en-US" sz="650" dirty="0">
                <a:solidFill>
                  <a:srgbClr val="333F48"/>
                </a:solidFill>
                <a:latin typeface="Segoe UI" pitchFamily="34" charset="0"/>
                <a:ea typeface="Segoe UI" pitchFamily="34" charset="-122"/>
                <a:cs typeface="Segoe UI" pitchFamily="34" charset="-120"/>
              </a:rPr>
              <a:t>Used CNN patch embeddings and Gaussian modeling for localization.</a:t>
            </a:r>
            <a:endParaRPr lang="en-US" sz="650" dirty="0"/>
          </a:p>
        </p:txBody>
      </p:sp>
      <p:sp>
        <p:nvSpPr>
          <p:cNvPr id="20" name="Text 16"/>
          <p:cNvSpPr/>
          <p:nvPr/>
        </p:nvSpPr>
        <p:spPr>
          <a:xfrm>
            <a:off x="6249944" y="1060847"/>
            <a:ext cx="2465431" cy="387883"/>
          </a:xfrm>
          <a:prstGeom prst="rect">
            <a:avLst/>
          </a:prstGeom>
          <a:noFill/>
          <a:ln/>
        </p:spPr>
        <p:txBody>
          <a:bodyPr wrap="square" lIns="102108" tIns="85090" rIns="102108" bIns="85090" rtlCol="0" anchor="t">
            <a:spAutoFit/>
          </a:bodyPr>
          <a:lstStyle/>
          <a:p>
            <a:pPr algn="l" indent="0" marL="0">
              <a:lnSpc>
                <a:spcPct val="104000"/>
              </a:lnSpc>
              <a:buNone/>
            </a:pPr>
            <a:r>
              <a:rPr lang="en-US" sz="650" dirty="0">
                <a:solidFill>
                  <a:srgbClr val="333F48"/>
                </a:solidFill>
                <a:latin typeface="Segoe UI" pitchFamily="34" charset="0"/>
                <a:ea typeface="Segoe UI" pitchFamily="34" charset="-122"/>
                <a:cs typeface="Segoe UI" pitchFamily="34" charset="-120"/>
              </a:rPr>
              <a:t>Relies on deep CNN features; not a lightweight classical study.</a:t>
            </a:r>
            <a:endParaRPr lang="en-US" sz="650" dirty="0"/>
          </a:p>
        </p:txBody>
      </p:sp>
      <p:sp>
        <p:nvSpPr>
          <p:cNvPr id="21" name="Shape 17"/>
          <p:cNvSpPr/>
          <p:nvPr/>
        </p:nvSpPr>
        <p:spPr>
          <a:xfrm>
            <a:off x="428625" y="1448730"/>
            <a:ext cx="8286750" cy="391455"/>
          </a:xfrm>
          <a:prstGeom prst="rect">
            <a:avLst/>
          </a:prstGeom>
          <a:solidFill>
            <a:srgbClr val="F9F9F9"/>
          </a:solidFill>
          <a:ln/>
        </p:spPr>
      </p:sp>
      <p:sp>
        <p:nvSpPr>
          <p:cNvPr id="22" name="Text 18"/>
          <p:cNvSpPr/>
          <p:nvPr/>
        </p:nvSpPr>
        <p:spPr>
          <a:xfrm>
            <a:off x="428625" y="1448730"/>
            <a:ext cx="1143000" cy="391455"/>
          </a:xfrm>
          <a:prstGeom prst="rect">
            <a:avLst/>
          </a:prstGeom>
          <a:noFill/>
          <a:ln/>
        </p:spPr>
        <p:txBody>
          <a:bodyPr wrap="square" lIns="102108" tIns="85090" rIns="102108" bIns="85090" rtlCol="0" anchor="t">
            <a:spAutoFit/>
          </a:bodyPr>
          <a:lstStyle/>
          <a:p>
            <a:pPr algn="l" indent="0" marL="0">
              <a:lnSpc>
                <a:spcPct val="104000"/>
              </a:lnSpc>
              <a:buNone/>
            </a:pPr>
            <a:r>
              <a:rPr lang="en-US" sz="650" b="1" dirty="0">
                <a:solidFill>
                  <a:srgbClr val="0A192F"/>
                </a:solidFill>
                <a:latin typeface="Segoe UI" pitchFamily="34" charset="0"/>
                <a:ea typeface="Segoe UI" pitchFamily="34" charset="-122"/>
                <a:cs typeface="Segoe UI" pitchFamily="34" charset="-120"/>
              </a:rPr>
              <a:t>Roth et al., 2022 [7]</a:t>
            </a:r>
            <a:endParaRPr lang="en-US" sz="650" dirty="0"/>
          </a:p>
        </p:txBody>
      </p:sp>
      <p:sp>
        <p:nvSpPr>
          <p:cNvPr id="23" name="Text 19"/>
          <p:cNvSpPr/>
          <p:nvPr/>
        </p:nvSpPr>
        <p:spPr>
          <a:xfrm>
            <a:off x="1571625" y="1448730"/>
            <a:ext cx="1428750" cy="391455"/>
          </a:xfrm>
          <a:prstGeom prst="rect">
            <a:avLst/>
          </a:prstGeom>
          <a:noFill/>
          <a:ln/>
        </p:spPr>
        <p:txBody>
          <a:bodyPr wrap="square" lIns="102108" tIns="85090" rIns="102108" bIns="85090" rtlCol="0" anchor="t">
            <a:spAutoFit/>
          </a:bodyPr>
          <a:lstStyle/>
          <a:p>
            <a:pPr algn="l" indent="0" marL="0">
              <a:lnSpc>
                <a:spcPct val="104000"/>
              </a:lnSpc>
              <a:buNone/>
            </a:pPr>
            <a:r>
              <a:rPr lang="en-US" sz="650" dirty="0">
                <a:solidFill>
                  <a:srgbClr val="333F48"/>
                </a:solidFill>
                <a:latin typeface="Segoe UI" pitchFamily="34" charset="0"/>
                <a:ea typeface="Segoe UI" pitchFamily="34" charset="-122"/>
                <a:cs typeface="Segoe UI" pitchFamily="34" charset="-120"/>
              </a:rPr>
              <a:t>PatchCore</a:t>
            </a:r>
            <a:endParaRPr lang="en-US" sz="650" dirty="0"/>
          </a:p>
        </p:txBody>
      </p:sp>
      <p:sp>
        <p:nvSpPr>
          <p:cNvPr id="24" name="Text 20"/>
          <p:cNvSpPr/>
          <p:nvPr/>
        </p:nvSpPr>
        <p:spPr>
          <a:xfrm>
            <a:off x="3000375" y="1448730"/>
            <a:ext cx="857250" cy="391455"/>
          </a:xfrm>
          <a:prstGeom prst="rect">
            <a:avLst/>
          </a:prstGeom>
          <a:noFill/>
          <a:ln/>
        </p:spPr>
        <p:txBody>
          <a:bodyPr wrap="square" lIns="102108" tIns="85090" rIns="102108" bIns="85090" rtlCol="0" anchor="t">
            <a:spAutoFit/>
          </a:bodyPr>
          <a:lstStyle/>
          <a:p>
            <a:pPr algn="l" indent="0" marL="0">
              <a:lnSpc>
                <a:spcPct val="104000"/>
              </a:lnSpc>
              <a:buNone/>
            </a:pPr>
            <a:r>
              <a:rPr lang="en-US" sz="650" dirty="0">
                <a:solidFill>
                  <a:srgbClr val="333F48"/>
                </a:solidFill>
                <a:latin typeface="Segoe UI" pitchFamily="34" charset="0"/>
                <a:ea typeface="Segoe UI" pitchFamily="34" charset="-122"/>
                <a:cs typeface="Segoe UI" pitchFamily="34" charset="-120"/>
              </a:rPr>
              <a:t>MVTec AD</a:t>
            </a:r>
            <a:endParaRPr lang="en-US" sz="650" dirty="0"/>
          </a:p>
        </p:txBody>
      </p:sp>
      <p:sp>
        <p:nvSpPr>
          <p:cNvPr id="25" name="Text 21"/>
          <p:cNvSpPr/>
          <p:nvPr/>
        </p:nvSpPr>
        <p:spPr>
          <a:xfrm>
            <a:off x="3857625" y="1448730"/>
            <a:ext cx="2392319" cy="391455"/>
          </a:xfrm>
          <a:prstGeom prst="rect">
            <a:avLst/>
          </a:prstGeom>
          <a:noFill/>
          <a:ln/>
        </p:spPr>
        <p:txBody>
          <a:bodyPr wrap="square" lIns="102108" tIns="85090" rIns="102108" bIns="85090" rtlCol="0" anchor="t">
            <a:spAutoFit/>
          </a:bodyPr>
          <a:lstStyle/>
          <a:p>
            <a:pPr algn="l" indent="0" marL="0">
              <a:lnSpc>
                <a:spcPct val="104000"/>
              </a:lnSpc>
              <a:buNone/>
            </a:pPr>
            <a:r>
              <a:rPr lang="en-US" sz="650" dirty="0">
                <a:solidFill>
                  <a:srgbClr val="333F48"/>
                </a:solidFill>
                <a:latin typeface="Segoe UI" pitchFamily="34" charset="0"/>
                <a:ea typeface="Segoe UI" pitchFamily="34" charset="-122"/>
                <a:cs typeface="Segoe UI" pitchFamily="34" charset="-120"/>
              </a:rPr>
              <a:t>Achieved state-of-the-art using representative nominal patch features.</a:t>
            </a:r>
            <a:endParaRPr lang="en-US" sz="650" dirty="0"/>
          </a:p>
        </p:txBody>
      </p:sp>
      <p:sp>
        <p:nvSpPr>
          <p:cNvPr id="26" name="Text 22"/>
          <p:cNvSpPr/>
          <p:nvPr/>
        </p:nvSpPr>
        <p:spPr>
          <a:xfrm>
            <a:off x="6249944" y="1448730"/>
            <a:ext cx="2465431" cy="391455"/>
          </a:xfrm>
          <a:prstGeom prst="rect">
            <a:avLst/>
          </a:prstGeom>
          <a:noFill/>
          <a:ln/>
        </p:spPr>
        <p:txBody>
          <a:bodyPr wrap="square" lIns="102108" tIns="85090" rIns="102108" bIns="85090" rtlCol="0" anchor="t">
            <a:spAutoFit/>
          </a:bodyPr>
          <a:lstStyle/>
          <a:p>
            <a:pPr algn="l" indent="0" marL="0">
              <a:lnSpc>
                <a:spcPct val="104000"/>
              </a:lnSpc>
              <a:buNone/>
            </a:pPr>
            <a:r>
              <a:rPr lang="en-US" sz="650" dirty="0">
                <a:solidFill>
                  <a:srgbClr val="333F48"/>
                </a:solidFill>
                <a:latin typeface="Segoe UI" pitchFamily="34" charset="0"/>
                <a:ea typeface="Segoe UI" pitchFamily="34" charset="-122"/>
                <a:cs typeface="Segoe UI" pitchFamily="34" charset="-120"/>
              </a:rPr>
              <a:t>High memory bank requirements; lacks classical interpretability.</a:t>
            </a:r>
            <a:endParaRPr lang="en-US" sz="650" dirty="0"/>
          </a:p>
        </p:txBody>
      </p:sp>
      <p:sp>
        <p:nvSpPr>
          <p:cNvPr id="27" name="Text 23"/>
          <p:cNvSpPr/>
          <p:nvPr/>
        </p:nvSpPr>
        <p:spPr>
          <a:xfrm>
            <a:off x="428625" y="1840185"/>
            <a:ext cx="1143000" cy="391455"/>
          </a:xfrm>
          <a:prstGeom prst="rect">
            <a:avLst/>
          </a:prstGeom>
          <a:noFill/>
          <a:ln/>
        </p:spPr>
        <p:txBody>
          <a:bodyPr wrap="square" lIns="102108" tIns="85090" rIns="102108" bIns="85090" rtlCol="0" anchor="t">
            <a:spAutoFit/>
          </a:bodyPr>
          <a:lstStyle/>
          <a:p>
            <a:pPr algn="l" indent="0" marL="0">
              <a:lnSpc>
                <a:spcPct val="104000"/>
              </a:lnSpc>
              <a:buNone/>
            </a:pPr>
            <a:r>
              <a:rPr lang="en-US" sz="650" b="1" dirty="0">
                <a:solidFill>
                  <a:srgbClr val="0A192F"/>
                </a:solidFill>
                <a:latin typeface="Segoe UI" pitchFamily="34" charset="0"/>
                <a:ea typeface="Segoe UI" pitchFamily="34" charset="-122"/>
                <a:cs typeface="Segoe UI" pitchFamily="34" charset="-120"/>
              </a:rPr>
              <a:t>Ibrahim &amp; Tapamo, 2024 [8]</a:t>
            </a:r>
            <a:endParaRPr lang="en-US" sz="650" dirty="0"/>
          </a:p>
        </p:txBody>
      </p:sp>
      <p:sp>
        <p:nvSpPr>
          <p:cNvPr id="28" name="Text 24"/>
          <p:cNvSpPr/>
          <p:nvPr/>
        </p:nvSpPr>
        <p:spPr>
          <a:xfrm>
            <a:off x="1571625" y="1840185"/>
            <a:ext cx="1428750" cy="391455"/>
          </a:xfrm>
          <a:prstGeom prst="rect">
            <a:avLst/>
          </a:prstGeom>
          <a:noFill/>
          <a:ln/>
        </p:spPr>
        <p:txBody>
          <a:bodyPr wrap="square" lIns="102108" tIns="85090" rIns="102108" bIns="85090" rtlCol="0" anchor="t">
            <a:spAutoFit/>
          </a:bodyPr>
          <a:lstStyle/>
          <a:p>
            <a:pPr algn="l" indent="0" marL="0">
              <a:lnSpc>
                <a:spcPct val="104000"/>
              </a:lnSpc>
              <a:buNone/>
            </a:pPr>
            <a:r>
              <a:rPr lang="en-US" sz="650" dirty="0">
                <a:solidFill>
                  <a:srgbClr val="333F48"/>
                </a:solidFill>
                <a:latin typeface="Segoe UI" pitchFamily="34" charset="0"/>
                <a:ea typeface="Segoe UI" pitchFamily="34" charset="-122"/>
                <a:cs typeface="Segoe UI" pitchFamily="34" charset="-120"/>
              </a:rPr>
              <a:t>Vision-Based Surface Survey</a:t>
            </a:r>
            <a:endParaRPr lang="en-US" sz="650" dirty="0"/>
          </a:p>
        </p:txBody>
      </p:sp>
      <p:sp>
        <p:nvSpPr>
          <p:cNvPr id="29" name="Text 25"/>
          <p:cNvSpPr/>
          <p:nvPr/>
        </p:nvSpPr>
        <p:spPr>
          <a:xfrm>
            <a:off x="3000375" y="1840185"/>
            <a:ext cx="857250" cy="391455"/>
          </a:xfrm>
          <a:prstGeom prst="rect">
            <a:avLst/>
          </a:prstGeom>
          <a:noFill/>
          <a:ln/>
        </p:spPr>
        <p:txBody>
          <a:bodyPr wrap="square" lIns="102108" tIns="85090" rIns="102108" bIns="85090" rtlCol="0" anchor="t">
            <a:spAutoFit/>
          </a:bodyPr>
          <a:lstStyle/>
          <a:p>
            <a:pPr algn="l" indent="0" marL="0">
              <a:lnSpc>
                <a:spcPct val="104000"/>
              </a:lnSpc>
              <a:buNone/>
            </a:pPr>
            <a:r>
              <a:rPr lang="en-US" sz="650" dirty="0">
                <a:solidFill>
                  <a:srgbClr val="333F48"/>
                </a:solidFill>
                <a:latin typeface="Segoe UI" pitchFamily="34" charset="0"/>
                <a:ea typeface="Segoe UI" pitchFamily="34" charset="-122"/>
                <a:cs typeface="Segoe UI" pitchFamily="34" charset="-120"/>
              </a:rPr>
              <a:t>Steel Products</a:t>
            </a:r>
            <a:endParaRPr lang="en-US" sz="650" dirty="0"/>
          </a:p>
        </p:txBody>
      </p:sp>
      <p:sp>
        <p:nvSpPr>
          <p:cNvPr id="30" name="Text 26"/>
          <p:cNvSpPr/>
          <p:nvPr/>
        </p:nvSpPr>
        <p:spPr>
          <a:xfrm>
            <a:off x="3857625" y="1840185"/>
            <a:ext cx="2392319" cy="391455"/>
          </a:xfrm>
          <a:prstGeom prst="rect">
            <a:avLst/>
          </a:prstGeom>
          <a:noFill/>
          <a:ln/>
        </p:spPr>
        <p:txBody>
          <a:bodyPr wrap="square" lIns="102108" tIns="85090" rIns="102108" bIns="85090" rtlCol="0" anchor="t">
            <a:spAutoFit/>
          </a:bodyPr>
          <a:lstStyle/>
          <a:p>
            <a:pPr algn="l" indent="0" marL="0">
              <a:lnSpc>
                <a:spcPct val="104000"/>
              </a:lnSpc>
              <a:buNone/>
            </a:pPr>
            <a:r>
              <a:rPr lang="en-US" sz="650" dirty="0">
                <a:solidFill>
                  <a:srgbClr val="333F48"/>
                </a:solidFill>
                <a:latin typeface="Segoe UI" pitchFamily="34" charset="0"/>
                <a:ea typeface="Segoe UI" pitchFamily="34" charset="-122"/>
                <a:cs typeface="Segoe UI" pitchFamily="34" charset="-120"/>
              </a:rPr>
              <a:t>Organized statistical, spectral, and ML approaches for steel inspection.</a:t>
            </a:r>
            <a:endParaRPr lang="en-US" sz="650" dirty="0"/>
          </a:p>
        </p:txBody>
      </p:sp>
      <p:sp>
        <p:nvSpPr>
          <p:cNvPr id="31" name="Text 27"/>
          <p:cNvSpPr/>
          <p:nvPr/>
        </p:nvSpPr>
        <p:spPr>
          <a:xfrm>
            <a:off x="6249944" y="1840185"/>
            <a:ext cx="2465431" cy="391455"/>
          </a:xfrm>
          <a:prstGeom prst="rect">
            <a:avLst/>
          </a:prstGeom>
          <a:noFill/>
          <a:ln/>
        </p:spPr>
        <p:txBody>
          <a:bodyPr wrap="square" lIns="102108" tIns="85090" rIns="102108" bIns="85090" rtlCol="0" anchor="t">
            <a:spAutoFit/>
          </a:bodyPr>
          <a:lstStyle/>
          <a:p>
            <a:pPr algn="l" indent="0" marL="0">
              <a:lnSpc>
                <a:spcPct val="104000"/>
              </a:lnSpc>
              <a:buNone/>
            </a:pPr>
            <a:r>
              <a:rPr lang="en-US" sz="650" dirty="0">
                <a:solidFill>
                  <a:srgbClr val="333F48"/>
                </a:solidFill>
                <a:latin typeface="Segoe UI" pitchFamily="34" charset="0"/>
                <a:ea typeface="Segoe UI" pitchFamily="34" charset="-122"/>
                <a:cs typeface="Segoe UI" pitchFamily="34" charset="-120"/>
              </a:rPr>
              <a:t>Scope limited to steel surfaces; lacks MVTec AD comparative framework.</a:t>
            </a:r>
            <a:endParaRPr lang="en-US" sz="650" dirty="0"/>
          </a:p>
        </p:txBody>
      </p:sp>
      <p:sp>
        <p:nvSpPr>
          <p:cNvPr id="32" name="Shape 28"/>
          <p:cNvSpPr/>
          <p:nvPr/>
        </p:nvSpPr>
        <p:spPr>
          <a:xfrm>
            <a:off x="428625" y="2231641"/>
            <a:ext cx="8286750" cy="391455"/>
          </a:xfrm>
          <a:prstGeom prst="rect">
            <a:avLst/>
          </a:prstGeom>
          <a:solidFill>
            <a:srgbClr val="F9F9F9"/>
          </a:solidFill>
          <a:ln/>
        </p:spPr>
      </p:sp>
      <p:sp>
        <p:nvSpPr>
          <p:cNvPr id="33" name="Text 29"/>
          <p:cNvSpPr/>
          <p:nvPr/>
        </p:nvSpPr>
        <p:spPr>
          <a:xfrm>
            <a:off x="428625" y="2231641"/>
            <a:ext cx="1143000" cy="391455"/>
          </a:xfrm>
          <a:prstGeom prst="rect">
            <a:avLst/>
          </a:prstGeom>
          <a:noFill/>
          <a:ln/>
        </p:spPr>
        <p:txBody>
          <a:bodyPr wrap="square" lIns="102108" tIns="85090" rIns="102108" bIns="85090" rtlCol="0" anchor="t">
            <a:spAutoFit/>
          </a:bodyPr>
          <a:lstStyle/>
          <a:p>
            <a:pPr algn="l" indent="0" marL="0">
              <a:lnSpc>
                <a:spcPct val="104000"/>
              </a:lnSpc>
              <a:buNone/>
            </a:pPr>
            <a:r>
              <a:rPr lang="en-US" sz="650" b="1" dirty="0">
                <a:solidFill>
                  <a:srgbClr val="0A192F"/>
                </a:solidFill>
                <a:latin typeface="Segoe UI" pitchFamily="34" charset="0"/>
                <a:ea typeface="Segoe UI" pitchFamily="34" charset="-122"/>
                <a:cs typeface="Segoe UI" pitchFamily="34" charset="-120"/>
              </a:rPr>
              <a:t>Cao et al., 2024 [9]</a:t>
            </a:r>
            <a:endParaRPr lang="en-US" sz="650" dirty="0"/>
          </a:p>
        </p:txBody>
      </p:sp>
      <p:sp>
        <p:nvSpPr>
          <p:cNvPr id="34" name="Text 30"/>
          <p:cNvSpPr/>
          <p:nvPr/>
        </p:nvSpPr>
        <p:spPr>
          <a:xfrm>
            <a:off x="1571625" y="2231641"/>
            <a:ext cx="1428750" cy="391455"/>
          </a:xfrm>
          <a:prstGeom prst="rect">
            <a:avLst/>
          </a:prstGeom>
          <a:noFill/>
          <a:ln/>
        </p:spPr>
        <p:txBody>
          <a:bodyPr wrap="square" lIns="102108" tIns="85090" rIns="102108" bIns="85090" rtlCol="0" anchor="t">
            <a:spAutoFit/>
          </a:bodyPr>
          <a:lstStyle/>
          <a:p>
            <a:pPr algn="l" indent="0" marL="0">
              <a:lnSpc>
                <a:spcPct val="104000"/>
              </a:lnSpc>
              <a:buNone/>
            </a:pPr>
            <a:r>
              <a:rPr lang="en-US" sz="650" dirty="0">
                <a:solidFill>
                  <a:srgbClr val="333F48"/>
                </a:solidFill>
                <a:latin typeface="Segoe UI" pitchFamily="34" charset="0"/>
                <a:ea typeface="Segoe UI" pitchFamily="34" charset="-122"/>
                <a:cs typeface="Segoe UI" pitchFamily="34" charset="-120"/>
              </a:rPr>
              <a:t>Visual Anomaly Survey</a:t>
            </a:r>
            <a:endParaRPr lang="en-US" sz="650" dirty="0"/>
          </a:p>
        </p:txBody>
      </p:sp>
      <p:sp>
        <p:nvSpPr>
          <p:cNvPr id="35" name="Text 31"/>
          <p:cNvSpPr/>
          <p:nvPr/>
        </p:nvSpPr>
        <p:spPr>
          <a:xfrm>
            <a:off x="3000375" y="2231641"/>
            <a:ext cx="857250" cy="391455"/>
          </a:xfrm>
          <a:prstGeom prst="rect">
            <a:avLst/>
          </a:prstGeom>
          <a:noFill/>
          <a:ln/>
        </p:spPr>
        <p:txBody>
          <a:bodyPr wrap="square" lIns="102108" tIns="85090" rIns="102108" bIns="85090" rtlCol="0" anchor="t">
            <a:spAutoFit/>
          </a:bodyPr>
          <a:lstStyle/>
          <a:p>
            <a:pPr algn="l" indent="0" marL="0">
              <a:lnSpc>
                <a:spcPct val="104000"/>
              </a:lnSpc>
              <a:buNone/>
            </a:pPr>
            <a:r>
              <a:rPr lang="en-US" sz="650" dirty="0">
                <a:solidFill>
                  <a:srgbClr val="333F48"/>
                </a:solidFill>
                <a:latin typeface="Segoe UI" pitchFamily="34" charset="0"/>
                <a:ea typeface="Segoe UI" pitchFamily="34" charset="-122"/>
                <a:cs typeface="Segoe UI" pitchFamily="34" charset="-120"/>
              </a:rPr>
              <a:t>General AD</a:t>
            </a:r>
            <a:endParaRPr lang="en-US" sz="650" dirty="0"/>
          </a:p>
        </p:txBody>
      </p:sp>
      <p:sp>
        <p:nvSpPr>
          <p:cNvPr id="36" name="Text 32"/>
          <p:cNvSpPr/>
          <p:nvPr/>
        </p:nvSpPr>
        <p:spPr>
          <a:xfrm>
            <a:off x="3857625" y="2231641"/>
            <a:ext cx="2392319" cy="391455"/>
          </a:xfrm>
          <a:prstGeom prst="rect">
            <a:avLst/>
          </a:prstGeom>
          <a:noFill/>
          <a:ln/>
        </p:spPr>
        <p:txBody>
          <a:bodyPr wrap="square" lIns="102108" tIns="85090" rIns="102108" bIns="85090" rtlCol="0" anchor="t">
            <a:spAutoFit/>
          </a:bodyPr>
          <a:lstStyle/>
          <a:p>
            <a:pPr algn="l" indent="0" marL="0">
              <a:lnSpc>
                <a:spcPct val="104000"/>
              </a:lnSpc>
              <a:buNone/>
            </a:pPr>
            <a:r>
              <a:rPr lang="en-US" sz="650" dirty="0">
                <a:solidFill>
                  <a:srgbClr val="333F48"/>
                </a:solidFill>
                <a:latin typeface="Segoe UI" pitchFamily="34" charset="0"/>
                <a:ea typeface="Segoe UI" pitchFamily="34" charset="-122"/>
                <a:cs typeface="Segoe UI" pitchFamily="34" charset="-120"/>
              </a:rPr>
              <a:t>Synthesized challenges and prospects across the visual AD field.</a:t>
            </a:r>
            <a:endParaRPr lang="en-US" sz="650" dirty="0"/>
          </a:p>
        </p:txBody>
      </p:sp>
      <p:sp>
        <p:nvSpPr>
          <p:cNvPr id="37" name="Text 33"/>
          <p:cNvSpPr/>
          <p:nvPr/>
        </p:nvSpPr>
        <p:spPr>
          <a:xfrm>
            <a:off x="6249944" y="2231641"/>
            <a:ext cx="2465431" cy="391455"/>
          </a:xfrm>
          <a:prstGeom prst="rect">
            <a:avLst/>
          </a:prstGeom>
          <a:noFill/>
          <a:ln/>
        </p:spPr>
        <p:txBody>
          <a:bodyPr wrap="square" lIns="102108" tIns="85090" rIns="102108" bIns="85090" rtlCol="0" anchor="t">
            <a:spAutoFit/>
          </a:bodyPr>
          <a:lstStyle/>
          <a:p>
            <a:pPr algn="l" indent="0" marL="0">
              <a:lnSpc>
                <a:spcPct val="104000"/>
              </a:lnSpc>
              <a:buNone/>
            </a:pPr>
            <a:r>
              <a:rPr lang="en-US" sz="650" dirty="0">
                <a:solidFill>
                  <a:srgbClr val="333F48"/>
                </a:solidFill>
                <a:latin typeface="Segoe UI" pitchFamily="34" charset="0"/>
                <a:ea typeface="Segoe UI" pitchFamily="34" charset="-122"/>
                <a:cs typeface="Segoe UI" pitchFamily="34" charset="-120"/>
              </a:rPr>
              <a:t>Broad survey; lightweight classical pipelines remain underexplored.</a:t>
            </a:r>
            <a:endParaRPr lang="en-US" sz="650" dirty="0"/>
          </a:p>
        </p:txBody>
      </p:sp>
      <p:sp>
        <p:nvSpPr>
          <p:cNvPr id="38" name="Shape 34"/>
          <p:cNvSpPr/>
          <p:nvPr/>
        </p:nvSpPr>
        <p:spPr>
          <a:xfrm>
            <a:off x="428625" y="2983855"/>
            <a:ext cx="8286750" cy="925116"/>
          </a:xfrm>
          <a:prstGeom prst="rect">
            <a:avLst/>
          </a:prstGeom>
          <a:solidFill>
            <a:srgbClr val="FFFFFF"/>
          </a:solidFill>
          <a:ln w="9144">
            <a:solidFill>
              <a:srgbClr val="D95D39"/>
            </a:solidFill>
            <a:prstDash val="solid"/>
          </a:ln>
        </p:spPr>
      </p:sp>
      <p:sp>
        <p:nvSpPr>
          <p:cNvPr id="39" name="Text 35"/>
          <p:cNvSpPr/>
          <p:nvPr/>
        </p:nvSpPr>
        <p:spPr>
          <a:xfrm>
            <a:off x="607219" y="3126730"/>
            <a:ext cx="7929563" cy="132159"/>
          </a:xfrm>
          <a:prstGeom prst="rect">
            <a:avLst/>
          </a:prstGeom>
          <a:noFill/>
          <a:ln/>
        </p:spPr>
        <p:txBody>
          <a:bodyPr wrap="square" lIns="0" tIns="0" rIns="0" bIns="0" rtlCol="0" anchor="t">
            <a:spAutoFit/>
          </a:bodyPr>
          <a:lstStyle/>
          <a:p>
            <a:pPr algn="l" indent="0" marL="0">
              <a:buNone/>
            </a:pPr>
            <a:r>
              <a:rPr lang="en-US" sz="800" b="1" dirty="0">
                <a:solidFill>
                  <a:srgbClr val="D95D39"/>
                </a:solidFill>
                <a:latin typeface="Segoe UI" pitchFamily="34" charset="0"/>
                <a:ea typeface="Segoe UI" pitchFamily="34" charset="-122"/>
                <a:cs typeface="Segoe UI" pitchFamily="34" charset="-120"/>
              </a:rPr>
              <a:t>IDENTIFIED RESEARCH GAP</a:t>
            </a:r>
            <a:endParaRPr lang="en-US" sz="800" dirty="0"/>
          </a:p>
        </p:txBody>
      </p:sp>
      <p:sp>
        <p:nvSpPr>
          <p:cNvPr id="40" name="Text 36"/>
          <p:cNvSpPr/>
          <p:nvPr/>
        </p:nvSpPr>
        <p:spPr>
          <a:xfrm>
            <a:off x="607219" y="3316039"/>
            <a:ext cx="7929563"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0A192F"/>
                </a:solidFill>
                <a:latin typeface="Segoe UI" pitchFamily="34" charset="0"/>
                <a:ea typeface="Segoe UI" pitchFamily="34" charset="-122"/>
                <a:cs typeface="Segoe UI" pitchFamily="34" charset="-120"/>
              </a:rPr>
              <a:t>Modern industrial anomaly detection is dominated by deep learning representations. There is a </a:t>
            </a:r>
            <a:r>
              <a:rPr lang="en-US" sz="900" b="1" dirty="0">
                <a:solidFill>
                  <a:srgbClr val="0A192F"/>
                </a:solidFill>
                <a:latin typeface="Segoe UI" pitchFamily="34" charset="0"/>
                <a:ea typeface="Segoe UI" pitchFamily="34" charset="-122"/>
                <a:cs typeface="Segoe UI" pitchFamily="34" charset="-120"/>
              </a:rPr>
              <a:t>significant lack of systematic comparative studies</a:t>
            </a:r>
            <a:r>
              <a:rPr lang="en-US" sz="950" dirty="0">
                <a:solidFill>
                  <a:srgbClr val="0A192F"/>
                </a:solidFill>
                <a:latin typeface="Segoe UI" pitchFamily="34" charset="0"/>
                <a:ea typeface="Segoe UI" pitchFamily="34" charset="-122"/>
                <a:cs typeface="Segoe UI" pitchFamily="34" charset="-120"/>
              </a:rPr>
              <a:t> evaluating the progression from single-scale LBP to multi-scale LBP and hybrid LBP+GLCM features on realistic </a:t>
            </a:r>
            <a:r>
              <a:rPr lang="en-US" sz="950" dirty="0">
                <a:solidFill>
                  <a:srgbClr val="0A192F"/>
                </a:solidFill>
                <a:latin typeface="Segoe UI" pitchFamily="34" charset="0"/>
                <a:ea typeface="Segoe UI" pitchFamily="34" charset="-122"/>
                <a:cs typeface="Segoe UI" pitchFamily="34" charset="-120"/>
              </a:rPr>
              <a:t>industrial benchmarks like MVTec AD.</a:t>
            </a:r>
            <a:endParaRPr lang="en-US" sz="950" dirty="0"/>
          </a:p>
        </p:txBody>
      </p:sp>
      <p:sp>
        <p:nvSpPr>
          <p:cNvPr id="41" name="Text 37"/>
          <p:cNvSpPr/>
          <p:nvPr/>
        </p:nvSpPr>
        <p:spPr>
          <a:xfrm>
            <a:off x="7363699" y="4900613"/>
            <a:ext cx="1351676" cy="100013"/>
          </a:xfrm>
          <a:prstGeom prst="rect">
            <a:avLst/>
          </a:prstGeom>
          <a:noFill/>
          <a:ln/>
        </p:spPr>
        <p:txBody>
          <a:bodyPr wrap="square" lIns="0" tIns="0" rIns="0" bIns="0" rtlCol="0" anchor="t">
            <a:spAutoFit/>
          </a:bodyPr>
          <a:lstStyle/>
          <a:p>
            <a:pPr algn="l" indent="0" marL="0">
              <a:buNone/>
            </a:pPr>
            <a:r>
              <a:rPr lang="en-US" sz="600" dirty="0">
                <a:solidFill>
                  <a:srgbClr val="888888"/>
                </a:solidFill>
                <a:latin typeface="Segoe UI" pitchFamily="34" charset="0"/>
                <a:ea typeface="Segoe UI" pitchFamily="34" charset="-122"/>
                <a:cs typeface="Segoe UI" pitchFamily="34" charset="-120"/>
              </a:rPr>
              <a:t>Page 5 | Review-1 Project Proposal</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285750"/>
            <a:ext cx="3566740" cy="307181"/>
          </a:xfrm>
          <a:prstGeom prst="rect">
            <a:avLst/>
          </a:prstGeom>
          <a:noFill/>
          <a:ln/>
        </p:spPr>
        <p:txBody>
          <a:bodyPr wrap="square" lIns="0" tIns="0" rIns="0" bIns="42545" rtlCol="0" anchor="t">
            <a:spAutoFit/>
          </a:bodyPr>
          <a:lstStyle/>
          <a:p>
            <a:pPr algn="l" indent="0" marL="0">
              <a:buNone/>
            </a:pPr>
            <a:r>
              <a:rPr lang="en-US" sz="1700" dirty="0">
                <a:solidFill>
                  <a:srgbClr val="0A192F"/>
                </a:solidFill>
                <a:latin typeface="Courier New" pitchFamily="34" charset="0"/>
                <a:ea typeface="Courier New" pitchFamily="34" charset="-122"/>
                <a:cs typeface="Courier New" pitchFamily="34" charset="-120"/>
              </a:rPr>
              <a:t>DATASET ANALYSIS: MVTEC AD</a:t>
            </a:r>
            <a:endParaRPr lang="en-US" sz="1700" dirty="0"/>
          </a:p>
        </p:txBody>
      </p:sp>
      <p:sp>
        <p:nvSpPr>
          <p:cNvPr id="5" name="Text 1"/>
          <p:cNvSpPr/>
          <p:nvPr/>
        </p:nvSpPr>
        <p:spPr>
          <a:xfrm>
            <a:off x="428625" y="807244"/>
            <a:ext cx="8286750"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333F48"/>
                </a:solidFill>
                <a:latin typeface="Segoe UI" pitchFamily="34" charset="0"/>
                <a:ea typeface="Segoe UI" pitchFamily="34" charset="-122"/>
                <a:cs typeface="Segoe UI" pitchFamily="34" charset="-120"/>
              </a:rPr>
              <a:t>MVTec AD is the primary benchmark for industrial anomaly detection, mimicking real-world inspection scenarios with high-resolution images and pixel-precise ground truth.</a:t>
            </a:r>
            <a:endParaRPr lang="en-US" sz="950" dirty="0"/>
          </a:p>
        </p:txBody>
      </p:sp>
      <p:sp>
        <p:nvSpPr>
          <p:cNvPr id="6" name="Shape 2"/>
          <p:cNvSpPr/>
          <p:nvPr/>
        </p:nvSpPr>
        <p:spPr>
          <a:xfrm>
            <a:off x="428625" y="1290117"/>
            <a:ext cx="8286750" cy="754335"/>
          </a:xfrm>
          <a:prstGeom prst="rect">
            <a:avLst/>
          </a:prstGeom>
          <a:solidFill>
            <a:srgbClr val="FFFFFF"/>
          </a:solidFill>
          <a:ln/>
        </p:spPr>
      </p:sp>
      <p:sp>
        <p:nvSpPr>
          <p:cNvPr id="7" name="Shape 3"/>
          <p:cNvSpPr/>
          <p:nvPr/>
        </p:nvSpPr>
        <p:spPr>
          <a:xfrm>
            <a:off x="428625" y="1290117"/>
            <a:ext cx="8286750" cy="7144"/>
          </a:xfrm>
          <a:prstGeom prst="rect">
            <a:avLst/>
          </a:prstGeom>
          <a:solidFill>
            <a:srgbClr val="0A192F"/>
          </a:solidFill>
          <a:ln/>
        </p:spPr>
      </p:sp>
      <p:sp>
        <p:nvSpPr>
          <p:cNvPr id="8" name="Shape 4"/>
          <p:cNvSpPr/>
          <p:nvPr/>
        </p:nvSpPr>
        <p:spPr>
          <a:xfrm>
            <a:off x="428625" y="2037308"/>
            <a:ext cx="8286750" cy="7144"/>
          </a:xfrm>
          <a:prstGeom prst="rect">
            <a:avLst/>
          </a:prstGeom>
          <a:solidFill>
            <a:srgbClr val="0A192F"/>
          </a:solidFill>
          <a:ln/>
        </p:spPr>
      </p:sp>
      <p:sp>
        <p:nvSpPr>
          <p:cNvPr id="9" name="Text 5"/>
          <p:cNvSpPr/>
          <p:nvPr/>
        </p:nvSpPr>
        <p:spPr>
          <a:xfrm>
            <a:off x="428625" y="1397273"/>
            <a:ext cx="2066330" cy="320018"/>
          </a:xfrm>
          <a:prstGeom prst="rect">
            <a:avLst/>
          </a:prstGeom>
          <a:noFill/>
          <a:ln/>
        </p:spPr>
        <p:txBody>
          <a:bodyPr wrap="none" lIns="0" tIns="0" rIns="0" bIns="0" rtlCol="0" anchor="t">
            <a:spAutoFit/>
          </a:bodyPr>
          <a:lstStyle/>
          <a:p>
            <a:pPr algn="ctr" indent="0" marL="0">
              <a:lnSpc>
                <a:spcPct val="128000"/>
              </a:lnSpc>
              <a:buNone/>
            </a:pPr>
            <a:r>
              <a:rPr lang="en-US" sz="1400" b="1" dirty="0">
                <a:solidFill>
                  <a:srgbClr val="D95D39"/>
                </a:solidFill>
                <a:latin typeface="Segoe UI" pitchFamily="34" charset="0"/>
                <a:ea typeface="Segoe UI" pitchFamily="34" charset="-122"/>
                <a:cs typeface="Segoe UI" pitchFamily="34" charset="-120"/>
              </a:rPr>
              <a:t>5,354</a:t>
            </a:r>
            <a:endParaRPr lang="en-US" sz="1400" dirty="0"/>
          </a:p>
        </p:txBody>
      </p:sp>
      <p:sp>
        <p:nvSpPr>
          <p:cNvPr id="10" name="Text 6"/>
          <p:cNvSpPr/>
          <p:nvPr/>
        </p:nvSpPr>
        <p:spPr>
          <a:xfrm>
            <a:off x="1107672" y="1788728"/>
            <a:ext cx="708180" cy="96441"/>
          </a:xfrm>
          <a:prstGeom prst="rect">
            <a:avLst/>
          </a:prstGeom>
          <a:noFill/>
          <a:ln/>
        </p:spPr>
        <p:txBody>
          <a:bodyPr wrap="none" lIns="0" tIns="0" rIns="0" bIns="0" rtlCol="0" anchor="t">
            <a:spAutoFit/>
          </a:bodyPr>
          <a:lstStyle/>
          <a:p>
            <a:pPr algn="ctr" indent="0" marL="0">
              <a:lnSpc>
                <a:spcPct val="128000"/>
              </a:lnSpc>
              <a:buNone/>
            </a:pPr>
            <a:r>
              <a:rPr lang="en-US" sz="600" spc="1" kern="0" dirty="0">
                <a:solidFill>
                  <a:srgbClr val="888888"/>
                </a:solidFill>
                <a:latin typeface="Segoe UI" pitchFamily="34" charset="0"/>
                <a:ea typeface="Segoe UI" pitchFamily="34" charset="-122"/>
                <a:cs typeface="Segoe UI" pitchFamily="34" charset="-120"/>
              </a:rPr>
              <a:t>TOTAL IMAGES</a:t>
            </a:r>
            <a:endParaRPr lang="en-US" sz="600" dirty="0"/>
          </a:p>
        </p:txBody>
      </p:sp>
      <p:sp>
        <p:nvSpPr>
          <p:cNvPr id="11" name="Text 7"/>
          <p:cNvSpPr/>
          <p:nvPr/>
        </p:nvSpPr>
        <p:spPr>
          <a:xfrm>
            <a:off x="2502098" y="1397273"/>
            <a:ext cx="2066330" cy="320018"/>
          </a:xfrm>
          <a:prstGeom prst="rect">
            <a:avLst/>
          </a:prstGeom>
          <a:noFill/>
          <a:ln/>
        </p:spPr>
        <p:txBody>
          <a:bodyPr wrap="none" lIns="0" tIns="0" rIns="0" bIns="0" rtlCol="0" anchor="t">
            <a:spAutoFit/>
          </a:bodyPr>
          <a:lstStyle/>
          <a:p>
            <a:pPr algn="ctr" indent="0" marL="0">
              <a:lnSpc>
                <a:spcPct val="128000"/>
              </a:lnSpc>
              <a:buNone/>
            </a:pPr>
            <a:r>
              <a:rPr lang="en-US" sz="1400" b="1" dirty="0">
                <a:solidFill>
                  <a:srgbClr val="D95D39"/>
                </a:solidFill>
                <a:latin typeface="Segoe UI" pitchFamily="34" charset="0"/>
                <a:ea typeface="Segoe UI" pitchFamily="34" charset="-122"/>
                <a:cs typeface="Segoe UI" pitchFamily="34" charset="-120"/>
              </a:rPr>
              <a:t>15</a:t>
            </a:r>
            <a:endParaRPr lang="en-US" sz="1400" dirty="0"/>
          </a:p>
        </p:txBody>
      </p:sp>
      <p:sp>
        <p:nvSpPr>
          <p:cNvPr id="12" name="Text 8"/>
          <p:cNvSpPr/>
          <p:nvPr/>
        </p:nvSpPr>
        <p:spPr>
          <a:xfrm>
            <a:off x="3221664" y="1788728"/>
            <a:ext cx="627143" cy="96441"/>
          </a:xfrm>
          <a:prstGeom prst="rect">
            <a:avLst/>
          </a:prstGeom>
          <a:noFill/>
          <a:ln/>
        </p:spPr>
        <p:txBody>
          <a:bodyPr wrap="none" lIns="0" tIns="0" rIns="0" bIns="0" rtlCol="0" anchor="t">
            <a:spAutoFit/>
          </a:bodyPr>
          <a:lstStyle/>
          <a:p>
            <a:pPr algn="ctr" indent="0" marL="0">
              <a:lnSpc>
                <a:spcPct val="128000"/>
              </a:lnSpc>
              <a:buNone/>
            </a:pPr>
            <a:r>
              <a:rPr lang="en-US" sz="600" spc="1" kern="0" dirty="0">
                <a:solidFill>
                  <a:srgbClr val="888888"/>
                </a:solidFill>
                <a:latin typeface="Segoe UI" pitchFamily="34" charset="0"/>
                <a:ea typeface="Segoe UI" pitchFamily="34" charset="-122"/>
                <a:cs typeface="Segoe UI" pitchFamily="34" charset="-120"/>
              </a:rPr>
              <a:t>CATEGORIES</a:t>
            </a:r>
            <a:endParaRPr lang="en-US" sz="600" dirty="0"/>
          </a:p>
        </p:txBody>
      </p:sp>
      <p:sp>
        <p:nvSpPr>
          <p:cNvPr id="13" name="Text 9"/>
          <p:cNvSpPr/>
          <p:nvPr/>
        </p:nvSpPr>
        <p:spPr>
          <a:xfrm>
            <a:off x="4575572" y="1397273"/>
            <a:ext cx="2066330" cy="320018"/>
          </a:xfrm>
          <a:prstGeom prst="rect">
            <a:avLst/>
          </a:prstGeom>
          <a:noFill/>
          <a:ln/>
        </p:spPr>
        <p:txBody>
          <a:bodyPr wrap="none" lIns="0" tIns="0" rIns="0" bIns="0" rtlCol="0" anchor="t">
            <a:spAutoFit/>
          </a:bodyPr>
          <a:lstStyle/>
          <a:p>
            <a:pPr algn="ctr" indent="0" marL="0">
              <a:lnSpc>
                <a:spcPct val="128000"/>
              </a:lnSpc>
              <a:buNone/>
            </a:pPr>
            <a:r>
              <a:rPr lang="en-US" sz="1400" b="1" dirty="0">
                <a:solidFill>
                  <a:srgbClr val="D95D39"/>
                </a:solidFill>
                <a:latin typeface="Segoe UI" pitchFamily="34" charset="0"/>
                <a:ea typeface="Segoe UI" pitchFamily="34" charset="-122"/>
                <a:cs typeface="Segoe UI" pitchFamily="34" charset="-120"/>
              </a:rPr>
              <a:t>70+</a:t>
            </a:r>
            <a:endParaRPr lang="en-US" sz="1400" dirty="0"/>
          </a:p>
        </p:txBody>
      </p:sp>
      <p:sp>
        <p:nvSpPr>
          <p:cNvPr id="14" name="Text 10"/>
          <p:cNvSpPr/>
          <p:nvPr/>
        </p:nvSpPr>
        <p:spPr>
          <a:xfrm>
            <a:off x="5204947" y="1788728"/>
            <a:ext cx="807523" cy="96441"/>
          </a:xfrm>
          <a:prstGeom prst="rect">
            <a:avLst/>
          </a:prstGeom>
          <a:noFill/>
          <a:ln/>
        </p:spPr>
        <p:txBody>
          <a:bodyPr wrap="none" lIns="0" tIns="0" rIns="0" bIns="0" rtlCol="0" anchor="t">
            <a:spAutoFit/>
          </a:bodyPr>
          <a:lstStyle/>
          <a:p>
            <a:pPr algn="ctr" indent="0" marL="0">
              <a:lnSpc>
                <a:spcPct val="128000"/>
              </a:lnSpc>
              <a:buNone/>
            </a:pPr>
            <a:r>
              <a:rPr lang="en-US" sz="600" spc="1" kern="0" dirty="0">
                <a:solidFill>
                  <a:srgbClr val="888888"/>
                </a:solidFill>
                <a:latin typeface="Segoe UI" pitchFamily="34" charset="0"/>
                <a:ea typeface="Segoe UI" pitchFamily="34" charset="-122"/>
                <a:cs typeface="Segoe UI" pitchFamily="34" charset="-120"/>
              </a:rPr>
              <a:t>ANOMALY TYPES</a:t>
            </a:r>
            <a:endParaRPr lang="en-US" sz="600" dirty="0"/>
          </a:p>
        </p:txBody>
      </p:sp>
      <p:sp>
        <p:nvSpPr>
          <p:cNvPr id="15" name="Text 11"/>
          <p:cNvSpPr/>
          <p:nvPr/>
        </p:nvSpPr>
        <p:spPr>
          <a:xfrm>
            <a:off x="6649045" y="1397273"/>
            <a:ext cx="2066330" cy="320018"/>
          </a:xfrm>
          <a:prstGeom prst="rect">
            <a:avLst/>
          </a:prstGeom>
          <a:noFill/>
          <a:ln/>
        </p:spPr>
        <p:txBody>
          <a:bodyPr wrap="none" lIns="0" tIns="0" rIns="0" bIns="0" rtlCol="0" anchor="t">
            <a:spAutoFit/>
          </a:bodyPr>
          <a:lstStyle/>
          <a:p>
            <a:pPr algn="ctr" indent="0" marL="0">
              <a:lnSpc>
                <a:spcPct val="128000"/>
              </a:lnSpc>
              <a:buNone/>
            </a:pPr>
            <a:r>
              <a:rPr lang="en-US" sz="1400" b="1" dirty="0">
                <a:solidFill>
                  <a:srgbClr val="D95D39"/>
                </a:solidFill>
                <a:latin typeface="Segoe UI" pitchFamily="34" charset="0"/>
                <a:ea typeface="Segoe UI" pitchFamily="34" charset="-122"/>
                <a:cs typeface="Segoe UI" pitchFamily="34" charset="-120"/>
              </a:rPr>
              <a:t>1,888</a:t>
            </a:r>
            <a:endParaRPr lang="en-US" sz="1400" dirty="0"/>
          </a:p>
        </p:txBody>
      </p:sp>
      <p:sp>
        <p:nvSpPr>
          <p:cNvPr id="16" name="Text 12"/>
          <p:cNvSpPr/>
          <p:nvPr/>
        </p:nvSpPr>
        <p:spPr>
          <a:xfrm>
            <a:off x="7247111" y="1788728"/>
            <a:ext cx="870198" cy="96441"/>
          </a:xfrm>
          <a:prstGeom prst="rect">
            <a:avLst/>
          </a:prstGeom>
          <a:noFill/>
          <a:ln/>
        </p:spPr>
        <p:txBody>
          <a:bodyPr wrap="none" lIns="0" tIns="0" rIns="0" bIns="0" rtlCol="0" anchor="t">
            <a:spAutoFit/>
          </a:bodyPr>
          <a:lstStyle/>
          <a:p>
            <a:pPr algn="ctr" indent="0" marL="0">
              <a:lnSpc>
                <a:spcPct val="128000"/>
              </a:lnSpc>
              <a:buNone/>
            </a:pPr>
            <a:r>
              <a:rPr lang="en-US" sz="600" spc="1" kern="0" dirty="0">
                <a:solidFill>
                  <a:srgbClr val="888888"/>
                </a:solidFill>
                <a:latin typeface="Segoe UI" pitchFamily="34" charset="0"/>
                <a:ea typeface="Segoe UI" pitchFamily="34" charset="-122"/>
                <a:cs typeface="Segoe UI" pitchFamily="34" charset="-120"/>
              </a:rPr>
              <a:t>DEFECT SAMPLES</a:t>
            </a:r>
            <a:endParaRPr lang="en-US" sz="600" dirty="0"/>
          </a:p>
        </p:txBody>
      </p:sp>
      <p:sp>
        <p:nvSpPr>
          <p:cNvPr id="17" name="Shape 13"/>
          <p:cNvSpPr/>
          <p:nvPr/>
        </p:nvSpPr>
        <p:spPr>
          <a:xfrm>
            <a:off x="1750219" y="2458789"/>
            <a:ext cx="1428750" cy="200025"/>
          </a:xfrm>
          <a:prstGeom prst="rect">
            <a:avLst/>
          </a:prstGeom>
          <a:solidFill>
            <a:srgbClr val="FFFFFF"/>
          </a:solidFill>
          <a:ln w="9144">
            <a:solidFill>
              <a:srgbClr val="0A192F"/>
            </a:solidFill>
            <a:prstDash val="solid"/>
          </a:ln>
        </p:spPr>
      </p:sp>
      <p:sp>
        <p:nvSpPr>
          <p:cNvPr id="18" name="Shape 14"/>
          <p:cNvSpPr/>
          <p:nvPr/>
        </p:nvSpPr>
        <p:spPr>
          <a:xfrm>
            <a:off x="2457450" y="2644527"/>
            <a:ext cx="7144" cy="107156"/>
          </a:xfrm>
          <a:prstGeom prst="rect">
            <a:avLst/>
          </a:prstGeom>
          <a:solidFill>
            <a:srgbClr val="0A192F"/>
          </a:solidFill>
          <a:ln/>
        </p:spPr>
      </p:sp>
      <p:sp>
        <p:nvSpPr>
          <p:cNvPr id="19" name="Text 15"/>
          <p:cNvSpPr/>
          <p:nvPr/>
        </p:nvSpPr>
        <p:spPr>
          <a:xfrm>
            <a:off x="1750219" y="2458789"/>
            <a:ext cx="1428750" cy="200025"/>
          </a:xfrm>
          <a:prstGeom prst="rect">
            <a:avLst/>
          </a:prstGeom>
          <a:noFill/>
          <a:ln/>
        </p:spPr>
        <p:txBody>
          <a:bodyPr wrap="square" lIns="0" tIns="85090" rIns="0" bIns="0" rtlCol="0" anchor="t">
            <a:spAutoFit/>
          </a:bodyPr>
          <a:lstStyle/>
          <a:p>
            <a:pPr algn="ctr" indent="0" marL="0">
              <a:buNone/>
            </a:pPr>
            <a:r>
              <a:rPr lang="en-US" sz="700" b="1" dirty="0">
                <a:solidFill>
                  <a:srgbClr val="333F48"/>
                </a:solidFill>
                <a:latin typeface="Segoe UI" pitchFamily="34" charset="0"/>
                <a:ea typeface="Segoe UI" pitchFamily="34" charset="-122"/>
                <a:cs typeface="Segoe UI" pitchFamily="34" charset="-120"/>
              </a:rPr>
              <a:t>MVTec AD DATASET</a:t>
            </a:r>
            <a:endParaRPr lang="en-US" sz="700" dirty="0"/>
          </a:p>
        </p:txBody>
      </p:sp>
      <p:sp>
        <p:nvSpPr>
          <p:cNvPr id="20" name="Shape 16"/>
          <p:cNvSpPr/>
          <p:nvPr/>
        </p:nvSpPr>
        <p:spPr>
          <a:xfrm>
            <a:off x="1571625" y="2751683"/>
            <a:ext cx="857250" cy="271463"/>
          </a:xfrm>
          <a:prstGeom prst="rect">
            <a:avLst/>
          </a:prstGeom>
          <a:solidFill>
            <a:srgbClr val="FFFFFF"/>
          </a:solidFill>
          <a:ln w="9144">
            <a:solidFill>
              <a:srgbClr val="888888"/>
            </a:solidFill>
            <a:prstDash val="solid"/>
          </a:ln>
        </p:spPr>
      </p:sp>
      <p:sp>
        <p:nvSpPr>
          <p:cNvPr id="21" name="Text 17"/>
          <p:cNvSpPr/>
          <p:nvPr/>
        </p:nvSpPr>
        <p:spPr>
          <a:xfrm>
            <a:off x="1571625" y="2751683"/>
            <a:ext cx="857250" cy="271463"/>
          </a:xfrm>
          <a:prstGeom prst="rect">
            <a:avLst/>
          </a:prstGeom>
          <a:noFill/>
          <a:ln/>
        </p:spPr>
        <p:txBody>
          <a:bodyPr wrap="none" lIns="0" tIns="68072" rIns="0" bIns="0" rtlCol="0" anchor="t">
            <a:spAutoFit/>
          </a:bodyPr>
          <a:lstStyle/>
          <a:p>
            <a:pPr algn="ctr" indent="0" marL="0">
              <a:buNone/>
            </a:pPr>
            <a:r>
              <a:rPr lang="en-US" sz="600" dirty="0">
                <a:solidFill>
                  <a:srgbClr val="333F48"/>
                </a:solidFill>
                <a:latin typeface="Segoe UI" pitchFamily="34" charset="0"/>
                <a:ea typeface="Segoe UI" pitchFamily="34" charset="-122"/>
                <a:cs typeface="Segoe UI" pitchFamily="34" charset="-120"/>
              </a:rPr>
              <a:t>Object Categories (10)</a:t>
            </a:r>
            <a:endParaRPr lang="en-US" sz="600" dirty="0"/>
          </a:p>
        </p:txBody>
      </p:sp>
      <p:sp>
        <p:nvSpPr>
          <p:cNvPr id="22" name="Shape 18"/>
          <p:cNvSpPr/>
          <p:nvPr/>
        </p:nvSpPr>
        <p:spPr>
          <a:xfrm>
            <a:off x="2500313" y="2751683"/>
            <a:ext cx="857250" cy="271463"/>
          </a:xfrm>
          <a:prstGeom prst="rect">
            <a:avLst/>
          </a:prstGeom>
          <a:solidFill>
            <a:srgbClr val="FFFFFF"/>
          </a:solidFill>
          <a:ln w="9144">
            <a:solidFill>
              <a:srgbClr val="888888"/>
            </a:solidFill>
            <a:prstDash val="solid"/>
          </a:ln>
        </p:spPr>
      </p:sp>
      <p:sp>
        <p:nvSpPr>
          <p:cNvPr id="23" name="Text 19"/>
          <p:cNvSpPr/>
          <p:nvPr/>
        </p:nvSpPr>
        <p:spPr>
          <a:xfrm>
            <a:off x="2500313" y="2751683"/>
            <a:ext cx="857250" cy="271463"/>
          </a:xfrm>
          <a:prstGeom prst="rect">
            <a:avLst/>
          </a:prstGeom>
          <a:noFill/>
          <a:ln/>
        </p:spPr>
        <p:txBody>
          <a:bodyPr wrap="none" lIns="0" tIns="68072" rIns="0" bIns="0" rtlCol="0" anchor="t">
            <a:spAutoFit/>
          </a:bodyPr>
          <a:lstStyle/>
          <a:p>
            <a:pPr algn="ctr" indent="0" marL="0">
              <a:buNone/>
            </a:pPr>
            <a:r>
              <a:rPr lang="en-US" sz="600" dirty="0">
                <a:solidFill>
                  <a:srgbClr val="333F48"/>
                </a:solidFill>
                <a:latin typeface="Segoe UI" pitchFamily="34" charset="0"/>
                <a:ea typeface="Segoe UI" pitchFamily="34" charset="-122"/>
                <a:cs typeface="Segoe UI" pitchFamily="34" charset="-120"/>
              </a:rPr>
              <a:t>Texture Categories (5)</a:t>
            </a:r>
            <a:endParaRPr lang="en-US" sz="600" dirty="0"/>
          </a:p>
        </p:txBody>
      </p:sp>
      <p:sp>
        <p:nvSpPr>
          <p:cNvPr id="24" name="Shape 20"/>
          <p:cNvSpPr/>
          <p:nvPr/>
        </p:nvSpPr>
        <p:spPr>
          <a:xfrm>
            <a:off x="1750219" y="3151733"/>
            <a:ext cx="1428750" cy="200025"/>
          </a:xfrm>
          <a:prstGeom prst="rect">
            <a:avLst/>
          </a:prstGeom>
          <a:solidFill>
            <a:srgbClr val="FFFFFF"/>
          </a:solidFill>
          <a:ln w="9144">
            <a:solidFill>
              <a:srgbClr val="0A192F"/>
            </a:solidFill>
            <a:prstDash val="solid"/>
          </a:ln>
        </p:spPr>
      </p:sp>
      <p:sp>
        <p:nvSpPr>
          <p:cNvPr id="25" name="Shape 21"/>
          <p:cNvSpPr/>
          <p:nvPr/>
        </p:nvSpPr>
        <p:spPr>
          <a:xfrm>
            <a:off x="2457450" y="3337471"/>
            <a:ext cx="7144" cy="107156"/>
          </a:xfrm>
          <a:prstGeom prst="rect">
            <a:avLst/>
          </a:prstGeom>
          <a:solidFill>
            <a:srgbClr val="0A192F"/>
          </a:solidFill>
          <a:ln/>
        </p:spPr>
      </p:sp>
      <p:sp>
        <p:nvSpPr>
          <p:cNvPr id="26" name="Text 22"/>
          <p:cNvSpPr/>
          <p:nvPr/>
        </p:nvSpPr>
        <p:spPr>
          <a:xfrm>
            <a:off x="1750219" y="3151733"/>
            <a:ext cx="1428750" cy="200025"/>
          </a:xfrm>
          <a:prstGeom prst="rect">
            <a:avLst/>
          </a:prstGeom>
          <a:noFill/>
          <a:ln/>
        </p:spPr>
        <p:txBody>
          <a:bodyPr wrap="square" lIns="0" tIns="85090" rIns="0" bIns="0" rtlCol="0" anchor="t">
            <a:spAutoFit/>
          </a:bodyPr>
          <a:lstStyle/>
          <a:p>
            <a:pPr algn="ctr" indent="0" marL="0">
              <a:buNone/>
            </a:pPr>
            <a:r>
              <a:rPr lang="en-US" sz="700" b="1" dirty="0">
                <a:solidFill>
                  <a:srgbClr val="333F48"/>
                </a:solidFill>
                <a:latin typeface="Segoe UI" pitchFamily="34" charset="0"/>
                <a:ea typeface="Segoe UI" pitchFamily="34" charset="-122"/>
                <a:cs typeface="Segoe UI" pitchFamily="34" charset="-120"/>
              </a:rPr>
              <a:t>Normal Training Set</a:t>
            </a:r>
            <a:endParaRPr lang="en-US" sz="700" dirty="0"/>
          </a:p>
        </p:txBody>
      </p:sp>
      <p:sp>
        <p:nvSpPr>
          <p:cNvPr id="27" name="Shape 23"/>
          <p:cNvSpPr/>
          <p:nvPr/>
        </p:nvSpPr>
        <p:spPr>
          <a:xfrm>
            <a:off x="1750219" y="3444627"/>
            <a:ext cx="1428750" cy="200025"/>
          </a:xfrm>
          <a:prstGeom prst="rect">
            <a:avLst/>
          </a:prstGeom>
          <a:solidFill>
            <a:srgbClr val="FFFFFF"/>
          </a:solidFill>
          <a:ln w="9144">
            <a:solidFill>
              <a:srgbClr val="0A192F"/>
            </a:solidFill>
            <a:prstDash val="solid"/>
          </a:ln>
        </p:spPr>
      </p:sp>
      <p:sp>
        <p:nvSpPr>
          <p:cNvPr id="28" name="Shape 24"/>
          <p:cNvSpPr/>
          <p:nvPr/>
        </p:nvSpPr>
        <p:spPr>
          <a:xfrm>
            <a:off x="2457450" y="3630364"/>
            <a:ext cx="7144" cy="107156"/>
          </a:xfrm>
          <a:prstGeom prst="rect">
            <a:avLst/>
          </a:prstGeom>
          <a:solidFill>
            <a:srgbClr val="0A192F"/>
          </a:solidFill>
          <a:ln/>
        </p:spPr>
      </p:sp>
      <p:sp>
        <p:nvSpPr>
          <p:cNvPr id="29" name="Text 25"/>
          <p:cNvSpPr/>
          <p:nvPr/>
        </p:nvSpPr>
        <p:spPr>
          <a:xfrm>
            <a:off x="1750219" y="3444627"/>
            <a:ext cx="1428750" cy="200025"/>
          </a:xfrm>
          <a:prstGeom prst="rect">
            <a:avLst/>
          </a:prstGeom>
          <a:noFill/>
          <a:ln/>
        </p:spPr>
        <p:txBody>
          <a:bodyPr wrap="square" lIns="0" tIns="85090" rIns="0" bIns="0" rtlCol="0" anchor="t">
            <a:spAutoFit/>
          </a:bodyPr>
          <a:lstStyle/>
          <a:p>
            <a:pPr algn="ctr" indent="0" marL="0">
              <a:buNone/>
            </a:pPr>
            <a:r>
              <a:rPr lang="en-US" sz="700" b="1" dirty="0">
                <a:solidFill>
                  <a:srgbClr val="333F48"/>
                </a:solidFill>
                <a:latin typeface="Segoe UI" pitchFamily="34" charset="0"/>
                <a:ea typeface="Segoe UI" pitchFamily="34" charset="-122"/>
                <a:cs typeface="Segoe UI" pitchFamily="34" charset="-120"/>
              </a:rPr>
              <a:t>Defective Test Set</a:t>
            </a:r>
            <a:endParaRPr lang="en-US" sz="700" dirty="0"/>
          </a:p>
        </p:txBody>
      </p:sp>
      <p:sp>
        <p:nvSpPr>
          <p:cNvPr id="30" name="Shape 26"/>
          <p:cNvSpPr/>
          <p:nvPr/>
        </p:nvSpPr>
        <p:spPr>
          <a:xfrm>
            <a:off x="1750219" y="3737521"/>
            <a:ext cx="1428750" cy="200025"/>
          </a:xfrm>
          <a:prstGeom prst="rect">
            <a:avLst/>
          </a:prstGeom>
          <a:solidFill>
            <a:srgbClr val="FFFFFF"/>
          </a:solidFill>
          <a:ln w="9144">
            <a:solidFill>
              <a:srgbClr val="0A192F"/>
            </a:solidFill>
            <a:prstDash val="solid"/>
          </a:ln>
        </p:spPr>
      </p:sp>
      <p:sp>
        <p:nvSpPr>
          <p:cNvPr id="31" name="Text 27"/>
          <p:cNvSpPr/>
          <p:nvPr/>
        </p:nvSpPr>
        <p:spPr>
          <a:xfrm>
            <a:off x="1750219" y="3737521"/>
            <a:ext cx="1428750" cy="200025"/>
          </a:xfrm>
          <a:prstGeom prst="rect">
            <a:avLst/>
          </a:prstGeom>
          <a:noFill/>
          <a:ln/>
        </p:spPr>
        <p:txBody>
          <a:bodyPr wrap="square" lIns="0" tIns="85090" rIns="0" bIns="0" rtlCol="0" anchor="t">
            <a:spAutoFit/>
          </a:bodyPr>
          <a:lstStyle/>
          <a:p>
            <a:pPr algn="ctr" indent="0" marL="0">
              <a:buNone/>
            </a:pPr>
            <a:r>
              <a:rPr lang="en-US" sz="700" b="1" dirty="0">
                <a:solidFill>
                  <a:srgbClr val="333F48"/>
                </a:solidFill>
                <a:latin typeface="Segoe UI" pitchFamily="34" charset="0"/>
                <a:ea typeface="Segoe UI" pitchFamily="34" charset="-122"/>
                <a:cs typeface="Segoe UI" pitchFamily="34" charset="-120"/>
              </a:rPr>
              <a:t>Anomaly Masks (GT)</a:t>
            </a:r>
            <a:endParaRPr lang="en-US" sz="700" dirty="0"/>
          </a:p>
        </p:txBody>
      </p:sp>
      <p:sp>
        <p:nvSpPr>
          <p:cNvPr id="32" name="Shape 28"/>
          <p:cNvSpPr/>
          <p:nvPr/>
        </p:nvSpPr>
        <p:spPr>
          <a:xfrm>
            <a:off x="4643438" y="2458789"/>
            <a:ext cx="4071938" cy="1785938"/>
          </a:xfrm>
          <a:prstGeom prst="rect">
            <a:avLst/>
          </a:prstGeom>
          <a:solidFill>
            <a:srgbClr val="FFFFFF"/>
          </a:solidFill>
          <a:ln w="9144">
            <a:solidFill>
              <a:srgbClr val="0A192F">
                <a:alpha val="10000"/>
              </a:srgbClr>
            </a:solidFill>
            <a:prstDash val="solid"/>
          </a:ln>
        </p:spPr>
      </p:sp>
      <p:sp>
        <p:nvSpPr>
          <p:cNvPr id="33" name="Text 29"/>
          <p:cNvSpPr/>
          <p:nvPr/>
        </p:nvSpPr>
        <p:spPr>
          <a:xfrm>
            <a:off x="4822031" y="2601664"/>
            <a:ext cx="3714750" cy="132159"/>
          </a:xfrm>
          <a:prstGeom prst="rect">
            <a:avLst/>
          </a:prstGeom>
          <a:noFill/>
          <a:ln/>
        </p:spPr>
        <p:txBody>
          <a:bodyPr wrap="square" lIns="0" tIns="0" rIns="0" bIns="0" rtlCol="0" anchor="t">
            <a:spAutoFit/>
          </a:bodyPr>
          <a:lstStyle/>
          <a:p>
            <a:pPr algn="l" indent="0" marL="0">
              <a:buNone/>
            </a:pPr>
            <a:r>
              <a:rPr lang="en-US" sz="800" b="1" dirty="0">
                <a:solidFill>
                  <a:srgbClr val="0A192F"/>
                </a:solidFill>
                <a:latin typeface="Segoe UI" pitchFamily="34" charset="0"/>
                <a:ea typeface="Segoe UI" pitchFamily="34" charset="-122"/>
                <a:cs typeface="Segoe UI" pitchFamily="34" charset="-120"/>
              </a:rPr>
              <a:t>SUITABILITY FOR THIS PROJECT</a:t>
            </a:r>
            <a:endParaRPr lang="en-US" sz="800" dirty="0"/>
          </a:p>
        </p:txBody>
      </p:sp>
      <p:sp>
        <p:nvSpPr>
          <p:cNvPr id="34" name="Text 30"/>
          <p:cNvSpPr/>
          <p:nvPr/>
        </p:nvSpPr>
        <p:spPr>
          <a:xfrm>
            <a:off x="4822031" y="2840980"/>
            <a:ext cx="3714750" cy="150019"/>
          </a:xfrm>
          <a:prstGeom prst="rect">
            <a:avLst/>
          </a:prstGeom>
          <a:noFill/>
          <a:ln/>
        </p:spPr>
        <p:txBody>
          <a:bodyPr wrap="none" lIns="170053" tIns="0" rIns="0" bIns="0" rtlCol="0" anchor="t">
            <a:spAutoFit/>
          </a:bodyPr>
          <a:lstStyle/>
          <a:p>
            <a:pPr algn="l" indent="0" marL="0">
              <a:lnSpc>
                <a:spcPct val="112000"/>
              </a:lnSpc>
              <a:buNone/>
            </a:pPr>
            <a:r>
              <a:rPr lang="en-US" sz="800" dirty="0">
                <a:solidFill>
                  <a:srgbClr val="333F48"/>
                </a:solidFill>
                <a:latin typeface="Segoe UI" pitchFamily="34" charset="0"/>
                <a:ea typeface="Segoe UI" pitchFamily="34" charset="-122"/>
                <a:cs typeface="Segoe UI" pitchFamily="34" charset="-120"/>
              </a:rPr>
              <a:t>Contains realistic industrial defects (scratches, dents, structural changes).</a:t>
            </a:r>
            <a:endParaRPr lang="en-US" sz="800" dirty="0"/>
          </a:p>
        </p:txBody>
      </p:sp>
      <p:sp>
        <p:nvSpPr>
          <p:cNvPr id="35" name="Text 31"/>
          <p:cNvSpPr/>
          <p:nvPr/>
        </p:nvSpPr>
        <p:spPr>
          <a:xfrm>
            <a:off x="4822031" y="3076724"/>
            <a:ext cx="3714750" cy="150019"/>
          </a:xfrm>
          <a:prstGeom prst="rect">
            <a:avLst/>
          </a:prstGeom>
          <a:noFill/>
          <a:ln/>
        </p:spPr>
        <p:txBody>
          <a:bodyPr wrap="none" lIns="170053" tIns="0" rIns="0" bIns="0" rtlCol="0" anchor="t">
            <a:spAutoFit/>
          </a:bodyPr>
          <a:lstStyle/>
          <a:p>
            <a:pPr algn="l" indent="0" marL="0">
              <a:lnSpc>
                <a:spcPct val="112000"/>
              </a:lnSpc>
              <a:buNone/>
            </a:pPr>
            <a:r>
              <a:rPr lang="en-US" sz="800" dirty="0">
                <a:solidFill>
                  <a:srgbClr val="333F48"/>
                </a:solidFill>
                <a:latin typeface="Segoe UI" pitchFamily="34" charset="0"/>
                <a:ea typeface="Segoe UI" pitchFamily="34" charset="-122"/>
                <a:cs typeface="Segoe UI" pitchFamily="34" charset="-120"/>
              </a:rPr>
              <a:t>Diverse texture patterns ideal for LBP and GLCM evaluation.</a:t>
            </a:r>
            <a:endParaRPr lang="en-US" sz="800" dirty="0"/>
          </a:p>
        </p:txBody>
      </p:sp>
      <p:sp>
        <p:nvSpPr>
          <p:cNvPr id="36" name="Text 32"/>
          <p:cNvSpPr/>
          <p:nvPr/>
        </p:nvSpPr>
        <p:spPr>
          <a:xfrm>
            <a:off x="4822031" y="3312468"/>
            <a:ext cx="3714750" cy="150019"/>
          </a:xfrm>
          <a:prstGeom prst="rect">
            <a:avLst/>
          </a:prstGeom>
          <a:noFill/>
          <a:ln/>
        </p:spPr>
        <p:txBody>
          <a:bodyPr wrap="none" lIns="170053" tIns="0" rIns="0" bIns="0" rtlCol="0" anchor="t">
            <a:spAutoFit/>
          </a:bodyPr>
          <a:lstStyle/>
          <a:p>
            <a:pPr algn="l" indent="0" marL="0">
              <a:lnSpc>
                <a:spcPct val="112000"/>
              </a:lnSpc>
              <a:buNone/>
            </a:pPr>
            <a:r>
              <a:rPr lang="en-US" sz="800" dirty="0">
                <a:solidFill>
                  <a:srgbClr val="333F48"/>
                </a:solidFill>
                <a:latin typeface="Segoe UI" pitchFamily="34" charset="0"/>
                <a:ea typeface="Segoe UI" pitchFamily="34" charset="-122"/>
                <a:cs typeface="Segoe UI" pitchFamily="34" charset="-120"/>
              </a:rPr>
              <a:t>Enables meaningful comparison between local and statistical features.</a:t>
            </a:r>
            <a:endParaRPr lang="en-US" sz="800" dirty="0"/>
          </a:p>
        </p:txBody>
      </p:sp>
      <p:sp>
        <p:nvSpPr>
          <p:cNvPr id="37" name="Text 33"/>
          <p:cNvSpPr/>
          <p:nvPr/>
        </p:nvSpPr>
        <p:spPr>
          <a:xfrm>
            <a:off x="4822031" y="3548211"/>
            <a:ext cx="3714750" cy="150019"/>
          </a:xfrm>
          <a:prstGeom prst="rect">
            <a:avLst/>
          </a:prstGeom>
          <a:noFill/>
          <a:ln/>
        </p:spPr>
        <p:txBody>
          <a:bodyPr wrap="none" lIns="170053" tIns="0" rIns="0" bIns="0" rtlCol="0" anchor="t">
            <a:spAutoFit/>
          </a:bodyPr>
          <a:lstStyle/>
          <a:p>
            <a:pPr algn="l" indent="0" marL="0">
              <a:lnSpc>
                <a:spcPct val="112000"/>
              </a:lnSpc>
              <a:buNone/>
            </a:pPr>
            <a:r>
              <a:rPr lang="en-US" sz="800" dirty="0">
                <a:solidFill>
                  <a:srgbClr val="333F48"/>
                </a:solidFill>
                <a:latin typeface="Segoe UI" pitchFamily="34" charset="0"/>
                <a:ea typeface="Segoe UI" pitchFamily="34" charset="-122"/>
                <a:cs typeface="Segoe UI" pitchFamily="34" charset="-120"/>
              </a:rPr>
              <a:t>High-resolution data supports multi-scale analysis.</a:t>
            </a:r>
            <a:endParaRPr lang="en-US" sz="800" dirty="0"/>
          </a:p>
        </p:txBody>
      </p:sp>
      <p:sp>
        <p:nvSpPr>
          <p:cNvPr id="38" name="Text 34"/>
          <p:cNvSpPr/>
          <p:nvPr/>
        </p:nvSpPr>
        <p:spPr>
          <a:xfrm>
            <a:off x="4822031" y="3783955"/>
            <a:ext cx="3714750" cy="150019"/>
          </a:xfrm>
          <a:prstGeom prst="rect">
            <a:avLst/>
          </a:prstGeom>
          <a:noFill/>
          <a:ln/>
        </p:spPr>
        <p:txBody>
          <a:bodyPr wrap="none" lIns="170053" tIns="0" rIns="0" bIns="0" rtlCol="0" anchor="t">
            <a:spAutoFit/>
          </a:bodyPr>
          <a:lstStyle/>
          <a:p>
            <a:pPr algn="l" indent="0" marL="0">
              <a:lnSpc>
                <a:spcPct val="112000"/>
              </a:lnSpc>
              <a:buNone/>
            </a:pPr>
            <a:r>
              <a:rPr lang="en-US" sz="800" dirty="0">
                <a:solidFill>
                  <a:srgbClr val="333F48"/>
                </a:solidFill>
                <a:latin typeface="Segoe UI" pitchFamily="34" charset="0"/>
                <a:ea typeface="Segoe UI" pitchFamily="34" charset="-122"/>
                <a:cs typeface="Segoe UI" pitchFamily="34" charset="-120"/>
              </a:rPr>
              <a:t>Standardized benchmark allows for research-oriented validation.</a:t>
            </a:r>
            <a:endParaRPr lang="en-US" sz="800" dirty="0"/>
          </a:p>
        </p:txBody>
      </p:sp>
      <p:sp>
        <p:nvSpPr>
          <p:cNvPr id="39" name="Text 35"/>
          <p:cNvSpPr/>
          <p:nvPr/>
        </p:nvSpPr>
        <p:spPr>
          <a:xfrm>
            <a:off x="7363699" y="4900613"/>
            <a:ext cx="1351676" cy="100013"/>
          </a:xfrm>
          <a:prstGeom prst="rect">
            <a:avLst/>
          </a:prstGeom>
          <a:noFill/>
          <a:ln/>
        </p:spPr>
        <p:txBody>
          <a:bodyPr wrap="square" lIns="0" tIns="0" rIns="0" bIns="0" rtlCol="0" anchor="t">
            <a:spAutoFit/>
          </a:bodyPr>
          <a:lstStyle/>
          <a:p>
            <a:pPr algn="l" indent="0" marL="0">
              <a:buNone/>
            </a:pPr>
            <a:r>
              <a:rPr lang="en-US" sz="600" dirty="0">
                <a:solidFill>
                  <a:srgbClr val="888888"/>
                </a:solidFill>
                <a:latin typeface="Segoe UI" pitchFamily="34" charset="0"/>
                <a:ea typeface="Segoe UI" pitchFamily="34" charset="-122"/>
                <a:cs typeface="Segoe UI" pitchFamily="34" charset="-120"/>
              </a:rPr>
              <a:t>Page 6 | Review-1 Project Proposal</a:t>
            </a:r>
            <a:endParaRPr lang="en-US" sz="600" dirty="0"/>
          </a:p>
        </p:txBody>
      </p:sp>
      <p:pic>
        <p:nvPicPr>
          <p:cNvPr id="40" name="Image 1" descr="preencoded.png">    </p:cNvPr>
          <p:cNvPicPr>
            <a:picLocks noChangeAspect="1"/>
          </p:cNvPicPr>
          <p:nvPr/>
        </p:nvPicPr>
        <p:blipFill>
          <a:blip r:embed="rId2"/>
          <a:stretch>
            <a:fillRect/>
          </a:stretch>
        </p:blipFill>
        <p:spPr>
          <a:xfrm>
            <a:off x="4822031" y="2840980"/>
            <a:ext cx="85725" cy="119993"/>
          </a:xfrm>
          <a:prstGeom prst="rect">
            <a:avLst/>
          </a:prstGeom>
        </p:spPr>
      </p:pic>
      <p:pic>
        <p:nvPicPr>
          <p:cNvPr id="41" name="Image 2" descr="preencoded.png">    </p:cNvPr>
          <p:cNvPicPr>
            <a:picLocks noChangeAspect="1"/>
          </p:cNvPicPr>
          <p:nvPr/>
        </p:nvPicPr>
        <p:blipFill>
          <a:blip r:embed="rId3"/>
          <a:stretch>
            <a:fillRect/>
          </a:stretch>
        </p:blipFill>
        <p:spPr>
          <a:xfrm>
            <a:off x="4822031" y="3076724"/>
            <a:ext cx="85725" cy="119993"/>
          </a:xfrm>
          <a:prstGeom prst="rect">
            <a:avLst/>
          </a:prstGeom>
        </p:spPr>
      </p:pic>
      <p:pic>
        <p:nvPicPr>
          <p:cNvPr id="42" name="Image 3" descr="preencoded.png">    </p:cNvPr>
          <p:cNvPicPr>
            <a:picLocks noChangeAspect="1"/>
          </p:cNvPicPr>
          <p:nvPr/>
        </p:nvPicPr>
        <p:blipFill>
          <a:blip r:embed="rId4"/>
          <a:stretch>
            <a:fillRect/>
          </a:stretch>
        </p:blipFill>
        <p:spPr>
          <a:xfrm>
            <a:off x="4822031" y="3312468"/>
            <a:ext cx="85725" cy="119993"/>
          </a:xfrm>
          <a:prstGeom prst="rect">
            <a:avLst/>
          </a:prstGeom>
        </p:spPr>
      </p:pic>
      <p:pic>
        <p:nvPicPr>
          <p:cNvPr id="43" name="Image 4" descr="preencoded.png">    </p:cNvPr>
          <p:cNvPicPr>
            <a:picLocks noChangeAspect="1"/>
          </p:cNvPicPr>
          <p:nvPr/>
        </p:nvPicPr>
        <p:blipFill>
          <a:blip r:embed="rId5"/>
          <a:stretch>
            <a:fillRect/>
          </a:stretch>
        </p:blipFill>
        <p:spPr>
          <a:xfrm>
            <a:off x="4822031" y="3548211"/>
            <a:ext cx="85725" cy="119993"/>
          </a:xfrm>
          <a:prstGeom prst="rect">
            <a:avLst/>
          </a:prstGeom>
        </p:spPr>
      </p:pic>
      <p:pic>
        <p:nvPicPr>
          <p:cNvPr id="44" name="Image 5" descr="preencoded.png">    </p:cNvPr>
          <p:cNvPicPr>
            <a:picLocks noChangeAspect="1"/>
          </p:cNvPicPr>
          <p:nvPr/>
        </p:nvPicPr>
        <p:blipFill>
          <a:blip r:embed="rId6"/>
          <a:stretch>
            <a:fillRect/>
          </a:stretch>
        </p:blipFill>
        <p:spPr>
          <a:xfrm>
            <a:off x="4822031" y="3783955"/>
            <a:ext cx="85725" cy="11999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285750"/>
            <a:ext cx="2743646" cy="307181"/>
          </a:xfrm>
          <a:prstGeom prst="rect">
            <a:avLst/>
          </a:prstGeom>
          <a:noFill/>
          <a:ln/>
        </p:spPr>
        <p:txBody>
          <a:bodyPr wrap="square" lIns="0" tIns="0" rIns="0" bIns="42545" rtlCol="0" anchor="t">
            <a:spAutoFit/>
          </a:bodyPr>
          <a:lstStyle/>
          <a:p>
            <a:pPr algn="l" indent="0" marL="0">
              <a:buNone/>
            </a:pPr>
            <a:r>
              <a:rPr lang="en-US" sz="1700" dirty="0">
                <a:solidFill>
                  <a:srgbClr val="0A192F"/>
                </a:solidFill>
                <a:latin typeface="Courier New" pitchFamily="34" charset="0"/>
                <a:ea typeface="Courier New" pitchFamily="34" charset="-122"/>
                <a:cs typeface="Courier New" pitchFamily="34" charset="-120"/>
              </a:rPr>
              <a:t>PROPOSED METHODOLOGY</a:t>
            </a:r>
            <a:endParaRPr lang="en-US" sz="1700" dirty="0"/>
          </a:p>
        </p:txBody>
      </p:sp>
      <p:sp>
        <p:nvSpPr>
          <p:cNvPr id="5" name="Shape 1"/>
          <p:cNvSpPr/>
          <p:nvPr/>
        </p:nvSpPr>
        <p:spPr>
          <a:xfrm>
            <a:off x="3429000" y="721519"/>
            <a:ext cx="2286000" cy="500063"/>
          </a:xfrm>
          <a:prstGeom prst="rect">
            <a:avLst/>
          </a:prstGeom>
          <a:solidFill>
            <a:srgbClr val="FFFFFF"/>
          </a:solidFill>
          <a:ln w="9144">
            <a:solidFill>
              <a:srgbClr val="0A192F"/>
            </a:solidFill>
            <a:prstDash val="solid"/>
          </a:ln>
        </p:spPr>
      </p:sp>
      <p:sp>
        <p:nvSpPr>
          <p:cNvPr id="6" name="Text 2"/>
          <p:cNvSpPr/>
          <p:nvPr/>
        </p:nvSpPr>
        <p:spPr>
          <a:xfrm>
            <a:off x="3543300" y="869752"/>
            <a:ext cx="2057400" cy="132159"/>
          </a:xfrm>
          <a:prstGeom prst="rect">
            <a:avLst/>
          </a:prstGeom>
          <a:noFill/>
          <a:ln/>
        </p:spPr>
        <p:txBody>
          <a:bodyPr wrap="square" lIns="0" tIns="0" rIns="0" bIns="0" rtlCol="0" anchor="t">
            <a:spAutoFit/>
          </a:bodyPr>
          <a:lstStyle/>
          <a:p>
            <a:pPr algn="ctr" indent="0" marL="0">
              <a:buNone/>
            </a:pPr>
            <a:r>
              <a:rPr lang="en-US" sz="800" b="1" dirty="0">
                <a:solidFill>
                  <a:srgbClr val="0A192F"/>
                </a:solidFill>
                <a:latin typeface="Segoe UI" pitchFamily="34" charset="0"/>
                <a:ea typeface="Segoe UI" pitchFamily="34" charset="-122"/>
                <a:cs typeface="Segoe UI" pitchFamily="34" charset="-120"/>
              </a:rPr>
              <a:t>MVTEC AD IMAGE INPUT</a:t>
            </a:r>
            <a:endParaRPr lang="en-US" sz="800" dirty="0"/>
          </a:p>
        </p:txBody>
      </p:sp>
      <p:sp>
        <p:nvSpPr>
          <p:cNvPr id="7" name="Text 3"/>
          <p:cNvSpPr/>
          <p:nvPr/>
        </p:nvSpPr>
        <p:spPr>
          <a:xfrm>
            <a:off x="3543300" y="1030486"/>
            <a:ext cx="2057400" cy="100013"/>
          </a:xfrm>
          <a:prstGeom prst="rect">
            <a:avLst/>
          </a:prstGeom>
          <a:noFill/>
          <a:ln/>
        </p:spPr>
        <p:txBody>
          <a:bodyPr wrap="square" lIns="0" tIns="0" rIns="0" bIns="0" rtlCol="0" anchor="t">
            <a:spAutoFit/>
          </a:bodyPr>
          <a:lstStyle/>
          <a:p>
            <a:pPr algn="ctr" indent="0" marL="0">
              <a:buNone/>
            </a:pPr>
            <a:r>
              <a:rPr lang="en-US" sz="600" dirty="0">
                <a:solidFill>
                  <a:srgbClr val="666666"/>
                </a:solidFill>
                <a:latin typeface="Segoe UI" pitchFamily="34" charset="0"/>
                <a:ea typeface="Segoe UI" pitchFamily="34" charset="-122"/>
                <a:cs typeface="Segoe UI" pitchFamily="34" charset="-120"/>
              </a:rPr>
              <a:t>High-resolution industrial surface samples</a:t>
            </a:r>
            <a:endParaRPr lang="en-US" sz="600" dirty="0"/>
          </a:p>
        </p:txBody>
      </p:sp>
      <p:pic>
        <p:nvPicPr>
          <p:cNvPr id="8" name="Image 1" descr="preencoded.png">    </p:cNvPr>
          <p:cNvPicPr>
            <a:picLocks noChangeAspect="1"/>
          </p:cNvPicPr>
          <p:nvPr/>
        </p:nvPicPr>
        <p:blipFill>
          <a:blip r:embed="rId2"/>
          <a:stretch>
            <a:fillRect/>
          </a:stretch>
        </p:blipFill>
        <p:spPr>
          <a:xfrm>
            <a:off x="4523780" y="1271588"/>
            <a:ext cx="96441" cy="128588"/>
          </a:xfrm>
          <a:prstGeom prst="rect">
            <a:avLst/>
          </a:prstGeom>
        </p:spPr>
      </p:pic>
      <p:sp>
        <p:nvSpPr>
          <p:cNvPr id="9" name="Shape 4"/>
          <p:cNvSpPr/>
          <p:nvPr/>
        </p:nvSpPr>
        <p:spPr>
          <a:xfrm>
            <a:off x="3429000" y="1457325"/>
            <a:ext cx="2286000" cy="500063"/>
          </a:xfrm>
          <a:prstGeom prst="rect">
            <a:avLst/>
          </a:prstGeom>
          <a:solidFill>
            <a:srgbClr val="FFFFFF"/>
          </a:solidFill>
          <a:ln w="9144">
            <a:solidFill>
              <a:srgbClr val="0A192F"/>
            </a:solidFill>
            <a:prstDash val="solid"/>
          </a:ln>
        </p:spPr>
      </p:sp>
      <p:sp>
        <p:nvSpPr>
          <p:cNvPr id="10" name="Text 5"/>
          <p:cNvSpPr/>
          <p:nvPr/>
        </p:nvSpPr>
        <p:spPr>
          <a:xfrm>
            <a:off x="3543300" y="1555552"/>
            <a:ext cx="2057400" cy="132159"/>
          </a:xfrm>
          <a:prstGeom prst="rect">
            <a:avLst/>
          </a:prstGeom>
          <a:noFill/>
          <a:ln/>
        </p:spPr>
        <p:txBody>
          <a:bodyPr wrap="square" lIns="0" tIns="0" rIns="0" bIns="0" rtlCol="0" anchor="t">
            <a:spAutoFit/>
          </a:bodyPr>
          <a:lstStyle/>
          <a:p>
            <a:pPr algn="ctr" indent="0" marL="0">
              <a:buNone/>
            </a:pPr>
            <a:r>
              <a:rPr lang="en-US" sz="800" b="1" dirty="0">
                <a:solidFill>
                  <a:srgbClr val="0A192F"/>
                </a:solidFill>
                <a:latin typeface="Segoe UI" pitchFamily="34" charset="0"/>
                <a:ea typeface="Segoe UI" pitchFamily="34" charset="-122"/>
                <a:cs typeface="Segoe UI" pitchFamily="34" charset="-120"/>
              </a:rPr>
              <a:t>PREPROCESSING</a:t>
            </a:r>
            <a:endParaRPr lang="en-US" sz="800" dirty="0"/>
          </a:p>
        </p:txBody>
      </p:sp>
      <p:sp>
        <p:nvSpPr>
          <p:cNvPr id="11" name="Text 6"/>
          <p:cNvSpPr/>
          <p:nvPr/>
        </p:nvSpPr>
        <p:spPr>
          <a:xfrm>
            <a:off x="3543300" y="1716286"/>
            <a:ext cx="2057400" cy="200025"/>
          </a:xfrm>
          <a:prstGeom prst="rect">
            <a:avLst/>
          </a:prstGeom>
          <a:noFill/>
          <a:ln/>
        </p:spPr>
        <p:txBody>
          <a:bodyPr wrap="square" lIns="0" tIns="0" rIns="0" bIns="0" rtlCol="0" anchor="t">
            <a:spAutoFit/>
          </a:bodyPr>
          <a:lstStyle/>
          <a:p>
            <a:pPr algn="ctr" indent="0" marL="0">
              <a:buNone/>
            </a:pPr>
            <a:r>
              <a:rPr lang="en-US" sz="600" dirty="0">
                <a:solidFill>
                  <a:srgbClr val="666666"/>
                </a:solidFill>
                <a:latin typeface="Segoe UI" pitchFamily="34" charset="0"/>
                <a:ea typeface="Segoe UI" pitchFamily="34" charset="-122"/>
                <a:cs typeface="Segoe UI" pitchFamily="34" charset="-120"/>
              </a:rPr>
              <a:t>Grayscale Conversion | Normalization | Noise Reduction</a:t>
            </a:r>
            <a:endParaRPr lang="en-US" sz="600" dirty="0"/>
          </a:p>
        </p:txBody>
      </p:sp>
      <p:pic>
        <p:nvPicPr>
          <p:cNvPr id="12" name="Image 2" descr="preencoded.png">    </p:cNvPr>
          <p:cNvPicPr>
            <a:picLocks noChangeAspect="1"/>
          </p:cNvPicPr>
          <p:nvPr/>
        </p:nvPicPr>
        <p:blipFill>
          <a:blip r:embed="rId3"/>
          <a:stretch>
            <a:fillRect/>
          </a:stretch>
        </p:blipFill>
        <p:spPr>
          <a:xfrm>
            <a:off x="4523780" y="2007394"/>
            <a:ext cx="96441" cy="128588"/>
          </a:xfrm>
          <a:prstGeom prst="rect">
            <a:avLst/>
          </a:prstGeom>
        </p:spPr>
      </p:pic>
      <p:sp>
        <p:nvSpPr>
          <p:cNvPr id="13" name="Shape 7"/>
          <p:cNvSpPr/>
          <p:nvPr/>
        </p:nvSpPr>
        <p:spPr>
          <a:xfrm>
            <a:off x="1457325" y="2193131"/>
            <a:ext cx="2000250" cy="571500"/>
          </a:xfrm>
          <a:prstGeom prst="rect">
            <a:avLst/>
          </a:prstGeom>
          <a:solidFill>
            <a:srgbClr val="F0FAFA"/>
          </a:solidFill>
          <a:ln w="9144">
            <a:solidFill>
              <a:srgbClr val="008080"/>
            </a:solidFill>
            <a:prstDash val="solid"/>
          </a:ln>
        </p:spPr>
      </p:sp>
      <p:sp>
        <p:nvSpPr>
          <p:cNvPr id="14" name="Text 8"/>
          <p:cNvSpPr/>
          <p:nvPr/>
        </p:nvSpPr>
        <p:spPr>
          <a:xfrm>
            <a:off x="1543050" y="2250281"/>
            <a:ext cx="1828800" cy="132159"/>
          </a:xfrm>
          <a:prstGeom prst="rect">
            <a:avLst/>
          </a:prstGeom>
          <a:noFill/>
          <a:ln/>
        </p:spPr>
        <p:txBody>
          <a:bodyPr wrap="square" lIns="0" tIns="0" rIns="0" bIns="0" rtlCol="0" anchor="t">
            <a:spAutoFit/>
          </a:bodyPr>
          <a:lstStyle/>
          <a:p>
            <a:pPr algn="ctr" indent="0" marL="0">
              <a:buNone/>
            </a:pPr>
            <a:r>
              <a:rPr lang="en-US" sz="800" b="1" dirty="0">
                <a:solidFill>
                  <a:srgbClr val="008080"/>
                </a:solidFill>
                <a:latin typeface="Segoe UI" pitchFamily="34" charset="0"/>
                <a:ea typeface="Segoe UI" pitchFamily="34" charset="-122"/>
                <a:cs typeface="Segoe UI" pitchFamily="34" charset="-120"/>
              </a:rPr>
              <a:t>BRANCH 1</a:t>
            </a:r>
            <a:endParaRPr lang="en-US" sz="800" dirty="0"/>
          </a:p>
        </p:txBody>
      </p:sp>
      <p:sp>
        <p:nvSpPr>
          <p:cNvPr id="15" name="Text 9"/>
          <p:cNvSpPr/>
          <p:nvPr/>
        </p:nvSpPr>
        <p:spPr>
          <a:xfrm>
            <a:off x="1543050" y="2411016"/>
            <a:ext cx="1828800" cy="200025"/>
          </a:xfrm>
          <a:prstGeom prst="rect">
            <a:avLst/>
          </a:prstGeom>
          <a:noFill/>
          <a:ln/>
        </p:spPr>
        <p:txBody>
          <a:bodyPr wrap="square" lIns="0" tIns="0" rIns="0" bIns="0" rtlCol="0" anchor="t">
            <a:spAutoFit/>
          </a:bodyPr>
          <a:lstStyle/>
          <a:p>
            <a:pPr algn="ctr" indent="0" marL="0">
              <a:buNone/>
            </a:pPr>
            <a:r>
              <a:rPr lang="en-US" sz="600" dirty="0">
                <a:solidFill>
                  <a:srgbClr val="666666"/>
                </a:solidFill>
                <a:latin typeface="Segoe UI" pitchFamily="34" charset="0"/>
                <a:ea typeface="Segoe UI" pitchFamily="34" charset="-122"/>
                <a:cs typeface="Segoe UI" pitchFamily="34" charset="-120"/>
              </a:rPr>
              <a:t>Single-Scale LBP</a:t>
            </a:r>
            <a:r>
              <a:rPr lang="en-US" sz="600" dirty="0">
                <a:solidFill>
                  <a:srgbClr val="666666"/>
                </a:solidFill>
                <a:latin typeface="Segoe UI" pitchFamily="34" charset="0"/>
                <a:ea typeface="Segoe UI" pitchFamily="34" charset="-122"/>
                <a:cs typeface="Segoe UI" pitchFamily="34" charset="-120"/>
              </a:rPr>
              <a:t>
</a:t>
            </a:r>
            <a:r>
              <a:rPr lang="en-US" sz="600" dirty="0">
                <a:solidFill>
                  <a:srgbClr val="666666"/>
                </a:solidFill>
                <a:latin typeface="Segoe UI" pitchFamily="34" charset="0"/>
                <a:ea typeface="Segoe UI" pitchFamily="34" charset="-122"/>
                <a:cs typeface="Segoe UI" pitchFamily="34" charset="-120"/>
              </a:rPr>
              <a:t>(Baseline)</a:t>
            </a:r>
            <a:endParaRPr lang="en-US" sz="600" dirty="0"/>
          </a:p>
        </p:txBody>
      </p:sp>
      <p:sp>
        <p:nvSpPr>
          <p:cNvPr id="16" name="Shape 10"/>
          <p:cNvSpPr/>
          <p:nvPr/>
        </p:nvSpPr>
        <p:spPr>
          <a:xfrm>
            <a:off x="3571875" y="2193131"/>
            <a:ext cx="2000250" cy="571500"/>
          </a:xfrm>
          <a:prstGeom prst="rect">
            <a:avLst/>
          </a:prstGeom>
          <a:solidFill>
            <a:srgbClr val="F0FAFA"/>
          </a:solidFill>
          <a:ln w="9144">
            <a:solidFill>
              <a:srgbClr val="008080"/>
            </a:solidFill>
            <a:prstDash val="solid"/>
          </a:ln>
        </p:spPr>
      </p:sp>
      <p:sp>
        <p:nvSpPr>
          <p:cNvPr id="17" name="Text 11"/>
          <p:cNvSpPr/>
          <p:nvPr/>
        </p:nvSpPr>
        <p:spPr>
          <a:xfrm>
            <a:off x="3657600" y="2250281"/>
            <a:ext cx="1828800" cy="132159"/>
          </a:xfrm>
          <a:prstGeom prst="rect">
            <a:avLst/>
          </a:prstGeom>
          <a:noFill/>
          <a:ln/>
        </p:spPr>
        <p:txBody>
          <a:bodyPr wrap="square" lIns="0" tIns="0" rIns="0" bIns="0" rtlCol="0" anchor="t">
            <a:spAutoFit/>
          </a:bodyPr>
          <a:lstStyle/>
          <a:p>
            <a:pPr algn="ctr" indent="0" marL="0">
              <a:buNone/>
            </a:pPr>
            <a:r>
              <a:rPr lang="en-US" sz="800" b="1" dirty="0">
                <a:solidFill>
                  <a:srgbClr val="008080"/>
                </a:solidFill>
                <a:latin typeface="Segoe UI" pitchFamily="34" charset="0"/>
                <a:ea typeface="Segoe UI" pitchFamily="34" charset="-122"/>
                <a:cs typeface="Segoe UI" pitchFamily="34" charset="-120"/>
              </a:rPr>
              <a:t>BRANCH 2</a:t>
            </a:r>
            <a:endParaRPr lang="en-US" sz="800" dirty="0"/>
          </a:p>
        </p:txBody>
      </p:sp>
      <p:sp>
        <p:nvSpPr>
          <p:cNvPr id="18" name="Text 12"/>
          <p:cNvSpPr/>
          <p:nvPr/>
        </p:nvSpPr>
        <p:spPr>
          <a:xfrm>
            <a:off x="3657600" y="2411016"/>
            <a:ext cx="1828800" cy="200025"/>
          </a:xfrm>
          <a:prstGeom prst="rect">
            <a:avLst/>
          </a:prstGeom>
          <a:noFill/>
          <a:ln/>
        </p:spPr>
        <p:txBody>
          <a:bodyPr wrap="square" lIns="0" tIns="0" rIns="0" bIns="0" rtlCol="0" anchor="t">
            <a:spAutoFit/>
          </a:bodyPr>
          <a:lstStyle/>
          <a:p>
            <a:pPr algn="ctr" indent="0" marL="0">
              <a:buNone/>
            </a:pPr>
            <a:r>
              <a:rPr lang="en-US" sz="600" dirty="0">
                <a:solidFill>
                  <a:srgbClr val="666666"/>
                </a:solidFill>
                <a:latin typeface="Segoe UI" pitchFamily="34" charset="0"/>
                <a:ea typeface="Segoe UI" pitchFamily="34" charset="-122"/>
                <a:cs typeface="Segoe UI" pitchFamily="34" charset="-120"/>
              </a:rPr>
              <a:t>Multi-Scale LBP</a:t>
            </a:r>
            <a:r>
              <a:rPr lang="en-US" sz="600" dirty="0">
                <a:solidFill>
                  <a:srgbClr val="666666"/>
                </a:solidFill>
                <a:latin typeface="Segoe UI" pitchFamily="34" charset="0"/>
                <a:ea typeface="Segoe UI" pitchFamily="34" charset="-122"/>
                <a:cs typeface="Segoe UI" pitchFamily="34" charset="-120"/>
              </a:rPr>
              <a:t>
</a:t>
            </a:r>
            <a:r>
              <a:rPr lang="en-US" sz="600" dirty="0">
                <a:solidFill>
                  <a:srgbClr val="666666"/>
                </a:solidFill>
                <a:latin typeface="Segoe UI" pitchFamily="34" charset="0"/>
                <a:ea typeface="Segoe UI" pitchFamily="34" charset="-122"/>
                <a:cs typeface="Segoe UI" pitchFamily="34" charset="-120"/>
              </a:rPr>
              <a:t>(Improved)</a:t>
            </a:r>
            <a:endParaRPr lang="en-US" sz="600" dirty="0"/>
          </a:p>
        </p:txBody>
      </p:sp>
      <p:sp>
        <p:nvSpPr>
          <p:cNvPr id="19" name="Shape 13"/>
          <p:cNvSpPr/>
          <p:nvPr/>
        </p:nvSpPr>
        <p:spPr>
          <a:xfrm>
            <a:off x="5686425" y="2193131"/>
            <a:ext cx="2000250" cy="571500"/>
          </a:xfrm>
          <a:prstGeom prst="rect">
            <a:avLst/>
          </a:prstGeom>
          <a:solidFill>
            <a:srgbClr val="F0FAFA"/>
          </a:solidFill>
          <a:ln w="9144">
            <a:solidFill>
              <a:srgbClr val="008080"/>
            </a:solidFill>
            <a:prstDash val="solid"/>
          </a:ln>
        </p:spPr>
      </p:sp>
      <p:sp>
        <p:nvSpPr>
          <p:cNvPr id="20" name="Text 14"/>
          <p:cNvSpPr/>
          <p:nvPr/>
        </p:nvSpPr>
        <p:spPr>
          <a:xfrm>
            <a:off x="5772150" y="2250281"/>
            <a:ext cx="1828800" cy="132159"/>
          </a:xfrm>
          <a:prstGeom prst="rect">
            <a:avLst/>
          </a:prstGeom>
          <a:noFill/>
          <a:ln/>
        </p:spPr>
        <p:txBody>
          <a:bodyPr wrap="square" lIns="0" tIns="0" rIns="0" bIns="0" rtlCol="0" anchor="t">
            <a:spAutoFit/>
          </a:bodyPr>
          <a:lstStyle/>
          <a:p>
            <a:pPr algn="ctr" indent="0" marL="0">
              <a:buNone/>
            </a:pPr>
            <a:r>
              <a:rPr lang="en-US" sz="800" b="1" dirty="0">
                <a:solidFill>
                  <a:srgbClr val="008080"/>
                </a:solidFill>
                <a:latin typeface="Segoe UI" pitchFamily="34" charset="0"/>
                <a:ea typeface="Segoe UI" pitchFamily="34" charset="-122"/>
                <a:cs typeface="Segoe UI" pitchFamily="34" charset="-120"/>
              </a:rPr>
              <a:t>BRANCH 3</a:t>
            </a:r>
            <a:endParaRPr lang="en-US" sz="800" dirty="0"/>
          </a:p>
        </p:txBody>
      </p:sp>
      <p:sp>
        <p:nvSpPr>
          <p:cNvPr id="21" name="Text 15"/>
          <p:cNvSpPr/>
          <p:nvPr/>
        </p:nvSpPr>
        <p:spPr>
          <a:xfrm>
            <a:off x="5772150" y="2411016"/>
            <a:ext cx="1828800" cy="200025"/>
          </a:xfrm>
          <a:prstGeom prst="rect">
            <a:avLst/>
          </a:prstGeom>
          <a:noFill/>
          <a:ln/>
        </p:spPr>
        <p:txBody>
          <a:bodyPr wrap="square" lIns="0" tIns="0" rIns="0" bIns="0" rtlCol="0" anchor="t">
            <a:spAutoFit/>
          </a:bodyPr>
          <a:lstStyle/>
          <a:p>
            <a:pPr algn="ctr" indent="0" marL="0">
              <a:buNone/>
            </a:pPr>
            <a:r>
              <a:rPr lang="en-US" sz="600" dirty="0">
                <a:solidFill>
                  <a:srgbClr val="666666"/>
                </a:solidFill>
                <a:latin typeface="Segoe UI" pitchFamily="34" charset="0"/>
                <a:ea typeface="Segoe UI" pitchFamily="34" charset="-122"/>
                <a:cs typeface="Segoe UI" pitchFamily="34" charset="-120"/>
              </a:rPr>
              <a:t>Multi-Scale LBP + GLCM</a:t>
            </a:r>
            <a:r>
              <a:rPr lang="en-US" sz="600" dirty="0">
                <a:solidFill>
                  <a:srgbClr val="666666"/>
                </a:solidFill>
                <a:latin typeface="Segoe UI" pitchFamily="34" charset="0"/>
                <a:ea typeface="Segoe UI" pitchFamily="34" charset="-122"/>
                <a:cs typeface="Segoe UI" pitchFamily="34" charset="-120"/>
              </a:rPr>
              <a:t>
</a:t>
            </a:r>
            <a:r>
              <a:rPr lang="en-US" sz="600" dirty="0">
                <a:solidFill>
                  <a:srgbClr val="666666"/>
                </a:solidFill>
                <a:latin typeface="Segoe UI" pitchFamily="34" charset="0"/>
                <a:ea typeface="Segoe UI" pitchFamily="34" charset="-122"/>
                <a:cs typeface="Segoe UI" pitchFamily="34" charset="-120"/>
              </a:rPr>
              <a:t>(Advanced)</a:t>
            </a:r>
            <a:endParaRPr lang="en-US" sz="600" dirty="0"/>
          </a:p>
        </p:txBody>
      </p:sp>
      <p:pic>
        <p:nvPicPr>
          <p:cNvPr id="22" name="Image 3" descr="preencoded.png">    </p:cNvPr>
          <p:cNvPicPr>
            <a:picLocks noChangeAspect="1"/>
          </p:cNvPicPr>
          <p:nvPr/>
        </p:nvPicPr>
        <p:blipFill>
          <a:blip r:embed="rId4"/>
          <a:stretch>
            <a:fillRect/>
          </a:stretch>
        </p:blipFill>
        <p:spPr>
          <a:xfrm>
            <a:off x="4523780" y="2814638"/>
            <a:ext cx="96441" cy="128588"/>
          </a:xfrm>
          <a:prstGeom prst="rect">
            <a:avLst/>
          </a:prstGeom>
        </p:spPr>
      </p:pic>
      <p:sp>
        <p:nvSpPr>
          <p:cNvPr id="23" name="Shape 16"/>
          <p:cNvSpPr/>
          <p:nvPr/>
        </p:nvSpPr>
        <p:spPr>
          <a:xfrm>
            <a:off x="3143250" y="3000375"/>
            <a:ext cx="2857500" cy="571500"/>
          </a:xfrm>
          <a:prstGeom prst="rect">
            <a:avLst/>
          </a:prstGeom>
          <a:solidFill>
            <a:srgbClr val="FFFFFF"/>
          </a:solidFill>
          <a:ln w="9144">
            <a:solidFill>
              <a:srgbClr val="0A192F"/>
            </a:solidFill>
            <a:prstDash val="solid"/>
          </a:ln>
        </p:spPr>
      </p:sp>
      <p:sp>
        <p:nvSpPr>
          <p:cNvPr id="24" name="Text 17"/>
          <p:cNvSpPr/>
          <p:nvPr/>
        </p:nvSpPr>
        <p:spPr>
          <a:xfrm>
            <a:off x="3257550" y="3057525"/>
            <a:ext cx="2628900" cy="132159"/>
          </a:xfrm>
          <a:prstGeom prst="rect">
            <a:avLst/>
          </a:prstGeom>
          <a:noFill/>
          <a:ln/>
        </p:spPr>
        <p:txBody>
          <a:bodyPr wrap="square" lIns="0" tIns="0" rIns="0" bIns="0" rtlCol="0" anchor="t">
            <a:spAutoFit/>
          </a:bodyPr>
          <a:lstStyle/>
          <a:p>
            <a:pPr algn="ctr" indent="0" marL="0">
              <a:buNone/>
            </a:pPr>
            <a:r>
              <a:rPr lang="en-US" sz="800" b="1" dirty="0">
                <a:solidFill>
                  <a:srgbClr val="0A192F"/>
                </a:solidFill>
                <a:latin typeface="Segoe UI" pitchFamily="34" charset="0"/>
                <a:ea typeface="Segoe UI" pitchFamily="34" charset="-122"/>
                <a:cs typeface="Segoe UI" pitchFamily="34" charset="-120"/>
              </a:rPr>
              <a:t>FEATURE ENGINEERING</a:t>
            </a:r>
            <a:endParaRPr lang="en-US" sz="800" dirty="0"/>
          </a:p>
        </p:txBody>
      </p:sp>
      <p:sp>
        <p:nvSpPr>
          <p:cNvPr id="25" name="Text 18"/>
          <p:cNvSpPr/>
          <p:nvPr/>
        </p:nvSpPr>
        <p:spPr>
          <a:xfrm>
            <a:off x="3257550" y="3218259"/>
            <a:ext cx="2628900" cy="100013"/>
          </a:xfrm>
          <a:prstGeom prst="rect">
            <a:avLst/>
          </a:prstGeom>
          <a:noFill/>
          <a:ln/>
        </p:spPr>
        <p:txBody>
          <a:bodyPr wrap="square" lIns="0" tIns="0" rIns="0" bIns="0" rtlCol="0" anchor="t">
            <a:spAutoFit/>
          </a:bodyPr>
          <a:lstStyle/>
          <a:p>
            <a:pPr algn="ctr" indent="0" marL="0">
              <a:buNone/>
            </a:pPr>
            <a:r>
              <a:rPr lang="en-US" sz="600" dirty="0">
                <a:solidFill>
                  <a:srgbClr val="666666"/>
                </a:solidFill>
                <a:latin typeface="Segoe UI" pitchFamily="34" charset="0"/>
                <a:ea typeface="Segoe UI" pitchFamily="34" charset="-122"/>
                <a:cs typeface="Segoe UI" pitchFamily="34" charset="-120"/>
              </a:rPr>
              <a:t>Concatenation | Normalization | Selection (PCA / SelectKBest)</a:t>
            </a:r>
            <a:endParaRPr lang="en-US" sz="600" dirty="0"/>
          </a:p>
        </p:txBody>
      </p:sp>
      <p:pic>
        <p:nvPicPr>
          <p:cNvPr id="26" name="Image 4" descr="preencoded.png">    </p:cNvPr>
          <p:cNvPicPr>
            <a:picLocks noChangeAspect="1"/>
          </p:cNvPicPr>
          <p:nvPr/>
        </p:nvPicPr>
        <p:blipFill>
          <a:blip r:embed="rId5"/>
          <a:stretch>
            <a:fillRect/>
          </a:stretch>
        </p:blipFill>
        <p:spPr>
          <a:xfrm>
            <a:off x="4523780" y="3621881"/>
            <a:ext cx="96441" cy="128588"/>
          </a:xfrm>
          <a:prstGeom prst="rect">
            <a:avLst/>
          </a:prstGeom>
        </p:spPr>
      </p:pic>
      <p:sp>
        <p:nvSpPr>
          <p:cNvPr id="27" name="Shape 19"/>
          <p:cNvSpPr/>
          <p:nvPr/>
        </p:nvSpPr>
        <p:spPr>
          <a:xfrm>
            <a:off x="3429000" y="3807619"/>
            <a:ext cx="2286000" cy="500063"/>
          </a:xfrm>
          <a:prstGeom prst="rect">
            <a:avLst/>
          </a:prstGeom>
          <a:solidFill>
            <a:srgbClr val="FFFFFF"/>
          </a:solidFill>
          <a:ln w="9144">
            <a:solidFill>
              <a:srgbClr val="0A192F"/>
            </a:solidFill>
            <a:prstDash val="solid"/>
          </a:ln>
        </p:spPr>
      </p:sp>
      <p:sp>
        <p:nvSpPr>
          <p:cNvPr id="28" name="Text 20"/>
          <p:cNvSpPr/>
          <p:nvPr/>
        </p:nvSpPr>
        <p:spPr>
          <a:xfrm>
            <a:off x="3543300" y="3955852"/>
            <a:ext cx="2057400" cy="132159"/>
          </a:xfrm>
          <a:prstGeom prst="rect">
            <a:avLst/>
          </a:prstGeom>
          <a:noFill/>
          <a:ln/>
        </p:spPr>
        <p:txBody>
          <a:bodyPr wrap="square" lIns="0" tIns="0" rIns="0" bIns="0" rtlCol="0" anchor="t">
            <a:spAutoFit/>
          </a:bodyPr>
          <a:lstStyle/>
          <a:p>
            <a:pPr algn="ctr" indent="0" marL="0">
              <a:buNone/>
            </a:pPr>
            <a:r>
              <a:rPr lang="en-US" sz="800" b="1" dirty="0">
                <a:solidFill>
                  <a:srgbClr val="0A192F"/>
                </a:solidFill>
                <a:latin typeface="Segoe UI" pitchFamily="34" charset="0"/>
                <a:ea typeface="Segoe UI" pitchFamily="34" charset="-122"/>
                <a:cs typeface="Segoe UI" pitchFamily="34" charset="-120"/>
              </a:rPr>
              <a:t>SVM CLASSIFIER</a:t>
            </a:r>
            <a:endParaRPr lang="en-US" sz="800" dirty="0"/>
          </a:p>
        </p:txBody>
      </p:sp>
      <p:sp>
        <p:nvSpPr>
          <p:cNvPr id="29" name="Text 21"/>
          <p:cNvSpPr/>
          <p:nvPr/>
        </p:nvSpPr>
        <p:spPr>
          <a:xfrm>
            <a:off x="3543300" y="4116586"/>
            <a:ext cx="2057400" cy="100013"/>
          </a:xfrm>
          <a:prstGeom prst="rect">
            <a:avLst/>
          </a:prstGeom>
          <a:noFill/>
          <a:ln/>
        </p:spPr>
        <p:txBody>
          <a:bodyPr wrap="square" lIns="0" tIns="0" rIns="0" bIns="0" rtlCol="0" anchor="t">
            <a:spAutoFit/>
          </a:bodyPr>
          <a:lstStyle/>
          <a:p>
            <a:pPr algn="ctr" indent="0" marL="0">
              <a:buNone/>
            </a:pPr>
            <a:r>
              <a:rPr lang="en-US" sz="600" dirty="0">
                <a:solidFill>
                  <a:srgbClr val="666666"/>
                </a:solidFill>
                <a:latin typeface="Segoe UI" pitchFamily="34" charset="0"/>
                <a:ea typeface="Segoe UI" pitchFamily="34" charset="-122"/>
                <a:cs typeface="Segoe UI" pitchFamily="34" charset="-120"/>
              </a:rPr>
              <a:t>Linear / RBF Kernel Optimization</a:t>
            </a:r>
            <a:endParaRPr lang="en-US" sz="600" dirty="0"/>
          </a:p>
        </p:txBody>
      </p:sp>
      <p:pic>
        <p:nvPicPr>
          <p:cNvPr id="30" name="Image 5" descr="preencoded.png">    </p:cNvPr>
          <p:cNvPicPr>
            <a:picLocks noChangeAspect="1"/>
          </p:cNvPicPr>
          <p:nvPr/>
        </p:nvPicPr>
        <p:blipFill>
          <a:blip r:embed="rId6"/>
          <a:stretch>
            <a:fillRect/>
          </a:stretch>
        </p:blipFill>
        <p:spPr>
          <a:xfrm>
            <a:off x="4523780" y="4357688"/>
            <a:ext cx="96441" cy="128588"/>
          </a:xfrm>
          <a:prstGeom prst="rect">
            <a:avLst/>
          </a:prstGeom>
        </p:spPr>
      </p:pic>
      <p:sp>
        <p:nvSpPr>
          <p:cNvPr id="31" name="Shape 22"/>
          <p:cNvSpPr/>
          <p:nvPr/>
        </p:nvSpPr>
        <p:spPr>
          <a:xfrm>
            <a:off x="3679031" y="4543425"/>
            <a:ext cx="1785938" cy="428625"/>
          </a:xfrm>
          <a:prstGeom prst="rect">
            <a:avLst/>
          </a:prstGeom>
          <a:solidFill>
            <a:srgbClr val="FFF5F2"/>
          </a:solidFill>
          <a:ln w="18288">
            <a:solidFill>
              <a:srgbClr val="D95D39"/>
            </a:solidFill>
            <a:prstDash val="solid"/>
          </a:ln>
        </p:spPr>
      </p:sp>
      <p:sp>
        <p:nvSpPr>
          <p:cNvPr id="32" name="Text 23"/>
          <p:cNvSpPr/>
          <p:nvPr/>
        </p:nvSpPr>
        <p:spPr>
          <a:xfrm>
            <a:off x="3679031" y="4543425"/>
            <a:ext cx="1785938" cy="428625"/>
          </a:xfrm>
          <a:prstGeom prst="rect">
            <a:avLst/>
          </a:prstGeom>
          <a:noFill/>
          <a:ln/>
        </p:spPr>
        <p:txBody>
          <a:bodyPr wrap="square" lIns="170053" tIns="68072" rIns="170053" bIns="0" rtlCol="0" anchor="t">
            <a:spAutoFit/>
          </a:bodyPr>
          <a:lstStyle/>
          <a:p>
            <a:pPr algn="ctr" indent="0" marL="0">
              <a:buNone/>
            </a:pPr>
            <a:r>
              <a:rPr lang="en-US" sz="800" b="1" dirty="0">
                <a:solidFill>
                  <a:srgbClr val="0A192F"/>
                </a:solidFill>
                <a:latin typeface="Segoe UI" pitchFamily="34" charset="0"/>
                <a:ea typeface="Segoe UI" pitchFamily="34" charset="-122"/>
                <a:cs typeface="Segoe UI" pitchFamily="34" charset="-120"/>
              </a:rPr>
              <a:t>NORMAL / DEFECTIVE</a:t>
            </a:r>
            <a:endParaRPr lang="en-US" sz="800" dirty="0"/>
          </a:p>
        </p:txBody>
      </p:sp>
      <p:sp>
        <p:nvSpPr>
          <p:cNvPr id="33" name="Shape 24"/>
          <p:cNvSpPr/>
          <p:nvPr/>
        </p:nvSpPr>
        <p:spPr>
          <a:xfrm>
            <a:off x="428625" y="4436269"/>
            <a:ext cx="2857500" cy="278606"/>
          </a:xfrm>
          <a:prstGeom prst="rect">
            <a:avLst/>
          </a:prstGeom>
          <a:solidFill>
            <a:srgbClr val="000000">
              <a:alpha val="0"/>
            </a:srgbClr>
          </a:solidFill>
          <a:ln/>
        </p:spPr>
      </p:sp>
      <p:sp>
        <p:nvSpPr>
          <p:cNvPr id="34" name="Shape 25"/>
          <p:cNvSpPr/>
          <p:nvPr/>
        </p:nvSpPr>
        <p:spPr>
          <a:xfrm>
            <a:off x="428625" y="4436269"/>
            <a:ext cx="2857500" cy="7144"/>
          </a:xfrm>
          <a:prstGeom prst="rect">
            <a:avLst/>
          </a:prstGeom>
          <a:solidFill>
            <a:srgbClr val="DDDDDD"/>
          </a:solidFill>
          <a:ln/>
        </p:spPr>
      </p:sp>
      <p:sp>
        <p:nvSpPr>
          <p:cNvPr id="35" name="Text 26"/>
          <p:cNvSpPr/>
          <p:nvPr/>
        </p:nvSpPr>
        <p:spPr>
          <a:xfrm>
            <a:off x="428625" y="4436269"/>
            <a:ext cx="2857500" cy="278606"/>
          </a:xfrm>
          <a:prstGeom prst="rect">
            <a:avLst/>
          </a:prstGeom>
          <a:noFill/>
          <a:ln/>
        </p:spPr>
        <p:txBody>
          <a:bodyPr wrap="square" lIns="0" tIns="85090" rIns="0" bIns="0" rtlCol="0" anchor="t">
            <a:spAutoFit/>
          </a:bodyPr>
          <a:lstStyle/>
          <a:p>
            <a:pPr algn="l" indent="0" marL="0">
              <a:buNone/>
            </a:pPr>
            <a:r>
              <a:rPr lang="en-US" sz="600" dirty="0">
                <a:solidFill>
                  <a:srgbClr val="888888"/>
                </a:solidFill>
                <a:latin typeface="Segoe UI" pitchFamily="34" charset="0"/>
                <a:ea typeface="Segoe UI" pitchFamily="34" charset="-122"/>
                <a:cs typeface="Segoe UI" pitchFamily="34" charset="-120"/>
              </a:rPr>
              <a:t>* Reproducibility Note: Fixed preprocessing, documented train/test protocol, and consistent feature scaling across all pipelines.</a:t>
            </a:r>
            <a:endParaRPr lang="en-US" sz="600" dirty="0"/>
          </a:p>
        </p:txBody>
      </p:sp>
      <p:sp>
        <p:nvSpPr>
          <p:cNvPr id="36" name="Text 27"/>
          <p:cNvSpPr/>
          <p:nvPr/>
        </p:nvSpPr>
        <p:spPr>
          <a:xfrm>
            <a:off x="7363699" y="4900613"/>
            <a:ext cx="1351676" cy="100013"/>
          </a:xfrm>
          <a:prstGeom prst="rect">
            <a:avLst/>
          </a:prstGeom>
          <a:noFill/>
          <a:ln/>
        </p:spPr>
        <p:txBody>
          <a:bodyPr wrap="square" lIns="0" tIns="0" rIns="0" bIns="0" rtlCol="0" anchor="t">
            <a:spAutoFit/>
          </a:bodyPr>
          <a:lstStyle/>
          <a:p>
            <a:pPr algn="l" indent="0" marL="0">
              <a:buNone/>
            </a:pPr>
            <a:r>
              <a:rPr lang="en-US" sz="600" dirty="0">
                <a:solidFill>
                  <a:srgbClr val="888888"/>
                </a:solidFill>
                <a:latin typeface="Segoe UI" pitchFamily="34" charset="0"/>
                <a:ea typeface="Segoe UI" pitchFamily="34" charset="-122"/>
                <a:cs typeface="Segoe UI" pitchFamily="34" charset="-120"/>
              </a:rPr>
              <a:t>Page 7 | Review-1 Project Proposal</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364956"/>
          </a:xfrm>
          <a:prstGeom prst="rect">
            <a:avLst/>
          </a:prstGeom>
        </p:spPr>
      </p:pic>
      <p:sp>
        <p:nvSpPr>
          <p:cNvPr id="4" name="Text 0"/>
          <p:cNvSpPr/>
          <p:nvPr/>
        </p:nvSpPr>
        <p:spPr>
          <a:xfrm>
            <a:off x="428625" y="285750"/>
            <a:ext cx="3018011" cy="307181"/>
          </a:xfrm>
          <a:prstGeom prst="rect">
            <a:avLst/>
          </a:prstGeom>
          <a:noFill/>
          <a:ln/>
        </p:spPr>
        <p:txBody>
          <a:bodyPr wrap="square" lIns="0" tIns="0" rIns="0" bIns="42545" rtlCol="0" anchor="t">
            <a:spAutoFit/>
          </a:bodyPr>
          <a:lstStyle/>
          <a:p>
            <a:pPr algn="l" indent="0" marL="0">
              <a:buNone/>
            </a:pPr>
            <a:r>
              <a:rPr lang="en-US" sz="1700" dirty="0">
                <a:solidFill>
                  <a:srgbClr val="0A192F"/>
                </a:solidFill>
                <a:latin typeface="Courier New" pitchFamily="34" charset="0"/>
                <a:ea typeface="Courier New" pitchFamily="34" charset="-122"/>
                <a:cs typeface="Courier New" pitchFamily="34" charset="-120"/>
              </a:rPr>
              <a:t>EXPERIMENTAL PIPELINES</a:t>
            </a:r>
            <a:endParaRPr lang="en-US" sz="1700" dirty="0"/>
          </a:p>
        </p:txBody>
      </p:sp>
      <p:sp>
        <p:nvSpPr>
          <p:cNvPr id="5" name="Shape 1"/>
          <p:cNvSpPr/>
          <p:nvPr/>
        </p:nvSpPr>
        <p:spPr>
          <a:xfrm>
            <a:off x="428625" y="878681"/>
            <a:ext cx="2619356" cy="3486150"/>
          </a:xfrm>
          <a:prstGeom prst="rect">
            <a:avLst/>
          </a:prstGeom>
          <a:solidFill>
            <a:srgbClr val="FFFFFF"/>
          </a:solidFill>
          <a:ln w="9144">
            <a:solidFill>
              <a:srgbClr val="0A192F">
                <a:alpha val="10000"/>
              </a:srgbClr>
            </a:solidFill>
            <a:prstDash val="solid"/>
          </a:ln>
        </p:spPr>
      </p:sp>
      <p:sp>
        <p:nvSpPr>
          <p:cNvPr id="6" name="Text 2"/>
          <p:cNvSpPr/>
          <p:nvPr/>
        </p:nvSpPr>
        <p:spPr>
          <a:xfrm>
            <a:off x="428625" y="1021556"/>
            <a:ext cx="2609869" cy="228600"/>
          </a:xfrm>
          <a:prstGeom prst="rect">
            <a:avLst/>
          </a:prstGeom>
          <a:noFill/>
          <a:ln/>
        </p:spPr>
        <p:txBody>
          <a:bodyPr wrap="square" lIns="0" tIns="0" rIns="0" bIns="85090" rtlCol="0" anchor="t">
            <a:spAutoFit/>
          </a:bodyPr>
          <a:lstStyle/>
          <a:p>
            <a:pPr algn="ctr" indent="0" marL="0">
              <a:buNone/>
            </a:pPr>
            <a:r>
              <a:rPr lang="en-US" sz="900" b="1" spc="1" kern="0" dirty="0">
                <a:solidFill>
                  <a:srgbClr val="0A192F"/>
                </a:solidFill>
                <a:latin typeface="Segoe UI" pitchFamily="34" charset="0"/>
                <a:ea typeface="Segoe UI" pitchFamily="34" charset="-122"/>
                <a:cs typeface="Segoe UI" pitchFamily="34" charset="-120"/>
              </a:rPr>
              <a:t>PIPELINE 1: BASELINE</a:t>
            </a:r>
            <a:endParaRPr lang="en-US" sz="900" dirty="0"/>
          </a:p>
        </p:txBody>
      </p:sp>
      <p:sp>
        <p:nvSpPr>
          <p:cNvPr id="7" name="Shape 3"/>
          <p:cNvSpPr/>
          <p:nvPr/>
        </p:nvSpPr>
        <p:spPr>
          <a:xfrm>
            <a:off x="947719" y="1393031"/>
            <a:ext cx="1571625" cy="357188"/>
          </a:xfrm>
          <a:prstGeom prst="rect">
            <a:avLst/>
          </a:prstGeom>
          <a:solidFill>
            <a:srgbClr val="FFFFFF"/>
          </a:solidFill>
          <a:ln w="9144">
            <a:solidFill>
              <a:srgbClr val="333F48"/>
            </a:solidFill>
            <a:prstDash val="solid"/>
          </a:ln>
        </p:spPr>
      </p:sp>
      <p:sp>
        <p:nvSpPr>
          <p:cNvPr id="8" name="Text 4"/>
          <p:cNvSpPr/>
          <p:nvPr/>
        </p:nvSpPr>
        <p:spPr>
          <a:xfrm>
            <a:off x="947719" y="1393031"/>
            <a:ext cx="1571625" cy="357188"/>
          </a:xfrm>
          <a:prstGeom prst="rect">
            <a:avLst/>
          </a:prstGeom>
          <a:noFill/>
          <a:ln/>
        </p:spPr>
        <p:txBody>
          <a:bodyPr wrap="square" lIns="0" tIns="0" rIns="0" bIns="0" rtlCol="0" anchor="ctr">
            <a:spAutoFit/>
          </a:bodyPr>
          <a:lstStyle/>
          <a:p>
            <a:pPr algn="ctr" indent="0" marL="0">
              <a:buNone/>
            </a:pPr>
            <a:r>
              <a:rPr lang="en-US" sz="750" dirty="0">
                <a:solidFill>
                  <a:srgbClr val="333F48"/>
                </a:solidFill>
                <a:latin typeface="Segoe UI" pitchFamily="34" charset="0"/>
                <a:ea typeface="Segoe UI" pitchFamily="34" charset="-122"/>
                <a:cs typeface="Segoe UI" pitchFamily="34" charset="-120"/>
              </a:rPr>
              <a:t>Input Image</a:t>
            </a:r>
            <a:endParaRPr lang="en-US" sz="750" dirty="0"/>
          </a:p>
        </p:txBody>
      </p:sp>
      <p:pic>
        <p:nvPicPr>
          <p:cNvPr id="9" name="Image 1" descr="preencoded.png">    </p:cNvPr>
          <p:cNvPicPr>
            <a:picLocks noChangeAspect="1"/>
          </p:cNvPicPr>
          <p:nvPr/>
        </p:nvPicPr>
        <p:blipFill>
          <a:blip r:embed="rId2"/>
          <a:stretch>
            <a:fillRect/>
          </a:stretch>
        </p:blipFill>
        <p:spPr>
          <a:xfrm>
            <a:off x="1685311" y="1828800"/>
            <a:ext cx="96441" cy="128588"/>
          </a:xfrm>
          <a:prstGeom prst="rect">
            <a:avLst/>
          </a:prstGeom>
        </p:spPr>
      </p:pic>
      <p:sp>
        <p:nvSpPr>
          <p:cNvPr id="10" name="Shape 5"/>
          <p:cNvSpPr/>
          <p:nvPr/>
        </p:nvSpPr>
        <p:spPr>
          <a:xfrm>
            <a:off x="947719" y="2043113"/>
            <a:ext cx="1571625" cy="357188"/>
          </a:xfrm>
          <a:prstGeom prst="rect">
            <a:avLst/>
          </a:prstGeom>
          <a:solidFill>
            <a:srgbClr val="FFFFFF"/>
          </a:solidFill>
          <a:ln w="9144">
            <a:solidFill>
              <a:srgbClr val="333F48"/>
            </a:solidFill>
            <a:prstDash val="solid"/>
          </a:ln>
        </p:spPr>
      </p:sp>
      <p:sp>
        <p:nvSpPr>
          <p:cNvPr id="11" name="Text 6"/>
          <p:cNvSpPr/>
          <p:nvPr/>
        </p:nvSpPr>
        <p:spPr>
          <a:xfrm>
            <a:off x="947719" y="2043113"/>
            <a:ext cx="1571625" cy="357188"/>
          </a:xfrm>
          <a:prstGeom prst="rect">
            <a:avLst/>
          </a:prstGeom>
          <a:noFill/>
          <a:ln/>
        </p:spPr>
        <p:txBody>
          <a:bodyPr wrap="square" lIns="0" tIns="0" rIns="0" bIns="0" rtlCol="0" anchor="ctr">
            <a:spAutoFit/>
          </a:bodyPr>
          <a:lstStyle/>
          <a:p>
            <a:pPr algn="ctr" indent="0" marL="0">
              <a:buNone/>
            </a:pPr>
            <a:r>
              <a:rPr lang="en-US" sz="750" dirty="0">
                <a:solidFill>
                  <a:srgbClr val="333F48"/>
                </a:solidFill>
                <a:latin typeface="Segoe UI" pitchFamily="34" charset="0"/>
                <a:ea typeface="Segoe UI" pitchFamily="34" charset="-122"/>
                <a:cs typeface="Segoe UI" pitchFamily="34" charset="-120"/>
              </a:rPr>
              <a:t>Grayscale Conversion</a:t>
            </a:r>
            <a:endParaRPr lang="en-US" sz="750" dirty="0"/>
          </a:p>
        </p:txBody>
      </p:sp>
      <p:pic>
        <p:nvPicPr>
          <p:cNvPr id="12" name="Image 2" descr="preencoded.png">    </p:cNvPr>
          <p:cNvPicPr>
            <a:picLocks noChangeAspect="1"/>
          </p:cNvPicPr>
          <p:nvPr/>
        </p:nvPicPr>
        <p:blipFill>
          <a:blip r:embed="rId3"/>
          <a:stretch>
            <a:fillRect/>
          </a:stretch>
        </p:blipFill>
        <p:spPr>
          <a:xfrm>
            <a:off x="1685311" y="2478881"/>
            <a:ext cx="96441" cy="128588"/>
          </a:xfrm>
          <a:prstGeom prst="rect">
            <a:avLst/>
          </a:prstGeom>
        </p:spPr>
      </p:pic>
      <p:sp>
        <p:nvSpPr>
          <p:cNvPr id="13" name="Shape 7"/>
          <p:cNvSpPr/>
          <p:nvPr/>
        </p:nvSpPr>
        <p:spPr>
          <a:xfrm>
            <a:off x="947719" y="2693194"/>
            <a:ext cx="1571625" cy="357188"/>
          </a:xfrm>
          <a:prstGeom prst="rect">
            <a:avLst/>
          </a:prstGeom>
          <a:solidFill>
            <a:srgbClr val="FFFFFF"/>
          </a:solidFill>
          <a:ln w="9144">
            <a:solidFill>
              <a:srgbClr val="333F48"/>
            </a:solidFill>
            <a:prstDash val="solid"/>
          </a:ln>
        </p:spPr>
      </p:sp>
      <p:sp>
        <p:nvSpPr>
          <p:cNvPr id="14" name="Text 8"/>
          <p:cNvSpPr/>
          <p:nvPr/>
        </p:nvSpPr>
        <p:spPr>
          <a:xfrm>
            <a:off x="947719" y="2693194"/>
            <a:ext cx="1571625" cy="357188"/>
          </a:xfrm>
          <a:prstGeom prst="rect">
            <a:avLst/>
          </a:prstGeom>
          <a:noFill/>
          <a:ln/>
        </p:spPr>
        <p:txBody>
          <a:bodyPr wrap="square" lIns="0" tIns="0" rIns="0" bIns="0" rtlCol="0" anchor="ctr">
            <a:spAutoFit/>
          </a:bodyPr>
          <a:lstStyle/>
          <a:p>
            <a:pPr algn="ctr" indent="0" marL="0">
              <a:buNone/>
            </a:pPr>
            <a:r>
              <a:rPr lang="en-US" sz="750" dirty="0">
                <a:solidFill>
                  <a:srgbClr val="333F48"/>
                </a:solidFill>
                <a:latin typeface="Segoe UI" pitchFamily="34" charset="0"/>
                <a:ea typeface="Segoe UI" pitchFamily="34" charset="-122"/>
                <a:cs typeface="Segoe UI" pitchFamily="34" charset="-120"/>
              </a:rPr>
              <a:t>Single-Scale LBP</a:t>
            </a:r>
            <a:endParaRPr lang="en-US" sz="750" dirty="0"/>
          </a:p>
        </p:txBody>
      </p:sp>
      <p:pic>
        <p:nvPicPr>
          <p:cNvPr id="15" name="Image 3" descr="preencoded.png">    </p:cNvPr>
          <p:cNvPicPr>
            <a:picLocks noChangeAspect="1"/>
          </p:cNvPicPr>
          <p:nvPr/>
        </p:nvPicPr>
        <p:blipFill>
          <a:blip r:embed="rId4"/>
          <a:stretch>
            <a:fillRect/>
          </a:stretch>
        </p:blipFill>
        <p:spPr>
          <a:xfrm>
            <a:off x="1685311" y="3128963"/>
            <a:ext cx="96441" cy="128588"/>
          </a:xfrm>
          <a:prstGeom prst="rect">
            <a:avLst/>
          </a:prstGeom>
        </p:spPr>
      </p:pic>
      <p:sp>
        <p:nvSpPr>
          <p:cNvPr id="16" name="Shape 9"/>
          <p:cNvSpPr/>
          <p:nvPr/>
        </p:nvSpPr>
        <p:spPr>
          <a:xfrm>
            <a:off x="947719" y="3343275"/>
            <a:ext cx="1571625" cy="357188"/>
          </a:xfrm>
          <a:prstGeom prst="rect">
            <a:avLst/>
          </a:prstGeom>
          <a:solidFill>
            <a:srgbClr val="FFFFFF"/>
          </a:solidFill>
          <a:ln w="9144">
            <a:solidFill>
              <a:srgbClr val="333F48"/>
            </a:solidFill>
            <a:prstDash val="solid"/>
          </a:ln>
        </p:spPr>
      </p:sp>
      <p:sp>
        <p:nvSpPr>
          <p:cNvPr id="17" name="Text 10"/>
          <p:cNvSpPr/>
          <p:nvPr/>
        </p:nvSpPr>
        <p:spPr>
          <a:xfrm>
            <a:off x="947719" y="3343275"/>
            <a:ext cx="1571625" cy="357188"/>
          </a:xfrm>
          <a:prstGeom prst="rect">
            <a:avLst/>
          </a:prstGeom>
          <a:noFill/>
          <a:ln/>
        </p:spPr>
        <p:txBody>
          <a:bodyPr wrap="square" lIns="0" tIns="0" rIns="0" bIns="0" rtlCol="0" anchor="ctr">
            <a:spAutoFit/>
          </a:bodyPr>
          <a:lstStyle/>
          <a:p>
            <a:pPr algn="ctr" indent="0" marL="0">
              <a:buNone/>
            </a:pPr>
            <a:r>
              <a:rPr lang="en-US" sz="750" dirty="0">
                <a:solidFill>
                  <a:srgbClr val="333F48"/>
                </a:solidFill>
                <a:latin typeface="Segoe UI" pitchFamily="34" charset="0"/>
                <a:ea typeface="Segoe UI" pitchFamily="34" charset="-122"/>
                <a:cs typeface="Segoe UI" pitchFamily="34" charset="-120"/>
              </a:rPr>
              <a:t>Histogram Features</a:t>
            </a:r>
            <a:endParaRPr lang="en-US" sz="750" dirty="0"/>
          </a:p>
        </p:txBody>
      </p:sp>
      <p:pic>
        <p:nvPicPr>
          <p:cNvPr id="18" name="Image 4" descr="preencoded.png">    </p:cNvPr>
          <p:cNvPicPr>
            <a:picLocks noChangeAspect="1"/>
          </p:cNvPicPr>
          <p:nvPr/>
        </p:nvPicPr>
        <p:blipFill>
          <a:blip r:embed="rId5"/>
          <a:stretch>
            <a:fillRect/>
          </a:stretch>
        </p:blipFill>
        <p:spPr>
          <a:xfrm>
            <a:off x="1685311" y="3779044"/>
            <a:ext cx="96441" cy="128588"/>
          </a:xfrm>
          <a:prstGeom prst="rect">
            <a:avLst/>
          </a:prstGeom>
        </p:spPr>
      </p:pic>
      <p:sp>
        <p:nvSpPr>
          <p:cNvPr id="19" name="Shape 11"/>
          <p:cNvSpPr/>
          <p:nvPr/>
        </p:nvSpPr>
        <p:spPr>
          <a:xfrm>
            <a:off x="947719" y="3993356"/>
            <a:ext cx="1571625" cy="357188"/>
          </a:xfrm>
          <a:prstGeom prst="rect">
            <a:avLst/>
          </a:prstGeom>
          <a:solidFill>
            <a:srgbClr val="FFFFFF"/>
          </a:solidFill>
          <a:ln w="9144">
            <a:solidFill>
              <a:srgbClr val="333F48"/>
            </a:solidFill>
            <a:prstDash val="solid"/>
          </a:ln>
        </p:spPr>
      </p:sp>
      <p:sp>
        <p:nvSpPr>
          <p:cNvPr id="20" name="Text 12"/>
          <p:cNvSpPr/>
          <p:nvPr/>
        </p:nvSpPr>
        <p:spPr>
          <a:xfrm>
            <a:off x="947719" y="3993356"/>
            <a:ext cx="1571625" cy="357188"/>
          </a:xfrm>
          <a:prstGeom prst="rect">
            <a:avLst/>
          </a:prstGeom>
          <a:noFill/>
          <a:ln/>
        </p:spPr>
        <p:txBody>
          <a:bodyPr wrap="square" lIns="0" tIns="0" rIns="0" bIns="0" rtlCol="0" anchor="ctr">
            <a:spAutoFit/>
          </a:bodyPr>
          <a:lstStyle/>
          <a:p>
            <a:pPr algn="ctr" indent="0" marL="0">
              <a:buNone/>
            </a:pPr>
            <a:r>
              <a:rPr lang="en-US" sz="750" dirty="0">
                <a:solidFill>
                  <a:srgbClr val="333F48"/>
                </a:solidFill>
                <a:latin typeface="Segoe UI" pitchFamily="34" charset="0"/>
                <a:ea typeface="Segoe UI" pitchFamily="34" charset="-122"/>
                <a:cs typeface="Segoe UI" pitchFamily="34" charset="-120"/>
              </a:rPr>
              <a:t>SVM Classifier</a:t>
            </a:r>
            <a:endParaRPr lang="en-US" sz="750" dirty="0"/>
          </a:p>
        </p:txBody>
      </p:sp>
      <p:sp>
        <p:nvSpPr>
          <p:cNvPr id="21" name="Shape 13"/>
          <p:cNvSpPr/>
          <p:nvPr/>
        </p:nvSpPr>
        <p:spPr>
          <a:xfrm>
            <a:off x="3252806" y="878681"/>
            <a:ext cx="2624156" cy="3486150"/>
          </a:xfrm>
          <a:prstGeom prst="rect">
            <a:avLst/>
          </a:prstGeom>
          <a:solidFill>
            <a:srgbClr val="FFFFFF"/>
          </a:solidFill>
          <a:ln w="9144">
            <a:solidFill>
              <a:srgbClr val="0A192F">
                <a:alpha val="10000"/>
              </a:srgbClr>
            </a:solidFill>
            <a:prstDash val="solid"/>
          </a:ln>
        </p:spPr>
      </p:sp>
      <p:sp>
        <p:nvSpPr>
          <p:cNvPr id="22" name="Text 14"/>
          <p:cNvSpPr/>
          <p:nvPr/>
        </p:nvSpPr>
        <p:spPr>
          <a:xfrm>
            <a:off x="3257550" y="1021556"/>
            <a:ext cx="2614613" cy="228600"/>
          </a:xfrm>
          <a:prstGeom prst="rect">
            <a:avLst/>
          </a:prstGeom>
          <a:noFill/>
          <a:ln/>
        </p:spPr>
        <p:txBody>
          <a:bodyPr wrap="square" lIns="0" tIns="0" rIns="0" bIns="85090" rtlCol="0" anchor="t">
            <a:spAutoFit/>
          </a:bodyPr>
          <a:lstStyle/>
          <a:p>
            <a:pPr algn="ctr" indent="0" marL="0">
              <a:buNone/>
            </a:pPr>
            <a:r>
              <a:rPr lang="en-US" sz="900" b="1" spc="1" kern="0" dirty="0">
                <a:solidFill>
                  <a:srgbClr val="0A192F"/>
                </a:solidFill>
                <a:latin typeface="Segoe UI" pitchFamily="34" charset="0"/>
                <a:ea typeface="Segoe UI" pitchFamily="34" charset="-122"/>
                <a:cs typeface="Segoe UI" pitchFamily="34" charset="-120"/>
              </a:rPr>
              <a:t>PIPELINE 2: IMPROVED</a:t>
            </a:r>
            <a:endParaRPr lang="en-US" sz="900" dirty="0"/>
          </a:p>
        </p:txBody>
      </p:sp>
      <p:sp>
        <p:nvSpPr>
          <p:cNvPr id="23" name="Shape 15"/>
          <p:cNvSpPr/>
          <p:nvPr/>
        </p:nvSpPr>
        <p:spPr>
          <a:xfrm>
            <a:off x="3779044" y="1393031"/>
            <a:ext cx="1571625" cy="357188"/>
          </a:xfrm>
          <a:prstGeom prst="rect">
            <a:avLst/>
          </a:prstGeom>
          <a:solidFill>
            <a:srgbClr val="FFFFFF"/>
          </a:solidFill>
          <a:ln w="9144">
            <a:solidFill>
              <a:srgbClr val="333F48"/>
            </a:solidFill>
            <a:prstDash val="solid"/>
          </a:ln>
        </p:spPr>
      </p:sp>
      <p:sp>
        <p:nvSpPr>
          <p:cNvPr id="24" name="Text 16"/>
          <p:cNvSpPr/>
          <p:nvPr/>
        </p:nvSpPr>
        <p:spPr>
          <a:xfrm>
            <a:off x="3779044" y="1393031"/>
            <a:ext cx="1571625" cy="357188"/>
          </a:xfrm>
          <a:prstGeom prst="rect">
            <a:avLst/>
          </a:prstGeom>
          <a:noFill/>
          <a:ln/>
        </p:spPr>
        <p:txBody>
          <a:bodyPr wrap="square" lIns="0" tIns="0" rIns="0" bIns="0" rtlCol="0" anchor="ctr">
            <a:spAutoFit/>
          </a:bodyPr>
          <a:lstStyle/>
          <a:p>
            <a:pPr algn="ctr" indent="0" marL="0">
              <a:buNone/>
            </a:pPr>
            <a:r>
              <a:rPr lang="en-US" sz="750" dirty="0">
                <a:solidFill>
                  <a:srgbClr val="333F48"/>
                </a:solidFill>
                <a:latin typeface="Segoe UI" pitchFamily="34" charset="0"/>
                <a:ea typeface="Segoe UI" pitchFamily="34" charset="-122"/>
                <a:cs typeface="Segoe UI" pitchFamily="34" charset="-120"/>
              </a:rPr>
              <a:t>Input Image</a:t>
            </a:r>
            <a:endParaRPr lang="en-US" sz="750" dirty="0"/>
          </a:p>
        </p:txBody>
      </p:sp>
      <p:pic>
        <p:nvPicPr>
          <p:cNvPr id="25" name="Image 5" descr="preencoded.png">    </p:cNvPr>
          <p:cNvPicPr>
            <a:picLocks noChangeAspect="1"/>
          </p:cNvPicPr>
          <p:nvPr/>
        </p:nvPicPr>
        <p:blipFill>
          <a:blip r:embed="rId6"/>
          <a:stretch>
            <a:fillRect/>
          </a:stretch>
        </p:blipFill>
        <p:spPr>
          <a:xfrm>
            <a:off x="4516636" y="1828800"/>
            <a:ext cx="96441" cy="128588"/>
          </a:xfrm>
          <a:prstGeom prst="rect">
            <a:avLst/>
          </a:prstGeom>
        </p:spPr>
      </p:pic>
      <p:sp>
        <p:nvSpPr>
          <p:cNvPr id="26" name="Shape 17"/>
          <p:cNvSpPr/>
          <p:nvPr/>
        </p:nvSpPr>
        <p:spPr>
          <a:xfrm>
            <a:off x="3779044" y="2043113"/>
            <a:ext cx="1571625" cy="357188"/>
          </a:xfrm>
          <a:prstGeom prst="rect">
            <a:avLst/>
          </a:prstGeom>
          <a:solidFill>
            <a:srgbClr val="FFFFFF"/>
          </a:solidFill>
          <a:ln w="9144">
            <a:solidFill>
              <a:srgbClr val="333F48"/>
            </a:solidFill>
            <a:prstDash val="solid"/>
          </a:ln>
        </p:spPr>
      </p:sp>
      <p:sp>
        <p:nvSpPr>
          <p:cNvPr id="27" name="Text 18"/>
          <p:cNvSpPr/>
          <p:nvPr/>
        </p:nvSpPr>
        <p:spPr>
          <a:xfrm>
            <a:off x="3779044" y="2043113"/>
            <a:ext cx="1571625" cy="357188"/>
          </a:xfrm>
          <a:prstGeom prst="rect">
            <a:avLst/>
          </a:prstGeom>
          <a:noFill/>
          <a:ln/>
        </p:spPr>
        <p:txBody>
          <a:bodyPr wrap="square" lIns="0" tIns="0" rIns="0" bIns="0" rtlCol="0" anchor="ctr">
            <a:spAutoFit/>
          </a:bodyPr>
          <a:lstStyle/>
          <a:p>
            <a:pPr algn="ctr" indent="0" marL="0">
              <a:buNone/>
            </a:pPr>
            <a:r>
              <a:rPr lang="en-US" sz="750" dirty="0">
                <a:solidFill>
                  <a:srgbClr val="333F48"/>
                </a:solidFill>
                <a:latin typeface="Segoe UI" pitchFamily="34" charset="0"/>
                <a:ea typeface="Segoe UI" pitchFamily="34" charset="-122"/>
                <a:cs typeface="Segoe UI" pitchFamily="34" charset="-120"/>
              </a:rPr>
              <a:t>Grayscale Conversion</a:t>
            </a:r>
            <a:endParaRPr lang="en-US" sz="750" dirty="0"/>
          </a:p>
        </p:txBody>
      </p:sp>
      <p:pic>
        <p:nvPicPr>
          <p:cNvPr id="28" name="Image 6" descr="preencoded.png">    </p:cNvPr>
          <p:cNvPicPr>
            <a:picLocks noChangeAspect="1"/>
          </p:cNvPicPr>
          <p:nvPr/>
        </p:nvPicPr>
        <p:blipFill>
          <a:blip r:embed="rId7"/>
          <a:stretch>
            <a:fillRect/>
          </a:stretch>
        </p:blipFill>
        <p:spPr>
          <a:xfrm>
            <a:off x="4516636" y="2478881"/>
            <a:ext cx="96441" cy="128588"/>
          </a:xfrm>
          <a:prstGeom prst="rect">
            <a:avLst/>
          </a:prstGeom>
        </p:spPr>
      </p:pic>
      <p:sp>
        <p:nvSpPr>
          <p:cNvPr id="29" name="Shape 19"/>
          <p:cNvSpPr/>
          <p:nvPr/>
        </p:nvSpPr>
        <p:spPr>
          <a:xfrm>
            <a:off x="3779044" y="2693194"/>
            <a:ext cx="1571625" cy="357188"/>
          </a:xfrm>
          <a:prstGeom prst="rect">
            <a:avLst/>
          </a:prstGeom>
          <a:solidFill>
            <a:srgbClr val="FFFFFF"/>
          </a:solidFill>
          <a:ln w="9144">
            <a:solidFill>
              <a:srgbClr val="333F48"/>
            </a:solidFill>
            <a:prstDash val="solid"/>
          </a:ln>
        </p:spPr>
      </p:sp>
      <p:sp>
        <p:nvSpPr>
          <p:cNvPr id="30" name="Text 20"/>
          <p:cNvSpPr/>
          <p:nvPr/>
        </p:nvSpPr>
        <p:spPr>
          <a:xfrm>
            <a:off x="3779044" y="2693194"/>
            <a:ext cx="1571625" cy="357188"/>
          </a:xfrm>
          <a:prstGeom prst="rect">
            <a:avLst/>
          </a:prstGeom>
          <a:noFill/>
          <a:ln/>
        </p:spPr>
        <p:txBody>
          <a:bodyPr wrap="square" lIns="0" tIns="0" rIns="0" bIns="0" rtlCol="0" anchor="ctr">
            <a:spAutoFit/>
          </a:bodyPr>
          <a:lstStyle/>
          <a:p>
            <a:pPr algn="ctr" indent="0" marL="0">
              <a:buNone/>
            </a:pPr>
            <a:r>
              <a:rPr lang="en-US" sz="750" dirty="0">
                <a:solidFill>
                  <a:srgbClr val="333F48"/>
                </a:solidFill>
                <a:latin typeface="Segoe UI" pitchFamily="34" charset="0"/>
                <a:ea typeface="Segoe UI" pitchFamily="34" charset="-122"/>
                <a:cs typeface="Segoe UI" pitchFamily="34" charset="-120"/>
              </a:rPr>
              <a:t>Multi-Scale LBP</a:t>
            </a:r>
            <a:endParaRPr lang="en-US" sz="750" dirty="0"/>
          </a:p>
        </p:txBody>
      </p:sp>
      <p:pic>
        <p:nvPicPr>
          <p:cNvPr id="31" name="Image 7" descr="preencoded.png">    </p:cNvPr>
          <p:cNvPicPr>
            <a:picLocks noChangeAspect="1"/>
          </p:cNvPicPr>
          <p:nvPr/>
        </p:nvPicPr>
        <p:blipFill>
          <a:blip r:embed="rId8"/>
          <a:stretch>
            <a:fillRect/>
          </a:stretch>
        </p:blipFill>
        <p:spPr>
          <a:xfrm>
            <a:off x="4516636" y="3128963"/>
            <a:ext cx="96441" cy="128588"/>
          </a:xfrm>
          <a:prstGeom prst="rect">
            <a:avLst/>
          </a:prstGeom>
        </p:spPr>
      </p:pic>
      <p:sp>
        <p:nvSpPr>
          <p:cNvPr id="32" name="Shape 21"/>
          <p:cNvSpPr/>
          <p:nvPr/>
        </p:nvSpPr>
        <p:spPr>
          <a:xfrm>
            <a:off x="3779044" y="3343275"/>
            <a:ext cx="1571625" cy="357188"/>
          </a:xfrm>
          <a:prstGeom prst="rect">
            <a:avLst/>
          </a:prstGeom>
          <a:solidFill>
            <a:srgbClr val="FFFFFF"/>
          </a:solidFill>
          <a:ln w="9144">
            <a:solidFill>
              <a:srgbClr val="333F48"/>
            </a:solidFill>
            <a:prstDash val="solid"/>
          </a:ln>
        </p:spPr>
      </p:sp>
      <p:sp>
        <p:nvSpPr>
          <p:cNvPr id="33" name="Text 22"/>
          <p:cNvSpPr/>
          <p:nvPr/>
        </p:nvSpPr>
        <p:spPr>
          <a:xfrm>
            <a:off x="3779044" y="3343275"/>
            <a:ext cx="1571625" cy="357188"/>
          </a:xfrm>
          <a:prstGeom prst="rect">
            <a:avLst/>
          </a:prstGeom>
          <a:noFill/>
          <a:ln/>
        </p:spPr>
        <p:txBody>
          <a:bodyPr wrap="square" lIns="0" tIns="0" rIns="0" bIns="0" rtlCol="0" anchor="ctr">
            <a:spAutoFit/>
          </a:bodyPr>
          <a:lstStyle/>
          <a:p>
            <a:pPr algn="ctr" indent="0" marL="0">
              <a:buNone/>
            </a:pPr>
            <a:r>
              <a:rPr lang="en-US" sz="750" dirty="0">
                <a:solidFill>
                  <a:srgbClr val="333F48"/>
                </a:solidFill>
                <a:latin typeface="Segoe UI" pitchFamily="34" charset="0"/>
                <a:ea typeface="Segoe UI" pitchFamily="34" charset="-122"/>
                <a:cs typeface="Segoe UI" pitchFamily="34" charset="-120"/>
              </a:rPr>
              <a:t>Concatenated Histograms</a:t>
            </a:r>
            <a:endParaRPr lang="en-US" sz="750" dirty="0"/>
          </a:p>
        </p:txBody>
      </p:sp>
      <p:pic>
        <p:nvPicPr>
          <p:cNvPr id="34" name="Image 8" descr="preencoded.png">    </p:cNvPr>
          <p:cNvPicPr>
            <a:picLocks noChangeAspect="1"/>
          </p:cNvPicPr>
          <p:nvPr/>
        </p:nvPicPr>
        <p:blipFill>
          <a:blip r:embed="rId9"/>
          <a:stretch>
            <a:fillRect/>
          </a:stretch>
        </p:blipFill>
        <p:spPr>
          <a:xfrm>
            <a:off x="4516636" y="3779044"/>
            <a:ext cx="96441" cy="128588"/>
          </a:xfrm>
          <a:prstGeom prst="rect">
            <a:avLst/>
          </a:prstGeom>
        </p:spPr>
      </p:pic>
      <p:sp>
        <p:nvSpPr>
          <p:cNvPr id="35" name="Shape 23"/>
          <p:cNvSpPr/>
          <p:nvPr/>
        </p:nvSpPr>
        <p:spPr>
          <a:xfrm>
            <a:off x="3779044" y="3993356"/>
            <a:ext cx="1571625" cy="357188"/>
          </a:xfrm>
          <a:prstGeom prst="rect">
            <a:avLst/>
          </a:prstGeom>
          <a:solidFill>
            <a:srgbClr val="FFFFFF"/>
          </a:solidFill>
          <a:ln w="9144">
            <a:solidFill>
              <a:srgbClr val="333F48"/>
            </a:solidFill>
            <a:prstDash val="solid"/>
          </a:ln>
        </p:spPr>
      </p:sp>
      <p:sp>
        <p:nvSpPr>
          <p:cNvPr id="36" name="Text 24"/>
          <p:cNvSpPr/>
          <p:nvPr/>
        </p:nvSpPr>
        <p:spPr>
          <a:xfrm>
            <a:off x="3779044" y="3993356"/>
            <a:ext cx="1571625" cy="357188"/>
          </a:xfrm>
          <a:prstGeom prst="rect">
            <a:avLst/>
          </a:prstGeom>
          <a:noFill/>
          <a:ln/>
        </p:spPr>
        <p:txBody>
          <a:bodyPr wrap="square" lIns="0" tIns="0" rIns="0" bIns="0" rtlCol="0" anchor="ctr">
            <a:spAutoFit/>
          </a:bodyPr>
          <a:lstStyle/>
          <a:p>
            <a:pPr algn="ctr" indent="0" marL="0">
              <a:buNone/>
            </a:pPr>
            <a:r>
              <a:rPr lang="en-US" sz="750" dirty="0">
                <a:solidFill>
                  <a:srgbClr val="333F48"/>
                </a:solidFill>
                <a:latin typeface="Segoe UI" pitchFamily="34" charset="0"/>
                <a:ea typeface="Segoe UI" pitchFamily="34" charset="-122"/>
                <a:cs typeface="Segoe UI" pitchFamily="34" charset="-120"/>
              </a:rPr>
              <a:t>SVM Classifier</a:t>
            </a:r>
            <a:endParaRPr lang="en-US" sz="750" dirty="0"/>
          </a:p>
        </p:txBody>
      </p:sp>
      <p:sp>
        <p:nvSpPr>
          <p:cNvPr id="37" name="Shape 25"/>
          <p:cNvSpPr/>
          <p:nvPr/>
        </p:nvSpPr>
        <p:spPr>
          <a:xfrm>
            <a:off x="6086475" y="878681"/>
            <a:ext cx="2628900" cy="3486150"/>
          </a:xfrm>
          <a:prstGeom prst="rect">
            <a:avLst/>
          </a:prstGeom>
          <a:solidFill>
            <a:srgbClr val="FFFFFF"/>
          </a:solidFill>
          <a:ln w="9144">
            <a:solidFill>
              <a:srgbClr val="0A192F">
                <a:alpha val="10000"/>
              </a:srgbClr>
            </a:solidFill>
            <a:prstDash val="solid"/>
          </a:ln>
        </p:spPr>
      </p:sp>
      <p:sp>
        <p:nvSpPr>
          <p:cNvPr id="38" name="Text 26"/>
          <p:cNvSpPr/>
          <p:nvPr/>
        </p:nvSpPr>
        <p:spPr>
          <a:xfrm>
            <a:off x="6095963" y="1021556"/>
            <a:ext cx="2619356" cy="228600"/>
          </a:xfrm>
          <a:prstGeom prst="rect">
            <a:avLst/>
          </a:prstGeom>
          <a:noFill/>
          <a:ln/>
        </p:spPr>
        <p:txBody>
          <a:bodyPr wrap="square" lIns="0" tIns="0" rIns="0" bIns="85090" rtlCol="0" anchor="t">
            <a:spAutoFit/>
          </a:bodyPr>
          <a:lstStyle/>
          <a:p>
            <a:pPr algn="ctr" indent="0" marL="0">
              <a:buNone/>
            </a:pPr>
            <a:r>
              <a:rPr lang="en-US" sz="900" b="1" spc="1" kern="0" dirty="0">
                <a:solidFill>
                  <a:srgbClr val="0A192F"/>
                </a:solidFill>
                <a:latin typeface="Segoe UI" pitchFamily="34" charset="0"/>
                <a:ea typeface="Segoe UI" pitchFamily="34" charset="-122"/>
                <a:cs typeface="Segoe UI" pitchFamily="34" charset="-120"/>
              </a:rPr>
              <a:t>PIPELINE 3: ADVANCED</a:t>
            </a:r>
            <a:endParaRPr lang="en-US" sz="900" dirty="0"/>
          </a:p>
        </p:txBody>
      </p:sp>
      <p:sp>
        <p:nvSpPr>
          <p:cNvPr id="39" name="Shape 27"/>
          <p:cNvSpPr/>
          <p:nvPr/>
        </p:nvSpPr>
        <p:spPr>
          <a:xfrm>
            <a:off x="6619801" y="1393031"/>
            <a:ext cx="1571625" cy="357188"/>
          </a:xfrm>
          <a:prstGeom prst="rect">
            <a:avLst/>
          </a:prstGeom>
          <a:solidFill>
            <a:srgbClr val="FFFFFF"/>
          </a:solidFill>
          <a:ln w="9144">
            <a:solidFill>
              <a:srgbClr val="333F48"/>
            </a:solidFill>
            <a:prstDash val="solid"/>
          </a:ln>
        </p:spPr>
      </p:sp>
      <p:sp>
        <p:nvSpPr>
          <p:cNvPr id="40" name="Text 28"/>
          <p:cNvSpPr/>
          <p:nvPr/>
        </p:nvSpPr>
        <p:spPr>
          <a:xfrm>
            <a:off x="6619801" y="1393031"/>
            <a:ext cx="1571625" cy="357188"/>
          </a:xfrm>
          <a:prstGeom prst="rect">
            <a:avLst/>
          </a:prstGeom>
          <a:noFill/>
          <a:ln/>
        </p:spPr>
        <p:txBody>
          <a:bodyPr wrap="square" lIns="0" tIns="0" rIns="0" bIns="0" rtlCol="0" anchor="ctr">
            <a:spAutoFit/>
          </a:bodyPr>
          <a:lstStyle/>
          <a:p>
            <a:pPr algn="ctr" indent="0" marL="0">
              <a:buNone/>
            </a:pPr>
            <a:r>
              <a:rPr lang="en-US" sz="750" dirty="0">
                <a:solidFill>
                  <a:srgbClr val="333F48"/>
                </a:solidFill>
                <a:latin typeface="Segoe UI" pitchFamily="34" charset="0"/>
                <a:ea typeface="Segoe UI" pitchFamily="34" charset="-122"/>
                <a:cs typeface="Segoe UI" pitchFamily="34" charset="-120"/>
              </a:rPr>
              <a:t>Input Image</a:t>
            </a:r>
            <a:endParaRPr lang="en-US" sz="750" dirty="0"/>
          </a:p>
        </p:txBody>
      </p:sp>
      <p:pic>
        <p:nvPicPr>
          <p:cNvPr id="41" name="Image 9" descr="preencoded.png">    </p:cNvPr>
          <p:cNvPicPr>
            <a:picLocks noChangeAspect="1"/>
          </p:cNvPicPr>
          <p:nvPr/>
        </p:nvPicPr>
        <p:blipFill>
          <a:blip r:embed="rId10"/>
          <a:stretch>
            <a:fillRect/>
          </a:stretch>
        </p:blipFill>
        <p:spPr>
          <a:xfrm>
            <a:off x="7357393" y="1828800"/>
            <a:ext cx="96441" cy="128588"/>
          </a:xfrm>
          <a:prstGeom prst="rect">
            <a:avLst/>
          </a:prstGeom>
        </p:spPr>
      </p:pic>
      <p:sp>
        <p:nvSpPr>
          <p:cNvPr id="42" name="Shape 29"/>
          <p:cNvSpPr/>
          <p:nvPr/>
        </p:nvSpPr>
        <p:spPr>
          <a:xfrm>
            <a:off x="6619801" y="2043113"/>
            <a:ext cx="1571625" cy="357188"/>
          </a:xfrm>
          <a:prstGeom prst="rect">
            <a:avLst/>
          </a:prstGeom>
          <a:solidFill>
            <a:srgbClr val="FFFFFF"/>
          </a:solidFill>
          <a:ln w="9144">
            <a:solidFill>
              <a:srgbClr val="333F48"/>
            </a:solidFill>
            <a:prstDash val="solid"/>
          </a:ln>
        </p:spPr>
      </p:sp>
      <p:sp>
        <p:nvSpPr>
          <p:cNvPr id="43" name="Text 30"/>
          <p:cNvSpPr/>
          <p:nvPr/>
        </p:nvSpPr>
        <p:spPr>
          <a:xfrm>
            <a:off x="6619801" y="2043113"/>
            <a:ext cx="1571625" cy="357188"/>
          </a:xfrm>
          <a:prstGeom prst="rect">
            <a:avLst/>
          </a:prstGeom>
          <a:noFill/>
          <a:ln/>
        </p:spPr>
        <p:txBody>
          <a:bodyPr wrap="square" lIns="0" tIns="0" rIns="0" bIns="0" rtlCol="0" anchor="ctr">
            <a:spAutoFit/>
          </a:bodyPr>
          <a:lstStyle/>
          <a:p>
            <a:pPr algn="ctr" indent="0" marL="0">
              <a:buNone/>
            </a:pPr>
            <a:r>
              <a:rPr lang="en-US" sz="750" dirty="0">
                <a:solidFill>
                  <a:srgbClr val="333F48"/>
                </a:solidFill>
                <a:latin typeface="Segoe UI" pitchFamily="34" charset="0"/>
                <a:ea typeface="Segoe UI" pitchFamily="34" charset="-122"/>
                <a:cs typeface="Segoe UI" pitchFamily="34" charset="-120"/>
              </a:rPr>
              <a:t>Grayscale Conversion</a:t>
            </a:r>
            <a:endParaRPr lang="en-US" sz="750" dirty="0"/>
          </a:p>
        </p:txBody>
      </p:sp>
      <p:pic>
        <p:nvPicPr>
          <p:cNvPr id="44" name="Image 10" descr="preencoded.png">    </p:cNvPr>
          <p:cNvPicPr>
            <a:picLocks noChangeAspect="1"/>
          </p:cNvPicPr>
          <p:nvPr/>
        </p:nvPicPr>
        <p:blipFill>
          <a:blip r:embed="rId11"/>
          <a:stretch>
            <a:fillRect/>
          </a:stretch>
        </p:blipFill>
        <p:spPr>
          <a:xfrm>
            <a:off x="7357393" y="2478881"/>
            <a:ext cx="96441" cy="128588"/>
          </a:xfrm>
          <a:prstGeom prst="rect">
            <a:avLst/>
          </a:prstGeom>
        </p:spPr>
      </p:pic>
      <p:sp>
        <p:nvSpPr>
          <p:cNvPr id="45" name="Shape 31"/>
          <p:cNvSpPr/>
          <p:nvPr/>
        </p:nvSpPr>
        <p:spPr>
          <a:xfrm>
            <a:off x="6619801" y="2693194"/>
            <a:ext cx="1571625" cy="357188"/>
          </a:xfrm>
          <a:prstGeom prst="rect">
            <a:avLst/>
          </a:prstGeom>
          <a:solidFill>
            <a:srgbClr val="FFFFFF"/>
          </a:solidFill>
          <a:ln w="9144">
            <a:solidFill>
              <a:srgbClr val="333F48"/>
            </a:solidFill>
            <a:prstDash val="solid"/>
          </a:ln>
        </p:spPr>
      </p:sp>
      <p:sp>
        <p:nvSpPr>
          <p:cNvPr id="46" name="Text 32"/>
          <p:cNvSpPr/>
          <p:nvPr/>
        </p:nvSpPr>
        <p:spPr>
          <a:xfrm>
            <a:off x="6619801" y="2693194"/>
            <a:ext cx="1571625" cy="357188"/>
          </a:xfrm>
          <a:prstGeom prst="rect">
            <a:avLst/>
          </a:prstGeom>
          <a:noFill/>
          <a:ln/>
        </p:spPr>
        <p:txBody>
          <a:bodyPr wrap="square" lIns="0" tIns="0" rIns="0" bIns="0" rtlCol="0" anchor="ctr">
            <a:spAutoFit/>
          </a:bodyPr>
          <a:lstStyle/>
          <a:p>
            <a:pPr algn="ctr" indent="0" marL="0">
              <a:buNone/>
            </a:pPr>
            <a:r>
              <a:rPr lang="en-US" sz="750" dirty="0">
                <a:solidFill>
                  <a:srgbClr val="333F48"/>
                </a:solidFill>
                <a:latin typeface="Segoe UI" pitchFamily="34" charset="0"/>
                <a:ea typeface="Segoe UI" pitchFamily="34" charset="-122"/>
                <a:cs typeface="Segoe UI" pitchFamily="34" charset="-120"/>
              </a:rPr>
              <a:t>Multi-Scale LBP + GLCM</a:t>
            </a:r>
            <a:endParaRPr lang="en-US" sz="750" dirty="0"/>
          </a:p>
        </p:txBody>
      </p:sp>
      <p:pic>
        <p:nvPicPr>
          <p:cNvPr id="47" name="Image 11" descr="preencoded.png">    </p:cNvPr>
          <p:cNvPicPr>
            <a:picLocks noChangeAspect="1"/>
          </p:cNvPicPr>
          <p:nvPr/>
        </p:nvPicPr>
        <p:blipFill>
          <a:blip r:embed="rId12"/>
          <a:stretch>
            <a:fillRect/>
          </a:stretch>
        </p:blipFill>
        <p:spPr>
          <a:xfrm>
            <a:off x="7357393" y="3128963"/>
            <a:ext cx="96441" cy="128588"/>
          </a:xfrm>
          <a:prstGeom prst="rect">
            <a:avLst/>
          </a:prstGeom>
        </p:spPr>
      </p:pic>
      <p:sp>
        <p:nvSpPr>
          <p:cNvPr id="48" name="Shape 33"/>
          <p:cNvSpPr/>
          <p:nvPr/>
        </p:nvSpPr>
        <p:spPr>
          <a:xfrm>
            <a:off x="6619801" y="3343275"/>
            <a:ext cx="1571625" cy="357188"/>
          </a:xfrm>
          <a:prstGeom prst="rect">
            <a:avLst/>
          </a:prstGeom>
          <a:solidFill>
            <a:srgbClr val="FFFFFF"/>
          </a:solidFill>
          <a:ln w="9144">
            <a:solidFill>
              <a:srgbClr val="333F48"/>
            </a:solidFill>
            <a:prstDash val="solid"/>
          </a:ln>
        </p:spPr>
      </p:sp>
      <p:sp>
        <p:nvSpPr>
          <p:cNvPr id="49" name="Text 34"/>
          <p:cNvSpPr/>
          <p:nvPr/>
        </p:nvSpPr>
        <p:spPr>
          <a:xfrm>
            <a:off x="6619801" y="3343275"/>
            <a:ext cx="1571625" cy="357188"/>
          </a:xfrm>
          <a:prstGeom prst="rect">
            <a:avLst/>
          </a:prstGeom>
          <a:noFill/>
          <a:ln/>
        </p:spPr>
        <p:txBody>
          <a:bodyPr wrap="square" lIns="0" tIns="0" rIns="0" bIns="0" rtlCol="0" anchor="ctr">
            <a:spAutoFit/>
          </a:bodyPr>
          <a:lstStyle/>
          <a:p>
            <a:pPr algn="ctr" indent="0" marL="0">
              <a:buNone/>
            </a:pPr>
            <a:r>
              <a:rPr lang="en-US" sz="750" dirty="0">
                <a:solidFill>
                  <a:srgbClr val="333F48"/>
                </a:solidFill>
                <a:latin typeface="Segoe UI" pitchFamily="34" charset="0"/>
                <a:ea typeface="Segoe UI" pitchFamily="34" charset="-122"/>
                <a:cs typeface="Segoe UI" pitchFamily="34" charset="-120"/>
              </a:rPr>
              <a:t>Feature Selection (PCA)</a:t>
            </a:r>
            <a:endParaRPr lang="en-US" sz="750" dirty="0"/>
          </a:p>
        </p:txBody>
      </p:sp>
      <p:pic>
        <p:nvPicPr>
          <p:cNvPr id="50" name="Image 12" descr="preencoded.png">    </p:cNvPr>
          <p:cNvPicPr>
            <a:picLocks noChangeAspect="1"/>
          </p:cNvPicPr>
          <p:nvPr/>
        </p:nvPicPr>
        <p:blipFill>
          <a:blip r:embed="rId13"/>
          <a:stretch>
            <a:fillRect/>
          </a:stretch>
        </p:blipFill>
        <p:spPr>
          <a:xfrm>
            <a:off x="7357393" y="3779044"/>
            <a:ext cx="96441" cy="128588"/>
          </a:xfrm>
          <a:prstGeom prst="rect">
            <a:avLst/>
          </a:prstGeom>
        </p:spPr>
      </p:pic>
      <p:sp>
        <p:nvSpPr>
          <p:cNvPr id="51" name="Shape 35"/>
          <p:cNvSpPr/>
          <p:nvPr/>
        </p:nvSpPr>
        <p:spPr>
          <a:xfrm>
            <a:off x="6619801" y="3993356"/>
            <a:ext cx="1571625" cy="357188"/>
          </a:xfrm>
          <a:prstGeom prst="rect">
            <a:avLst/>
          </a:prstGeom>
          <a:solidFill>
            <a:srgbClr val="FFFFFF"/>
          </a:solidFill>
          <a:ln w="9144">
            <a:solidFill>
              <a:srgbClr val="333F48"/>
            </a:solidFill>
            <a:prstDash val="solid"/>
          </a:ln>
        </p:spPr>
      </p:sp>
      <p:sp>
        <p:nvSpPr>
          <p:cNvPr id="52" name="Text 36"/>
          <p:cNvSpPr/>
          <p:nvPr/>
        </p:nvSpPr>
        <p:spPr>
          <a:xfrm>
            <a:off x="6619801" y="3993356"/>
            <a:ext cx="1571625" cy="357188"/>
          </a:xfrm>
          <a:prstGeom prst="rect">
            <a:avLst/>
          </a:prstGeom>
          <a:noFill/>
          <a:ln/>
        </p:spPr>
        <p:txBody>
          <a:bodyPr wrap="square" lIns="0" tIns="0" rIns="0" bIns="0" rtlCol="0" anchor="ctr">
            <a:spAutoFit/>
          </a:bodyPr>
          <a:lstStyle/>
          <a:p>
            <a:pPr algn="ctr" indent="0" marL="0">
              <a:buNone/>
            </a:pPr>
            <a:r>
              <a:rPr lang="en-US" sz="750" dirty="0">
                <a:solidFill>
                  <a:srgbClr val="333F48"/>
                </a:solidFill>
                <a:latin typeface="Segoe UI" pitchFamily="34" charset="0"/>
                <a:ea typeface="Segoe UI" pitchFamily="34" charset="-122"/>
                <a:cs typeface="Segoe UI" pitchFamily="34" charset="-120"/>
              </a:rPr>
              <a:t>SVM Classifier</a:t>
            </a:r>
            <a:endParaRPr lang="en-US" sz="750" dirty="0"/>
          </a:p>
        </p:txBody>
      </p:sp>
      <p:sp>
        <p:nvSpPr>
          <p:cNvPr id="53" name="Shape 37"/>
          <p:cNvSpPr/>
          <p:nvPr/>
        </p:nvSpPr>
        <p:spPr>
          <a:xfrm>
            <a:off x="428625" y="4636294"/>
            <a:ext cx="8286750" cy="714375"/>
          </a:xfrm>
          <a:prstGeom prst="rect">
            <a:avLst/>
          </a:prstGeom>
          <a:solidFill>
            <a:srgbClr val="0A192F"/>
          </a:solidFill>
          <a:ln w="9144">
            <a:solidFill>
              <a:srgbClr val="0A192F"/>
            </a:solidFill>
            <a:prstDash val="solid"/>
          </a:ln>
        </p:spPr>
      </p:sp>
      <p:sp>
        <p:nvSpPr>
          <p:cNvPr id="54" name="Text 38"/>
          <p:cNvSpPr/>
          <p:nvPr/>
        </p:nvSpPr>
        <p:spPr>
          <a:xfrm>
            <a:off x="642938" y="4779169"/>
            <a:ext cx="7858125" cy="100013"/>
          </a:xfrm>
          <a:prstGeom prst="rect">
            <a:avLst/>
          </a:prstGeom>
          <a:noFill/>
          <a:ln/>
        </p:spPr>
        <p:txBody>
          <a:bodyPr wrap="square" lIns="0" tIns="0" rIns="0" bIns="0" rtlCol="0" anchor="t">
            <a:spAutoFit/>
          </a:bodyPr>
          <a:lstStyle/>
          <a:p>
            <a:pPr algn="l" indent="0" marL="0">
              <a:buNone/>
            </a:pPr>
            <a:r>
              <a:rPr lang="en-US" sz="600" b="1" dirty="0">
                <a:solidFill>
                  <a:srgbClr val="D95D39"/>
                </a:solidFill>
                <a:latin typeface="Segoe UI" pitchFamily="34" charset="0"/>
                <a:ea typeface="Segoe UI" pitchFamily="34" charset="-122"/>
                <a:cs typeface="Segoe UI" pitchFamily="34" charset="-120"/>
              </a:rPr>
              <a:t>CORE RESEARCH QUESTION</a:t>
            </a:r>
            <a:endParaRPr lang="en-US" sz="600" dirty="0"/>
          </a:p>
        </p:txBody>
      </p:sp>
      <p:sp>
        <p:nvSpPr>
          <p:cNvPr id="55" name="Text 39"/>
          <p:cNvSpPr/>
          <p:nvPr/>
        </p:nvSpPr>
        <p:spPr>
          <a:xfrm>
            <a:off x="642938" y="4914900"/>
            <a:ext cx="7858125" cy="321469"/>
          </a:xfrm>
          <a:prstGeom prst="rect">
            <a:avLst/>
          </a:prstGeom>
          <a:noFill/>
          <a:ln/>
        </p:spPr>
        <p:txBody>
          <a:bodyPr wrap="square" lIns="0" tIns="0" rIns="0" bIns="0" rtlCol="0" anchor="t">
            <a:spAutoFit/>
          </a:bodyPr>
          <a:lstStyle/>
          <a:p>
            <a:pPr algn="l" indent="0" marL="0">
              <a:buNone/>
            </a:pPr>
            <a:r>
              <a:rPr lang="en-US" sz="1050" i="1" dirty="0">
                <a:solidFill>
                  <a:srgbClr val="FFFFFF"/>
                </a:solidFill>
                <a:latin typeface="Segoe UI" pitchFamily="34" charset="0"/>
                <a:ea typeface="Segoe UI" pitchFamily="34" charset="-122"/>
                <a:cs typeface="Segoe UI" pitchFamily="34" charset="-120"/>
              </a:rPr>
              <a:t>"Does increasing texture representation from single-scale LBP → multi-scale LBP → LBP + GLCM improve defect classification performance while maintaining computational efficiency?"</a:t>
            </a:r>
            <a:endParaRPr lang="en-US" sz="1050" dirty="0"/>
          </a:p>
        </p:txBody>
      </p:sp>
      <p:sp>
        <p:nvSpPr>
          <p:cNvPr id="56" name="Text 40"/>
          <p:cNvSpPr/>
          <p:nvPr/>
        </p:nvSpPr>
        <p:spPr>
          <a:xfrm>
            <a:off x="7363699" y="5107781"/>
            <a:ext cx="1351676" cy="100013"/>
          </a:xfrm>
          <a:prstGeom prst="rect">
            <a:avLst/>
          </a:prstGeom>
          <a:noFill/>
          <a:ln/>
        </p:spPr>
        <p:txBody>
          <a:bodyPr wrap="square" lIns="0" tIns="0" rIns="0" bIns="0" rtlCol="0" anchor="t">
            <a:spAutoFit/>
          </a:bodyPr>
          <a:lstStyle/>
          <a:p>
            <a:pPr algn="l" indent="0" marL="0">
              <a:buNone/>
            </a:pPr>
            <a:r>
              <a:rPr lang="en-US" sz="600" dirty="0">
                <a:solidFill>
                  <a:srgbClr val="888888"/>
                </a:solidFill>
                <a:latin typeface="Segoe UI" pitchFamily="34" charset="0"/>
                <a:ea typeface="Segoe UI" pitchFamily="34" charset="-122"/>
                <a:cs typeface="Segoe UI" pitchFamily="34" charset="-120"/>
              </a:rPr>
              <a:t>Page 8 | Review-1 Project Proposal</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285750"/>
            <a:ext cx="4664199" cy="307181"/>
          </a:xfrm>
          <a:prstGeom prst="rect">
            <a:avLst/>
          </a:prstGeom>
          <a:noFill/>
          <a:ln/>
        </p:spPr>
        <p:txBody>
          <a:bodyPr wrap="square" lIns="0" tIns="0" rIns="0" bIns="42545" rtlCol="0" anchor="t">
            <a:spAutoFit/>
          </a:bodyPr>
          <a:lstStyle/>
          <a:p>
            <a:pPr algn="l" indent="0" marL="0">
              <a:buNone/>
            </a:pPr>
            <a:r>
              <a:rPr lang="en-US" sz="1700" dirty="0">
                <a:solidFill>
                  <a:srgbClr val="0A192F"/>
                </a:solidFill>
                <a:latin typeface="Courier New" pitchFamily="34" charset="0"/>
                <a:ea typeface="Courier New" pitchFamily="34" charset="-122"/>
                <a:cs typeface="Courier New" pitchFamily="34" charset="-120"/>
              </a:rPr>
              <a:t>ALGORITHM SELECTION AND EVALUATION</a:t>
            </a:r>
            <a:endParaRPr lang="en-US" sz="1700" dirty="0"/>
          </a:p>
        </p:txBody>
      </p:sp>
      <p:sp>
        <p:nvSpPr>
          <p:cNvPr id="5" name="Text 1"/>
          <p:cNvSpPr/>
          <p:nvPr/>
        </p:nvSpPr>
        <p:spPr>
          <a:xfrm>
            <a:off x="428625" y="807244"/>
            <a:ext cx="4036219" cy="150019"/>
          </a:xfrm>
          <a:prstGeom prst="rect">
            <a:avLst/>
          </a:prstGeom>
          <a:noFill/>
          <a:ln/>
        </p:spPr>
        <p:txBody>
          <a:bodyPr wrap="square" lIns="0" tIns="0" rIns="0" bIns="0" rtlCol="0" anchor="t">
            <a:spAutoFit/>
          </a:bodyPr>
          <a:lstStyle/>
          <a:p>
            <a:pPr algn="l" indent="0" marL="0">
              <a:buNone/>
            </a:pPr>
            <a:r>
              <a:rPr lang="en-US" sz="900" b="1" spc="1" kern="0" dirty="0">
                <a:solidFill>
                  <a:srgbClr val="0A192F"/>
                </a:solidFill>
                <a:latin typeface="Segoe UI" pitchFamily="34" charset="0"/>
                <a:ea typeface="Segoe UI" pitchFamily="34" charset="-122"/>
                <a:cs typeface="Segoe UI" pitchFamily="34" charset="-120"/>
              </a:rPr>
              <a:t>ALGORITHM RATIONALE</a:t>
            </a:r>
            <a:endParaRPr lang="en-US" sz="900" dirty="0"/>
          </a:p>
        </p:txBody>
      </p:sp>
      <p:sp>
        <p:nvSpPr>
          <p:cNvPr id="6" name="Shape 2"/>
          <p:cNvSpPr/>
          <p:nvPr/>
        </p:nvSpPr>
        <p:spPr>
          <a:xfrm>
            <a:off x="428625" y="1064419"/>
            <a:ext cx="4036219" cy="1490700"/>
          </a:xfrm>
          <a:prstGeom prst="rect">
            <a:avLst/>
          </a:prstGeom>
          <a:solidFill>
            <a:srgbClr val="FFFFFF"/>
          </a:solidFill>
          <a:ln w="9144">
            <a:solidFill>
              <a:srgbClr val="0A192F"/>
            </a:solidFill>
            <a:prstDash val="solid"/>
          </a:ln>
        </p:spPr>
      </p:sp>
      <p:sp>
        <p:nvSpPr>
          <p:cNvPr id="7" name="Shape 3"/>
          <p:cNvSpPr/>
          <p:nvPr/>
        </p:nvSpPr>
        <p:spPr>
          <a:xfrm>
            <a:off x="428625" y="1064419"/>
            <a:ext cx="775097" cy="253603"/>
          </a:xfrm>
          <a:prstGeom prst="rect">
            <a:avLst/>
          </a:prstGeom>
          <a:solidFill>
            <a:srgbClr val="0A192F"/>
          </a:solidFill>
          <a:ln/>
        </p:spPr>
      </p:sp>
      <p:sp>
        <p:nvSpPr>
          <p:cNvPr id="8" name="Text 4"/>
          <p:cNvSpPr/>
          <p:nvPr/>
        </p:nvSpPr>
        <p:spPr>
          <a:xfrm>
            <a:off x="428625" y="1064419"/>
            <a:ext cx="775097" cy="253603"/>
          </a:xfrm>
          <a:prstGeom prst="rect">
            <a:avLst/>
          </a:prstGeom>
          <a:noFill/>
          <a:ln/>
        </p:spPr>
        <p:txBody>
          <a:bodyPr wrap="none" lIns="102108" tIns="85090" rIns="102108" bIns="85090" rtlCol="0" anchor="ctr">
            <a:spAutoFit/>
          </a:bodyPr>
          <a:lstStyle/>
          <a:p>
            <a:pPr algn="l" indent="0" marL="0">
              <a:buNone/>
            </a:pPr>
            <a:r>
              <a:rPr lang="en-US" sz="650" b="1" dirty="0">
                <a:solidFill>
                  <a:srgbClr val="0A192F"/>
                </a:solidFill>
                <a:latin typeface="Segoe UI" pitchFamily="34" charset="0"/>
                <a:ea typeface="Segoe UI" pitchFamily="34" charset="-122"/>
                <a:cs typeface="Segoe UI" pitchFamily="34" charset="-120"/>
              </a:rPr>
              <a:t>COMPONENT</a:t>
            </a:r>
            <a:endParaRPr lang="en-US" sz="650" dirty="0"/>
          </a:p>
        </p:txBody>
      </p:sp>
      <p:sp>
        <p:nvSpPr>
          <p:cNvPr id="9" name="Shape 5"/>
          <p:cNvSpPr/>
          <p:nvPr/>
        </p:nvSpPr>
        <p:spPr>
          <a:xfrm>
            <a:off x="1203722" y="1064419"/>
            <a:ext cx="3261122" cy="253603"/>
          </a:xfrm>
          <a:prstGeom prst="rect">
            <a:avLst/>
          </a:prstGeom>
          <a:solidFill>
            <a:srgbClr val="0A192F"/>
          </a:solidFill>
          <a:ln/>
        </p:spPr>
      </p:sp>
      <p:sp>
        <p:nvSpPr>
          <p:cNvPr id="10" name="Text 6"/>
          <p:cNvSpPr/>
          <p:nvPr/>
        </p:nvSpPr>
        <p:spPr>
          <a:xfrm>
            <a:off x="1203722" y="1064419"/>
            <a:ext cx="3261122" cy="253603"/>
          </a:xfrm>
          <a:prstGeom prst="rect">
            <a:avLst/>
          </a:prstGeom>
          <a:noFill/>
          <a:ln/>
        </p:spPr>
        <p:txBody>
          <a:bodyPr wrap="square" lIns="102108" tIns="85090" rIns="102108" bIns="85090" rtlCol="0" anchor="ctr">
            <a:spAutoFit/>
          </a:bodyPr>
          <a:lstStyle/>
          <a:p>
            <a:pPr algn="l" indent="0" marL="0">
              <a:buNone/>
            </a:pPr>
            <a:r>
              <a:rPr lang="en-US" sz="650" b="1" dirty="0">
                <a:solidFill>
                  <a:srgbClr val="FFFFFF"/>
                </a:solidFill>
                <a:latin typeface="Segoe UI" pitchFamily="34" charset="0"/>
                <a:ea typeface="Segoe UI" pitchFamily="34" charset="-122"/>
                <a:cs typeface="Segoe UI" pitchFamily="34" charset="-120"/>
              </a:rPr>
              <a:t>SELECTION RATIONALE</a:t>
            </a:r>
            <a:endParaRPr lang="en-US" sz="650" dirty="0"/>
          </a:p>
        </p:txBody>
      </p:sp>
      <p:sp>
        <p:nvSpPr>
          <p:cNvPr id="11" name="Text 7"/>
          <p:cNvSpPr/>
          <p:nvPr/>
        </p:nvSpPr>
        <p:spPr>
          <a:xfrm>
            <a:off x="428625" y="1318022"/>
            <a:ext cx="775097" cy="406412"/>
          </a:xfrm>
          <a:prstGeom prst="rect">
            <a:avLst/>
          </a:prstGeom>
          <a:noFill/>
          <a:ln/>
        </p:spPr>
        <p:txBody>
          <a:bodyPr wrap="square" lIns="102108" tIns="85090" rIns="102108" bIns="85090" rtlCol="0" anchor="t">
            <a:spAutoFit/>
          </a:bodyPr>
          <a:lstStyle/>
          <a:p>
            <a:pPr algn="l" indent="0" marL="0">
              <a:lnSpc>
                <a:spcPct val="112000"/>
              </a:lnSpc>
              <a:buNone/>
            </a:pPr>
            <a:r>
              <a:rPr lang="en-US" sz="650" b="1" dirty="0">
                <a:solidFill>
                  <a:srgbClr val="0A192F"/>
                </a:solidFill>
                <a:latin typeface="Segoe UI" pitchFamily="34" charset="0"/>
                <a:ea typeface="Segoe UI" pitchFamily="34" charset="-122"/>
                <a:cs typeface="Segoe UI" pitchFamily="34" charset="-120"/>
              </a:rPr>
              <a:t>LBP</a:t>
            </a:r>
            <a:endParaRPr lang="en-US" sz="650" dirty="0"/>
          </a:p>
        </p:txBody>
      </p:sp>
      <p:sp>
        <p:nvSpPr>
          <p:cNvPr id="12" name="Text 8"/>
          <p:cNvSpPr/>
          <p:nvPr/>
        </p:nvSpPr>
        <p:spPr>
          <a:xfrm>
            <a:off x="1203722" y="1318022"/>
            <a:ext cx="3261122" cy="406412"/>
          </a:xfrm>
          <a:prstGeom prst="rect">
            <a:avLst/>
          </a:prstGeom>
          <a:noFill/>
          <a:ln/>
        </p:spPr>
        <p:txBody>
          <a:bodyPr wrap="square" lIns="102108" tIns="85090" rIns="102108" bIns="85090" rtlCol="0" anchor="t">
            <a:spAutoFit/>
          </a:bodyPr>
          <a:lstStyle/>
          <a:p>
            <a:pPr algn="l" indent="0" marL="0">
              <a:lnSpc>
                <a:spcPct val="112000"/>
              </a:lnSpc>
              <a:buNone/>
            </a:pPr>
            <a:r>
              <a:rPr lang="en-US" sz="650" dirty="0">
                <a:solidFill>
                  <a:srgbClr val="333F48"/>
                </a:solidFill>
                <a:latin typeface="Segoe UI" pitchFamily="34" charset="0"/>
                <a:ea typeface="Segoe UI" pitchFamily="34" charset="-122"/>
                <a:cs typeface="Segoe UI" pitchFamily="34" charset="-120"/>
              </a:rPr>
              <a:t>Captures local texture patterns; computationally efficient and rotation-robust.</a:t>
            </a:r>
            <a:endParaRPr lang="en-US" sz="650" dirty="0"/>
          </a:p>
        </p:txBody>
      </p:sp>
      <p:sp>
        <p:nvSpPr>
          <p:cNvPr id="13" name="Shape 9"/>
          <p:cNvSpPr/>
          <p:nvPr/>
        </p:nvSpPr>
        <p:spPr>
          <a:xfrm>
            <a:off x="428625" y="1724434"/>
            <a:ext cx="4036219" cy="409984"/>
          </a:xfrm>
          <a:prstGeom prst="rect">
            <a:avLst/>
          </a:prstGeom>
          <a:solidFill>
            <a:srgbClr val="F9F9F9"/>
          </a:solidFill>
          <a:ln/>
        </p:spPr>
      </p:sp>
      <p:sp>
        <p:nvSpPr>
          <p:cNvPr id="14" name="Text 10"/>
          <p:cNvSpPr/>
          <p:nvPr/>
        </p:nvSpPr>
        <p:spPr>
          <a:xfrm>
            <a:off x="428625" y="1724434"/>
            <a:ext cx="775097" cy="409984"/>
          </a:xfrm>
          <a:prstGeom prst="rect">
            <a:avLst/>
          </a:prstGeom>
          <a:noFill/>
          <a:ln/>
        </p:spPr>
        <p:txBody>
          <a:bodyPr wrap="square" lIns="102108" tIns="85090" rIns="102108" bIns="85090" rtlCol="0" anchor="t">
            <a:spAutoFit/>
          </a:bodyPr>
          <a:lstStyle/>
          <a:p>
            <a:pPr algn="l" indent="0" marL="0">
              <a:lnSpc>
                <a:spcPct val="112000"/>
              </a:lnSpc>
              <a:buNone/>
            </a:pPr>
            <a:r>
              <a:rPr lang="en-US" sz="650" b="1" dirty="0">
                <a:solidFill>
                  <a:srgbClr val="0A192F"/>
                </a:solidFill>
                <a:latin typeface="Segoe UI" pitchFamily="34" charset="0"/>
                <a:ea typeface="Segoe UI" pitchFamily="34" charset="-122"/>
                <a:cs typeface="Segoe UI" pitchFamily="34" charset="-120"/>
              </a:rPr>
              <a:t>GLCM</a:t>
            </a:r>
            <a:endParaRPr lang="en-US" sz="650" dirty="0"/>
          </a:p>
        </p:txBody>
      </p:sp>
      <p:sp>
        <p:nvSpPr>
          <p:cNvPr id="15" name="Text 11"/>
          <p:cNvSpPr/>
          <p:nvPr/>
        </p:nvSpPr>
        <p:spPr>
          <a:xfrm>
            <a:off x="1203722" y="1724434"/>
            <a:ext cx="3261122" cy="409984"/>
          </a:xfrm>
          <a:prstGeom prst="rect">
            <a:avLst/>
          </a:prstGeom>
          <a:noFill/>
          <a:ln/>
        </p:spPr>
        <p:txBody>
          <a:bodyPr wrap="square" lIns="102108" tIns="85090" rIns="102108" bIns="85090" rtlCol="0" anchor="t">
            <a:spAutoFit/>
          </a:bodyPr>
          <a:lstStyle/>
          <a:p>
            <a:pPr algn="l" indent="0" marL="0">
              <a:lnSpc>
                <a:spcPct val="112000"/>
              </a:lnSpc>
              <a:buNone/>
            </a:pPr>
            <a:r>
              <a:rPr lang="en-US" sz="650" dirty="0">
                <a:solidFill>
                  <a:srgbClr val="333F48"/>
                </a:solidFill>
                <a:latin typeface="Segoe UI" pitchFamily="34" charset="0"/>
                <a:ea typeface="Segoe UI" pitchFamily="34" charset="-122"/>
                <a:cs typeface="Segoe UI" pitchFamily="34" charset="-120"/>
              </a:rPr>
              <a:t>Extracts statistical characteristics: Contrast, Correlation, Energy, and Homogeneity.</a:t>
            </a:r>
            <a:endParaRPr lang="en-US" sz="650" dirty="0"/>
          </a:p>
        </p:txBody>
      </p:sp>
      <p:sp>
        <p:nvSpPr>
          <p:cNvPr id="16" name="Text 12"/>
          <p:cNvSpPr/>
          <p:nvPr/>
        </p:nvSpPr>
        <p:spPr>
          <a:xfrm>
            <a:off x="428625" y="2134419"/>
            <a:ext cx="775097" cy="409984"/>
          </a:xfrm>
          <a:prstGeom prst="rect">
            <a:avLst/>
          </a:prstGeom>
          <a:noFill/>
          <a:ln/>
        </p:spPr>
        <p:txBody>
          <a:bodyPr wrap="square" lIns="102108" tIns="85090" rIns="102108" bIns="85090" rtlCol="0" anchor="t">
            <a:spAutoFit/>
          </a:bodyPr>
          <a:lstStyle/>
          <a:p>
            <a:pPr algn="l" indent="0" marL="0">
              <a:lnSpc>
                <a:spcPct val="112000"/>
              </a:lnSpc>
              <a:buNone/>
            </a:pPr>
            <a:r>
              <a:rPr lang="en-US" sz="650" b="1" dirty="0">
                <a:solidFill>
                  <a:srgbClr val="0A192F"/>
                </a:solidFill>
                <a:latin typeface="Segoe UI" pitchFamily="34" charset="0"/>
                <a:ea typeface="Segoe UI" pitchFamily="34" charset="-122"/>
                <a:cs typeface="Segoe UI" pitchFamily="34" charset="-120"/>
              </a:rPr>
              <a:t>SVM</a:t>
            </a:r>
            <a:endParaRPr lang="en-US" sz="650" dirty="0"/>
          </a:p>
        </p:txBody>
      </p:sp>
      <p:sp>
        <p:nvSpPr>
          <p:cNvPr id="17" name="Text 13"/>
          <p:cNvSpPr/>
          <p:nvPr/>
        </p:nvSpPr>
        <p:spPr>
          <a:xfrm>
            <a:off x="1203722" y="2134419"/>
            <a:ext cx="3261122" cy="409984"/>
          </a:xfrm>
          <a:prstGeom prst="rect">
            <a:avLst/>
          </a:prstGeom>
          <a:noFill/>
          <a:ln/>
        </p:spPr>
        <p:txBody>
          <a:bodyPr wrap="square" lIns="102108" tIns="85090" rIns="102108" bIns="85090" rtlCol="0" anchor="t">
            <a:spAutoFit/>
          </a:bodyPr>
          <a:lstStyle/>
          <a:p>
            <a:pPr algn="l" indent="0" marL="0">
              <a:lnSpc>
                <a:spcPct val="112000"/>
              </a:lnSpc>
              <a:buNone/>
            </a:pPr>
            <a:r>
              <a:rPr lang="en-US" sz="650" dirty="0">
                <a:solidFill>
                  <a:srgbClr val="333F48"/>
                </a:solidFill>
                <a:latin typeface="Segoe UI" pitchFamily="34" charset="0"/>
                <a:ea typeface="Segoe UI" pitchFamily="34" charset="-122"/>
                <a:cs typeface="Segoe UI" pitchFamily="34" charset="-120"/>
              </a:rPr>
              <a:t>Effective for structured features; supports linear/nonlinear boundaries; lightweight.</a:t>
            </a:r>
            <a:endParaRPr lang="en-US" sz="650" dirty="0"/>
          </a:p>
        </p:txBody>
      </p:sp>
      <p:sp>
        <p:nvSpPr>
          <p:cNvPr id="18" name="Text 14"/>
          <p:cNvSpPr/>
          <p:nvPr/>
        </p:nvSpPr>
        <p:spPr>
          <a:xfrm>
            <a:off x="4679156" y="807244"/>
            <a:ext cx="4036219" cy="150019"/>
          </a:xfrm>
          <a:prstGeom prst="rect">
            <a:avLst/>
          </a:prstGeom>
          <a:noFill/>
          <a:ln/>
        </p:spPr>
        <p:txBody>
          <a:bodyPr wrap="square" lIns="0" tIns="0" rIns="0" bIns="0" rtlCol="0" anchor="t">
            <a:spAutoFit/>
          </a:bodyPr>
          <a:lstStyle/>
          <a:p>
            <a:pPr algn="l" indent="0" marL="0">
              <a:buNone/>
            </a:pPr>
            <a:r>
              <a:rPr lang="en-US" sz="900" b="1" spc="1" kern="0" dirty="0">
                <a:solidFill>
                  <a:srgbClr val="0A192F"/>
                </a:solidFill>
                <a:latin typeface="Segoe UI" pitchFamily="34" charset="0"/>
                <a:ea typeface="Segoe UI" pitchFamily="34" charset="-122"/>
                <a:cs typeface="Segoe UI" pitchFamily="34" charset="-120"/>
              </a:rPr>
              <a:t>EVALUATION METRICS</a:t>
            </a:r>
            <a:endParaRPr lang="en-US" sz="900" dirty="0"/>
          </a:p>
        </p:txBody>
      </p:sp>
      <p:sp>
        <p:nvSpPr>
          <p:cNvPr id="19" name="Shape 15"/>
          <p:cNvSpPr/>
          <p:nvPr/>
        </p:nvSpPr>
        <p:spPr>
          <a:xfrm>
            <a:off x="4679156" y="1064419"/>
            <a:ext cx="4036219" cy="1285875"/>
          </a:xfrm>
          <a:prstGeom prst="rect">
            <a:avLst/>
          </a:prstGeom>
          <a:solidFill>
            <a:srgbClr val="FFFFFF"/>
          </a:solidFill>
          <a:ln w="9144">
            <a:solidFill>
              <a:srgbClr val="0A192F">
                <a:alpha val="10000"/>
              </a:srgbClr>
            </a:solidFill>
            <a:prstDash val="solid"/>
          </a:ln>
        </p:spPr>
      </p:sp>
      <p:pic>
        <p:nvPicPr>
          <p:cNvPr id="20" name="Image 1" descr="preencoded.png">    </p:cNvPr>
          <p:cNvPicPr>
            <a:picLocks noChangeAspect="1"/>
          </p:cNvPicPr>
          <p:nvPr/>
        </p:nvPicPr>
        <p:blipFill>
          <a:blip r:embed="rId2"/>
          <a:stretch>
            <a:fillRect/>
          </a:stretch>
        </p:blipFill>
        <p:spPr>
          <a:xfrm>
            <a:off x="4822031" y="1214438"/>
            <a:ext cx="142875" cy="100013"/>
          </a:xfrm>
          <a:prstGeom prst="rect">
            <a:avLst/>
          </a:prstGeom>
        </p:spPr>
      </p:pic>
      <p:sp>
        <p:nvSpPr>
          <p:cNvPr id="21" name="Text 16"/>
          <p:cNvSpPr/>
          <p:nvPr/>
        </p:nvSpPr>
        <p:spPr>
          <a:xfrm>
            <a:off x="5036344" y="1207294"/>
            <a:ext cx="483654" cy="114300"/>
          </a:xfrm>
          <a:prstGeom prst="rect">
            <a:avLst/>
          </a:prstGeom>
          <a:noFill/>
          <a:ln/>
        </p:spPr>
        <p:txBody>
          <a:bodyPr wrap="none" lIns="0" tIns="0" rIns="0" bIns="0" rtlCol="0" anchor="t">
            <a:spAutoFit/>
          </a:bodyPr>
          <a:lstStyle/>
          <a:p>
            <a:pPr algn="l" indent="0" marL="0">
              <a:buNone/>
            </a:pPr>
            <a:r>
              <a:rPr lang="en-US" sz="700" b="1" dirty="0">
                <a:solidFill>
                  <a:srgbClr val="333F48"/>
                </a:solidFill>
                <a:latin typeface="Segoe UI" pitchFamily="34" charset="0"/>
                <a:ea typeface="Segoe UI" pitchFamily="34" charset="-122"/>
                <a:cs typeface="Segoe UI" pitchFamily="34" charset="-120"/>
              </a:rPr>
              <a:t>Accuracy:</a:t>
            </a:r>
            <a:endParaRPr lang="en-US" sz="700" dirty="0"/>
          </a:p>
        </p:txBody>
      </p:sp>
      <p:sp>
        <p:nvSpPr>
          <p:cNvPr id="22" name="Text 17"/>
          <p:cNvSpPr/>
          <p:nvPr/>
        </p:nvSpPr>
        <p:spPr>
          <a:xfrm>
            <a:off x="5519998" y="1207294"/>
            <a:ext cx="1484058" cy="114300"/>
          </a:xfrm>
          <a:prstGeom prst="rect">
            <a:avLst/>
          </a:prstGeom>
          <a:noFill/>
          <a:ln/>
        </p:spPr>
        <p:txBody>
          <a:bodyPr wrap="square" lIns="0" tIns="0" rIns="0" bIns="0" rtlCol="0" anchor="t">
            <a:spAutoFit/>
          </a:bodyPr>
          <a:lstStyle/>
          <a:p>
            <a:pPr algn="l" indent="0" marL="0">
              <a:buNone/>
            </a:pPr>
            <a:r>
              <a:rPr lang="en-US" sz="750" dirty="0">
                <a:solidFill>
                  <a:srgbClr val="333F48"/>
                </a:solidFill>
                <a:latin typeface="Segoe UI" pitchFamily="34" charset="0"/>
                <a:ea typeface="Segoe UI" pitchFamily="34" charset="-122"/>
                <a:cs typeface="Segoe UI" pitchFamily="34" charset="-120"/>
              </a:rPr>
              <a:t>Overall classification correctness.</a:t>
            </a:r>
            <a:endParaRPr lang="en-US" sz="750" dirty="0"/>
          </a:p>
        </p:txBody>
      </p:sp>
      <p:pic>
        <p:nvPicPr>
          <p:cNvPr id="23" name="Image 2" descr="preencoded.png">    </p:cNvPr>
          <p:cNvPicPr>
            <a:picLocks noChangeAspect="1"/>
          </p:cNvPicPr>
          <p:nvPr/>
        </p:nvPicPr>
        <p:blipFill>
          <a:blip r:embed="rId3"/>
          <a:stretch>
            <a:fillRect/>
          </a:stretch>
        </p:blipFill>
        <p:spPr>
          <a:xfrm>
            <a:off x="4822031" y="1400175"/>
            <a:ext cx="142875" cy="100013"/>
          </a:xfrm>
          <a:prstGeom prst="rect">
            <a:avLst/>
          </a:prstGeom>
        </p:spPr>
      </p:pic>
      <p:sp>
        <p:nvSpPr>
          <p:cNvPr id="24" name="Text 18"/>
          <p:cNvSpPr/>
          <p:nvPr/>
        </p:nvSpPr>
        <p:spPr>
          <a:xfrm>
            <a:off x="5036344" y="1393031"/>
            <a:ext cx="906028" cy="114300"/>
          </a:xfrm>
          <a:prstGeom prst="rect">
            <a:avLst/>
          </a:prstGeom>
          <a:noFill/>
          <a:ln/>
        </p:spPr>
        <p:txBody>
          <a:bodyPr wrap="none" lIns="0" tIns="0" rIns="0" bIns="0" rtlCol="0" anchor="t">
            <a:spAutoFit/>
          </a:bodyPr>
          <a:lstStyle/>
          <a:p>
            <a:pPr algn="l" indent="0" marL="0">
              <a:buNone/>
            </a:pPr>
            <a:r>
              <a:rPr lang="en-US" sz="700" b="1" dirty="0">
                <a:solidFill>
                  <a:srgbClr val="333F48"/>
                </a:solidFill>
                <a:latin typeface="Segoe UI" pitchFamily="34" charset="0"/>
                <a:ea typeface="Segoe UI" pitchFamily="34" charset="-122"/>
                <a:cs typeface="Segoe UI" pitchFamily="34" charset="-120"/>
              </a:rPr>
              <a:t>Precision &amp; Recall:</a:t>
            </a:r>
            <a:endParaRPr lang="en-US" sz="700" dirty="0"/>
          </a:p>
        </p:txBody>
      </p:sp>
      <p:sp>
        <p:nvSpPr>
          <p:cNvPr id="25" name="Text 19"/>
          <p:cNvSpPr/>
          <p:nvPr/>
        </p:nvSpPr>
        <p:spPr>
          <a:xfrm>
            <a:off x="5942372" y="1393031"/>
            <a:ext cx="1534120" cy="114300"/>
          </a:xfrm>
          <a:prstGeom prst="rect">
            <a:avLst/>
          </a:prstGeom>
          <a:noFill/>
          <a:ln/>
        </p:spPr>
        <p:txBody>
          <a:bodyPr wrap="square" lIns="0" tIns="0" rIns="0" bIns="0" rtlCol="0" anchor="t">
            <a:spAutoFit/>
          </a:bodyPr>
          <a:lstStyle/>
          <a:p>
            <a:pPr algn="l" indent="0" marL="0">
              <a:buNone/>
            </a:pPr>
            <a:r>
              <a:rPr lang="en-US" sz="750" dirty="0">
                <a:solidFill>
                  <a:srgbClr val="333F48"/>
                </a:solidFill>
                <a:latin typeface="Segoe UI" pitchFamily="34" charset="0"/>
                <a:ea typeface="Segoe UI" pitchFamily="34" charset="-122"/>
                <a:cs typeface="Segoe UI" pitchFamily="34" charset="-120"/>
              </a:rPr>
              <a:t>Reliability vs. sensitivity to defects.</a:t>
            </a:r>
            <a:endParaRPr lang="en-US" sz="750" dirty="0"/>
          </a:p>
        </p:txBody>
      </p:sp>
      <p:pic>
        <p:nvPicPr>
          <p:cNvPr id="26" name="Image 3" descr="preencoded.png">    </p:cNvPr>
          <p:cNvPicPr>
            <a:picLocks noChangeAspect="1"/>
          </p:cNvPicPr>
          <p:nvPr/>
        </p:nvPicPr>
        <p:blipFill>
          <a:blip r:embed="rId4"/>
          <a:stretch>
            <a:fillRect/>
          </a:stretch>
        </p:blipFill>
        <p:spPr>
          <a:xfrm>
            <a:off x="4822031" y="1585913"/>
            <a:ext cx="142875" cy="100013"/>
          </a:xfrm>
          <a:prstGeom prst="rect">
            <a:avLst/>
          </a:prstGeom>
        </p:spPr>
      </p:pic>
      <p:sp>
        <p:nvSpPr>
          <p:cNvPr id="27" name="Text 20"/>
          <p:cNvSpPr/>
          <p:nvPr/>
        </p:nvSpPr>
        <p:spPr>
          <a:xfrm>
            <a:off x="5036344" y="1578769"/>
            <a:ext cx="461330" cy="114300"/>
          </a:xfrm>
          <a:prstGeom prst="rect">
            <a:avLst/>
          </a:prstGeom>
          <a:noFill/>
          <a:ln/>
        </p:spPr>
        <p:txBody>
          <a:bodyPr wrap="none" lIns="0" tIns="0" rIns="0" bIns="0" rtlCol="0" anchor="t">
            <a:spAutoFit/>
          </a:bodyPr>
          <a:lstStyle/>
          <a:p>
            <a:pPr algn="l" indent="0" marL="0">
              <a:buNone/>
            </a:pPr>
            <a:r>
              <a:rPr lang="en-US" sz="700" b="1" dirty="0">
                <a:solidFill>
                  <a:srgbClr val="333F48"/>
                </a:solidFill>
                <a:latin typeface="Segoe UI" pitchFamily="34" charset="0"/>
                <a:ea typeface="Segoe UI" pitchFamily="34" charset="-122"/>
                <a:cs typeface="Segoe UI" pitchFamily="34" charset="-120"/>
              </a:rPr>
              <a:t>F1-Score:</a:t>
            </a:r>
            <a:endParaRPr lang="en-US" sz="700" dirty="0"/>
          </a:p>
        </p:txBody>
      </p:sp>
      <p:sp>
        <p:nvSpPr>
          <p:cNvPr id="28" name="Text 21"/>
          <p:cNvSpPr/>
          <p:nvPr/>
        </p:nvSpPr>
        <p:spPr>
          <a:xfrm>
            <a:off x="5497674" y="1578769"/>
            <a:ext cx="1901186" cy="114300"/>
          </a:xfrm>
          <a:prstGeom prst="rect">
            <a:avLst/>
          </a:prstGeom>
          <a:noFill/>
          <a:ln/>
        </p:spPr>
        <p:txBody>
          <a:bodyPr wrap="square" lIns="0" tIns="0" rIns="0" bIns="0" rtlCol="0" anchor="t">
            <a:spAutoFit/>
          </a:bodyPr>
          <a:lstStyle/>
          <a:p>
            <a:pPr algn="l" indent="0" marL="0">
              <a:buNone/>
            </a:pPr>
            <a:r>
              <a:rPr lang="en-US" sz="750" dirty="0">
                <a:solidFill>
                  <a:srgbClr val="333F48"/>
                </a:solidFill>
                <a:latin typeface="Segoe UI" pitchFamily="34" charset="0"/>
                <a:ea typeface="Segoe UI" pitchFamily="34" charset="-122"/>
                <a:cs typeface="Segoe UI" pitchFamily="34" charset="-120"/>
              </a:rPr>
              <a:t>Harmonic mean for balanced performance.</a:t>
            </a:r>
            <a:endParaRPr lang="en-US" sz="750" dirty="0"/>
          </a:p>
        </p:txBody>
      </p:sp>
      <p:pic>
        <p:nvPicPr>
          <p:cNvPr id="29" name="Image 4" descr="preencoded.png">    </p:cNvPr>
          <p:cNvPicPr>
            <a:picLocks noChangeAspect="1"/>
          </p:cNvPicPr>
          <p:nvPr/>
        </p:nvPicPr>
        <p:blipFill>
          <a:blip r:embed="rId5"/>
          <a:stretch>
            <a:fillRect/>
          </a:stretch>
        </p:blipFill>
        <p:spPr>
          <a:xfrm>
            <a:off x="4822031" y="1771650"/>
            <a:ext cx="142875" cy="100013"/>
          </a:xfrm>
          <a:prstGeom prst="rect">
            <a:avLst/>
          </a:prstGeom>
        </p:spPr>
      </p:pic>
      <p:sp>
        <p:nvSpPr>
          <p:cNvPr id="30" name="Text 22"/>
          <p:cNvSpPr/>
          <p:nvPr/>
        </p:nvSpPr>
        <p:spPr>
          <a:xfrm>
            <a:off x="5036344" y="1764506"/>
            <a:ext cx="850106" cy="114300"/>
          </a:xfrm>
          <a:prstGeom prst="rect">
            <a:avLst/>
          </a:prstGeom>
          <a:noFill/>
          <a:ln/>
        </p:spPr>
        <p:txBody>
          <a:bodyPr wrap="none" lIns="0" tIns="0" rIns="0" bIns="0" rtlCol="0" anchor="t">
            <a:spAutoFit/>
          </a:bodyPr>
          <a:lstStyle/>
          <a:p>
            <a:pPr algn="l" indent="0" marL="0">
              <a:buNone/>
            </a:pPr>
            <a:r>
              <a:rPr lang="en-US" sz="700" b="1" dirty="0">
                <a:solidFill>
                  <a:srgbClr val="333F48"/>
                </a:solidFill>
                <a:latin typeface="Segoe UI" pitchFamily="34" charset="0"/>
                <a:ea typeface="Segoe UI" pitchFamily="34" charset="-122"/>
                <a:cs typeface="Segoe UI" pitchFamily="34" charset="-120"/>
              </a:rPr>
              <a:t>Confusion Matrix:</a:t>
            </a:r>
            <a:endParaRPr lang="en-US" sz="700" dirty="0"/>
          </a:p>
        </p:txBody>
      </p:sp>
      <p:sp>
        <p:nvSpPr>
          <p:cNvPr id="31" name="Text 23"/>
          <p:cNvSpPr/>
          <p:nvPr/>
        </p:nvSpPr>
        <p:spPr>
          <a:xfrm>
            <a:off x="5886450" y="1764506"/>
            <a:ext cx="1461901" cy="114300"/>
          </a:xfrm>
          <a:prstGeom prst="rect">
            <a:avLst/>
          </a:prstGeom>
          <a:noFill/>
          <a:ln/>
        </p:spPr>
        <p:txBody>
          <a:bodyPr wrap="square" lIns="0" tIns="0" rIns="0" bIns="0" rtlCol="0" anchor="t">
            <a:spAutoFit/>
          </a:bodyPr>
          <a:lstStyle/>
          <a:p>
            <a:pPr algn="l" indent="0" marL="0">
              <a:buNone/>
            </a:pPr>
            <a:r>
              <a:rPr lang="en-US" sz="750" dirty="0">
                <a:solidFill>
                  <a:srgbClr val="333F48"/>
                </a:solidFill>
                <a:latin typeface="Segoe UI" pitchFamily="34" charset="0"/>
                <a:ea typeface="Segoe UI" pitchFamily="34" charset="-122"/>
                <a:cs typeface="Segoe UI" pitchFamily="34" charset="-120"/>
              </a:rPr>
              <a:t>Structural analysis of error types.</a:t>
            </a:r>
            <a:endParaRPr lang="en-US" sz="750" dirty="0"/>
          </a:p>
        </p:txBody>
      </p:sp>
      <p:sp>
        <p:nvSpPr>
          <p:cNvPr id="32" name="Text 24"/>
          <p:cNvSpPr/>
          <p:nvPr/>
        </p:nvSpPr>
        <p:spPr>
          <a:xfrm>
            <a:off x="428625" y="2833725"/>
            <a:ext cx="8286750" cy="150019"/>
          </a:xfrm>
          <a:prstGeom prst="rect">
            <a:avLst/>
          </a:prstGeom>
          <a:noFill/>
          <a:ln/>
        </p:spPr>
        <p:txBody>
          <a:bodyPr wrap="square" lIns="0" tIns="0" rIns="0" bIns="0" rtlCol="0" anchor="t">
            <a:spAutoFit/>
          </a:bodyPr>
          <a:lstStyle/>
          <a:p>
            <a:pPr algn="l" indent="0" marL="0">
              <a:buNone/>
            </a:pPr>
            <a:r>
              <a:rPr lang="en-US" sz="900" b="1" spc="1" kern="0" dirty="0">
                <a:solidFill>
                  <a:srgbClr val="0A192F"/>
                </a:solidFill>
                <a:latin typeface="Segoe UI" pitchFamily="34" charset="0"/>
                <a:ea typeface="Segoe UI" pitchFamily="34" charset="-122"/>
                <a:cs typeface="Segoe UI" pitchFamily="34" charset="-120"/>
              </a:rPr>
              <a:t>CONCEPTUAL EVALUATION FRAMEWORK</a:t>
            </a:r>
            <a:endParaRPr lang="en-US" sz="900" dirty="0"/>
          </a:p>
        </p:txBody>
      </p:sp>
      <p:sp>
        <p:nvSpPr>
          <p:cNvPr id="33" name="Shape 25"/>
          <p:cNvSpPr/>
          <p:nvPr/>
        </p:nvSpPr>
        <p:spPr>
          <a:xfrm>
            <a:off x="428625" y="3090900"/>
            <a:ext cx="8286750" cy="1100751"/>
          </a:xfrm>
          <a:prstGeom prst="rect">
            <a:avLst/>
          </a:prstGeom>
          <a:solidFill>
            <a:srgbClr val="FFFFFF"/>
          </a:solidFill>
          <a:ln w="9144">
            <a:solidFill>
              <a:srgbClr val="0A192F"/>
            </a:solidFill>
            <a:prstDash val="solid"/>
          </a:ln>
        </p:spPr>
      </p:sp>
      <p:sp>
        <p:nvSpPr>
          <p:cNvPr id="34" name="Shape 26"/>
          <p:cNvSpPr/>
          <p:nvPr/>
        </p:nvSpPr>
        <p:spPr>
          <a:xfrm>
            <a:off x="428625" y="3090900"/>
            <a:ext cx="2580233" cy="253603"/>
          </a:xfrm>
          <a:prstGeom prst="rect">
            <a:avLst/>
          </a:prstGeom>
          <a:solidFill>
            <a:srgbClr val="0A192F"/>
          </a:solidFill>
          <a:ln/>
        </p:spPr>
      </p:sp>
      <p:sp>
        <p:nvSpPr>
          <p:cNvPr id="35" name="Text 27"/>
          <p:cNvSpPr/>
          <p:nvPr/>
        </p:nvSpPr>
        <p:spPr>
          <a:xfrm>
            <a:off x="428625" y="3090900"/>
            <a:ext cx="2580233" cy="253603"/>
          </a:xfrm>
          <a:prstGeom prst="rect">
            <a:avLst/>
          </a:prstGeom>
          <a:noFill/>
          <a:ln/>
        </p:spPr>
        <p:txBody>
          <a:bodyPr wrap="square" lIns="102108" tIns="85090" rIns="102108" bIns="85090" rtlCol="0" anchor="ctr">
            <a:spAutoFit/>
          </a:bodyPr>
          <a:lstStyle/>
          <a:p>
            <a:pPr algn="l" indent="0" marL="0">
              <a:buNone/>
            </a:pPr>
            <a:r>
              <a:rPr lang="en-US" sz="650" b="1" dirty="0">
                <a:solidFill>
                  <a:srgbClr val="FFFFFF"/>
                </a:solidFill>
                <a:latin typeface="Segoe UI" pitchFamily="34" charset="0"/>
                <a:ea typeface="Segoe UI" pitchFamily="34" charset="-122"/>
                <a:cs typeface="Segoe UI" pitchFamily="34" charset="-120"/>
              </a:rPr>
              <a:t>MODEL PIPELINE</a:t>
            </a:r>
            <a:endParaRPr lang="en-US" sz="650" dirty="0"/>
          </a:p>
        </p:txBody>
      </p:sp>
      <p:sp>
        <p:nvSpPr>
          <p:cNvPr id="36" name="Shape 28"/>
          <p:cNvSpPr/>
          <p:nvPr/>
        </p:nvSpPr>
        <p:spPr>
          <a:xfrm>
            <a:off x="3008858" y="3090900"/>
            <a:ext cx="1426573" cy="253603"/>
          </a:xfrm>
          <a:prstGeom prst="rect">
            <a:avLst/>
          </a:prstGeom>
          <a:solidFill>
            <a:srgbClr val="0A192F"/>
          </a:solidFill>
          <a:ln/>
        </p:spPr>
      </p:sp>
      <p:sp>
        <p:nvSpPr>
          <p:cNvPr id="37" name="Text 29"/>
          <p:cNvSpPr/>
          <p:nvPr/>
        </p:nvSpPr>
        <p:spPr>
          <a:xfrm>
            <a:off x="3008858" y="3090900"/>
            <a:ext cx="1426573" cy="253603"/>
          </a:xfrm>
          <a:prstGeom prst="rect">
            <a:avLst/>
          </a:prstGeom>
          <a:noFill/>
          <a:ln/>
        </p:spPr>
        <p:txBody>
          <a:bodyPr wrap="square" lIns="102108" tIns="85090" rIns="102108" bIns="85090" rtlCol="0" anchor="ctr">
            <a:spAutoFit/>
          </a:bodyPr>
          <a:lstStyle/>
          <a:p>
            <a:pPr algn="l" indent="0" marL="0">
              <a:buNone/>
            </a:pPr>
            <a:r>
              <a:rPr lang="en-US" sz="650" b="1" dirty="0">
                <a:solidFill>
                  <a:srgbClr val="FFFFFF"/>
                </a:solidFill>
                <a:latin typeface="Segoe UI" pitchFamily="34" charset="0"/>
                <a:ea typeface="Segoe UI" pitchFamily="34" charset="-122"/>
                <a:cs typeface="Segoe UI" pitchFamily="34" charset="-120"/>
              </a:rPr>
              <a:t>ACCURACY</a:t>
            </a:r>
            <a:endParaRPr lang="en-US" sz="650" dirty="0"/>
          </a:p>
        </p:txBody>
      </p:sp>
      <p:sp>
        <p:nvSpPr>
          <p:cNvPr id="38" name="Shape 30"/>
          <p:cNvSpPr/>
          <p:nvPr/>
        </p:nvSpPr>
        <p:spPr>
          <a:xfrm>
            <a:off x="4435432" y="3090900"/>
            <a:ext cx="1426573" cy="253603"/>
          </a:xfrm>
          <a:prstGeom prst="rect">
            <a:avLst/>
          </a:prstGeom>
          <a:solidFill>
            <a:srgbClr val="0A192F"/>
          </a:solidFill>
          <a:ln/>
        </p:spPr>
      </p:sp>
      <p:sp>
        <p:nvSpPr>
          <p:cNvPr id="39" name="Text 31"/>
          <p:cNvSpPr/>
          <p:nvPr/>
        </p:nvSpPr>
        <p:spPr>
          <a:xfrm>
            <a:off x="4435432" y="3090900"/>
            <a:ext cx="1426573" cy="253603"/>
          </a:xfrm>
          <a:prstGeom prst="rect">
            <a:avLst/>
          </a:prstGeom>
          <a:noFill/>
          <a:ln/>
        </p:spPr>
        <p:txBody>
          <a:bodyPr wrap="square" lIns="102108" tIns="85090" rIns="102108" bIns="85090" rtlCol="0" anchor="ctr">
            <a:spAutoFit/>
          </a:bodyPr>
          <a:lstStyle/>
          <a:p>
            <a:pPr algn="l" indent="0" marL="0">
              <a:buNone/>
            </a:pPr>
            <a:r>
              <a:rPr lang="en-US" sz="650" b="1" dirty="0">
                <a:solidFill>
                  <a:srgbClr val="FFFFFF"/>
                </a:solidFill>
                <a:latin typeface="Segoe UI" pitchFamily="34" charset="0"/>
                <a:ea typeface="Segoe UI" pitchFamily="34" charset="-122"/>
                <a:cs typeface="Segoe UI" pitchFamily="34" charset="-120"/>
              </a:rPr>
              <a:t>PRECISION</a:t>
            </a:r>
            <a:endParaRPr lang="en-US" sz="650" dirty="0"/>
          </a:p>
        </p:txBody>
      </p:sp>
      <p:sp>
        <p:nvSpPr>
          <p:cNvPr id="40" name="Shape 32"/>
          <p:cNvSpPr/>
          <p:nvPr/>
        </p:nvSpPr>
        <p:spPr>
          <a:xfrm>
            <a:off x="5862005" y="3090900"/>
            <a:ext cx="1426573" cy="253603"/>
          </a:xfrm>
          <a:prstGeom prst="rect">
            <a:avLst/>
          </a:prstGeom>
          <a:solidFill>
            <a:srgbClr val="0A192F"/>
          </a:solidFill>
          <a:ln/>
        </p:spPr>
      </p:sp>
      <p:sp>
        <p:nvSpPr>
          <p:cNvPr id="41" name="Text 33"/>
          <p:cNvSpPr/>
          <p:nvPr/>
        </p:nvSpPr>
        <p:spPr>
          <a:xfrm>
            <a:off x="5862005" y="3090900"/>
            <a:ext cx="1426573" cy="253603"/>
          </a:xfrm>
          <a:prstGeom prst="rect">
            <a:avLst/>
          </a:prstGeom>
          <a:noFill/>
          <a:ln/>
        </p:spPr>
        <p:txBody>
          <a:bodyPr wrap="square" lIns="102108" tIns="85090" rIns="102108" bIns="85090" rtlCol="0" anchor="ctr">
            <a:spAutoFit/>
          </a:bodyPr>
          <a:lstStyle/>
          <a:p>
            <a:pPr algn="l" indent="0" marL="0">
              <a:buNone/>
            </a:pPr>
            <a:r>
              <a:rPr lang="en-US" sz="650" b="1" dirty="0">
                <a:solidFill>
                  <a:srgbClr val="FFFFFF"/>
                </a:solidFill>
                <a:latin typeface="Segoe UI" pitchFamily="34" charset="0"/>
                <a:ea typeface="Segoe UI" pitchFamily="34" charset="-122"/>
                <a:cs typeface="Segoe UI" pitchFamily="34" charset="-120"/>
              </a:rPr>
              <a:t>RECALL</a:t>
            </a:r>
            <a:endParaRPr lang="en-US" sz="650" dirty="0"/>
          </a:p>
        </p:txBody>
      </p:sp>
      <p:sp>
        <p:nvSpPr>
          <p:cNvPr id="42" name="Shape 34"/>
          <p:cNvSpPr/>
          <p:nvPr/>
        </p:nvSpPr>
        <p:spPr>
          <a:xfrm>
            <a:off x="7288578" y="3090900"/>
            <a:ext cx="1426797" cy="253603"/>
          </a:xfrm>
          <a:prstGeom prst="rect">
            <a:avLst/>
          </a:prstGeom>
          <a:solidFill>
            <a:srgbClr val="0A192F"/>
          </a:solidFill>
          <a:ln/>
        </p:spPr>
      </p:sp>
      <p:sp>
        <p:nvSpPr>
          <p:cNvPr id="43" name="Text 35"/>
          <p:cNvSpPr/>
          <p:nvPr/>
        </p:nvSpPr>
        <p:spPr>
          <a:xfrm>
            <a:off x="7288578" y="3090900"/>
            <a:ext cx="1426797" cy="253603"/>
          </a:xfrm>
          <a:prstGeom prst="rect">
            <a:avLst/>
          </a:prstGeom>
          <a:noFill/>
          <a:ln/>
        </p:spPr>
        <p:txBody>
          <a:bodyPr wrap="square" lIns="102108" tIns="85090" rIns="102108" bIns="85090" rtlCol="0" anchor="ctr">
            <a:spAutoFit/>
          </a:bodyPr>
          <a:lstStyle/>
          <a:p>
            <a:pPr algn="l" indent="0" marL="0">
              <a:buNone/>
            </a:pPr>
            <a:r>
              <a:rPr lang="en-US" sz="650" b="1" dirty="0">
                <a:solidFill>
                  <a:srgbClr val="FFFFFF"/>
                </a:solidFill>
                <a:latin typeface="Segoe UI" pitchFamily="34" charset="0"/>
                <a:ea typeface="Segoe UI" pitchFamily="34" charset="-122"/>
                <a:cs typeface="Segoe UI" pitchFamily="34" charset="-120"/>
              </a:rPr>
              <a:t>F1-SCORE</a:t>
            </a:r>
            <a:endParaRPr lang="en-US" sz="650" dirty="0"/>
          </a:p>
        </p:txBody>
      </p:sp>
      <p:sp>
        <p:nvSpPr>
          <p:cNvPr id="44" name="Text 36"/>
          <p:cNvSpPr/>
          <p:nvPr/>
        </p:nvSpPr>
        <p:spPr>
          <a:xfrm>
            <a:off x="428625" y="3344503"/>
            <a:ext cx="2580233" cy="276430"/>
          </a:xfrm>
          <a:prstGeom prst="rect">
            <a:avLst/>
          </a:prstGeom>
          <a:noFill/>
          <a:ln/>
        </p:spPr>
        <p:txBody>
          <a:bodyPr wrap="square" lIns="102108" tIns="85090" rIns="102108" bIns="85090" rtlCol="0" anchor="t">
            <a:spAutoFit/>
          </a:bodyPr>
          <a:lstStyle/>
          <a:p>
            <a:pPr algn="l" indent="0" marL="0">
              <a:lnSpc>
                <a:spcPct val="112000"/>
              </a:lnSpc>
              <a:buNone/>
            </a:pPr>
            <a:r>
              <a:rPr lang="en-US" sz="650" dirty="0">
                <a:solidFill>
                  <a:srgbClr val="333F48"/>
                </a:solidFill>
                <a:latin typeface="Segoe UI" pitchFamily="34" charset="0"/>
                <a:ea typeface="Segoe UI" pitchFamily="34" charset="-122"/>
                <a:cs typeface="Segoe UI" pitchFamily="34" charset="-120"/>
              </a:rPr>
              <a:t>Single-scale LBP + SVM</a:t>
            </a:r>
            <a:endParaRPr lang="en-US" sz="650" dirty="0"/>
          </a:p>
        </p:txBody>
      </p:sp>
      <p:sp>
        <p:nvSpPr>
          <p:cNvPr id="45" name="Text 37"/>
          <p:cNvSpPr/>
          <p:nvPr/>
        </p:nvSpPr>
        <p:spPr>
          <a:xfrm>
            <a:off x="3008858" y="3344503"/>
            <a:ext cx="1426573" cy="276430"/>
          </a:xfrm>
          <a:prstGeom prst="rect">
            <a:avLst/>
          </a:prstGeom>
          <a:noFill/>
          <a:ln/>
        </p:spPr>
        <p:txBody>
          <a:bodyPr wrap="square" lIns="102108" tIns="85090" rIns="102108" bIns="85090" rtlCol="0" anchor="t">
            <a:spAutoFit/>
          </a:bodyPr>
          <a:lstStyle/>
          <a:p>
            <a:pPr algn="l" indent="0" marL="0">
              <a:lnSpc>
                <a:spcPct val="112000"/>
              </a:lnSpc>
              <a:buNone/>
            </a:pPr>
            <a:r>
              <a:rPr lang="en-US" sz="650" dirty="0">
                <a:solidFill>
                  <a:srgbClr val="333F48"/>
                </a:solidFill>
                <a:latin typeface="Segoe UI" pitchFamily="34" charset="0"/>
                <a:ea typeface="Segoe UI" pitchFamily="34" charset="-122"/>
                <a:cs typeface="Segoe UI" pitchFamily="34" charset="-120"/>
              </a:rPr>
              <a:t>To be evaluated</a:t>
            </a:r>
            <a:endParaRPr lang="en-US" sz="650" dirty="0"/>
          </a:p>
        </p:txBody>
      </p:sp>
      <p:sp>
        <p:nvSpPr>
          <p:cNvPr id="46" name="Text 38"/>
          <p:cNvSpPr/>
          <p:nvPr/>
        </p:nvSpPr>
        <p:spPr>
          <a:xfrm>
            <a:off x="4435432" y="3344503"/>
            <a:ext cx="1426573" cy="276430"/>
          </a:xfrm>
          <a:prstGeom prst="rect">
            <a:avLst/>
          </a:prstGeom>
          <a:noFill/>
          <a:ln/>
        </p:spPr>
        <p:txBody>
          <a:bodyPr wrap="square" lIns="102108" tIns="85090" rIns="102108" bIns="85090" rtlCol="0" anchor="t">
            <a:spAutoFit/>
          </a:bodyPr>
          <a:lstStyle/>
          <a:p>
            <a:pPr algn="l" indent="0" marL="0">
              <a:lnSpc>
                <a:spcPct val="112000"/>
              </a:lnSpc>
              <a:buNone/>
            </a:pPr>
            <a:r>
              <a:rPr lang="en-US" sz="650" dirty="0">
                <a:solidFill>
                  <a:srgbClr val="333F48"/>
                </a:solidFill>
                <a:latin typeface="Segoe UI" pitchFamily="34" charset="0"/>
                <a:ea typeface="Segoe UI" pitchFamily="34" charset="-122"/>
                <a:cs typeface="Segoe UI" pitchFamily="34" charset="-120"/>
              </a:rPr>
              <a:t>To be evaluated</a:t>
            </a:r>
            <a:endParaRPr lang="en-US" sz="650" dirty="0"/>
          </a:p>
        </p:txBody>
      </p:sp>
      <p:sp>
        <p:nvSpPr>
          <p:cNvPr id="47" name="Text 39"/>
          <p:cNvSpPr/>
          <p:nvPr/>
        </p:nvSpPr>
        <p:spPr>
          <a:xfrm>
            <a:off x="5862005" y="3344503"/>
            <a:ext cx="1426573" cy="276430"/>
          </a:xfrm>
          <a:prstGeom prst="rect">
            <a:avLst/>
          </a:prstGeom>
          <a:noFill/>
          <a:ln/>
        </p:spPr>
        <p:txBody>
          <a:bodyPr wrap="square" lIns="102108" tIns="85090" rIns="102108" bIns="85090" rtlCol="0" anchor="t">
            <a:spAutoFit/>
          </a:bodyPr>
          <a:lstStyle/>
          <a:p>
            <a:pPr algn="l" indent="0" marL="0">
              <a:lnSpc>
                <a:spcPct val="112000"/>
              </a:lnSpc>
              <a:buNone/>
            </a:pPr>
            <a:r>
              <a:rPr lang="en-US" sz="650" dirty="0">
                <a:solidFill>
                  <a:srgbClr val="333F48"/>
                </a:solidFill>
                <a:latin typeface="Segoe UI" pitchFamily="34" charset="0"/>
                <a:ea typeface="Segoe UI" pitchFamily="34" charset="-122"/>
                <a:cs typeface="Segoe UI" pitchFamily="34" charset="-120"/>
              </a:rPr>
              <a:t>To be evaluated</a:t>
            </a:r>
            <a:endParaRPr lang="en-US" sz="650" dirty="0"/>
          </a:p>
        </p:txBody>
      </p:sp>
      <p:sp>
        <p:nvSpPr>
          <p:cNvPr id="48" name="Text 40"/>
          <p:cNvSpPr/>
          <p:nvPr/>
        </p:nvSpPr>
        <p:spPr>
          <a:xfrm>
            <a:off x="7288578" y="3344503"/>
            <a:ext cx="1426797" cy="276430"/>
          </a:xfrm>
          <a:prstGeom prst="rect">
            <a:avLst/>
          </a:prstGeom>
          <a:noFill/>
          <a:ln/>
        </p:spPr>
        <p:txBody>
          <a:bodyPr wrap="square" lIns="102108" tIns="85090" rIns="102108" bIns="85090" rtlCol="0" anchor="t">
            <a:spAutoFit/>
          </a:bodyPr>
          <a:lstStyle/>
          <a:p>
            <a:pPr algn="l" indent="0" marL="0">
              <a:lnSpc>
                <a:spcPct val="112000"/>
              </a:lnSpc>
              <a:buNone/>
            </a:pPr>
            <a:r>
              <a:rPr lang="en-US" sz="650" dirty="0">
                <a:solidFill>
                  <a:srgbClr val="333F48"/>
                </a:solidFill>
                <a:latin typeface="Segoe UI" pitchFamily="34" charset="0"/>
                <a:ea typeface="Segoe UI" pitchFamily="34" charset="-122"/>
                <a:cs typeface="Segoe UI" pitchFamily="34" charset="-120"/>
              </a:rPr>
              <a:t>To be evaluated</a:t>
            </a:r>
            <a:endParaRPr lang="en-US" sz="650" dirty="0"/>
          </a:p>
        </p:txBody>
      </p:sp>
      <p:sp>
        <p:nvSpPr>
          <p:cNvPr id="49" name="Shape 41"/>
          <p:cNvSpPr/>
          <p:nvPr/>
        </p:nvSpPr>
        <p:spPr>
          <a:xfrm>
            <a:off x="428625" y="3620932"/>
            <a:ext cx="8286750" cy="280002"/>
          </a:xfrm>
          <a:prstGeom prst="rect">
            <a:avLst/>
          </a:prstGeom>
          <a:solidFill>
            <a:srgbClr val="F9F9F9"/>
          </a:solidFill>
          <a:ln/>
        </p:spPr>
      </p:sp>
      <p:sp>
        <p:nvSpPr>
          <p:cNvPr id="50" name="Text 42"/>
          <p:cNvSpPr/>
          <p:nvPr/>
        </p:nvSpPr>
        <p:spPr>
          <a:xfrm>
            <a:off x="428625" y="3620932"/>
            <a:ext cx="2580233" cy="280002"/>
          </a:xfrm>
          <a:prstGeom prst="rect">
            <a:avLst/>
          </a:prstGeom>
          <a:noFill/>
          <a:ln/>
        </p:spPr>
        <p:txBody>
          <a:bodyPr wrap="square" lIns="102108" tIns="85090" rIns="102108" bIns="85090" rtlCol="0" anchor="t">
            <a:spAutoFit/>
          </a:bodyPr>
          <a:lstStyle/>
          <a:p>
            <a:pPr algn="l" indent="0" marL="0">
              <a:lnSpc>
                <a:spcPct val="112000"/>
              </a:lnSpc>
              <a:buNone/>
            </a:pPr>
            <a:r>
              <a:rPr lang="en-US" sz="650" dirty="0">
                <a:solidFill>
                  <a:srgbClr val="333F48"/>
                </a:solidFill>
                <a:latin typeface="Segoe UI" pitchFamily="34" charset="0"/>
                <a:ea typeface="Segoe UI" pitchFamily="34" charset="-122"/>
                <a:cs typeface="Segoe UI" pitchFamily="34" charset="-120"/>
              </a:rPr>
              <a:t>Multi-scale LBP + SVM</a:t>
            </a:r>
            <a:endParaRPr lang="en-US" sz="650" dirty="0"/>
          </a:p>
        </p:txBody>
      </p:sp>
      <p:sp>
        <p:nvSpPr>
          <p:cNvPr id="51" name="Text 43"/>
          <p:cNvSpPr/>
          <p:nvPr/>
        </p:nvSpPr>
        <p:spPr>
          <a:xfrm>
            <a:off x="3008858" y="3620932"/>
            <a:ext cx="1426573" cy="280002"/>
          </a:xfrm>
          <a:prstGeom prst="rect">
            <a:avLst/>
          </a:prstGeom>
          <a:noFill/>
          <a:ln/>
        </p:spPr>
        <p:txBody>
          <a:bodyPr wrap="square" lIns="102108" tIns="85090" rIns="102108" bIns="85090" rtlCol="0" anchor="t">
            <a:spAutoFit/>
          </a:bodyPr>
          <a:lstStyle/>
          <a:p>
            <a:pPr algn="l" indent="0" marL="0">
              <a:lnSpc>
                <a:spcPct val="112000"/>
              </a:lnSpc>
              <a:buNone/>
            </a:pPr>
            <a:r>
              <a:rPr lang="en-US" sz="650" dirty="0">
                <a:solidFill>
                  <a:srgbClr val="333F48"/>
                </a:solidFill>
                <a:latin typeface="Segoe UI" pitchFamily="34" charset="0"/>
                <a:ea typeface="Segoe UI" pitchFamily="34" charset="-122"/>
                <a:cs typeface="Segoe UI" pitchFamily="34" charset="-120"/>
              </a:rPr>
              <a:t>To be evaluated</a:t>
            </a:r>
            <a:endParaRPr lang="en-US" sz="650" dirty="0"/>
          </a:p>
        </p:txBody>
      </p:sp>
      <p:sp>
        <p:nvSpPr>
          <p:cNvPr id="52" name="Text 44"/>
          <p:cNvSpPr/>
          <p:nvPr/>
        </p:nvSpPr>
        <p:spPr>
          <a:xfrm>
            <a:off x="4435432" y="3620932"/>
            <a:ext cx="1426573" cy="280002"/>
          </a:xfrm>
          <a:prstGeom prst="rect">
            <a:avLst/>
          </a:prstGeom>
          <a:noFill/>
          <a:ln/>
        </p:spPr>
        <p:txBody>
          <a:bodyPr wrap="square" lIns="102108" tIns="85090" rIns="102108" bIns="85090" rtlCol="0" anchor="t">
            <a:spAutoFit/>
          </a:bodyPr>
          <a:lstStyle/>
          <a:p>
            <a:pPr algn="l" indent="0" marL="0">
              <a:lnSpc>
                <a:spcPct val="112000"/>
              </a:lnSpc>
              <a:buNone/>
            </a:pPr>
            <a:r>
              <a:rPr lang="en-US" sz="650" dirty="0">
                <a:solidFill>
                  <a:srgbClr val="333F48"/>
                </a:solidFill>
                <a:latin typeface="Segoe UI" pitchFamily="34" charset="0"/>
                <a:ea typeface="Segoe UI" pitchFamily="34" charset="-122"/>
                <a:cs typeface="Segoe UI" pitchFamily="34" charset="-120"/>
              </a:rPr>
              <a:t>To be evaluated</a:t>
            </a:r>
            <a:endParaRPr lang="en-US" sz="650" dirty="0"/>
          </a:p>
        </p:txBody>
      </p:sp>
      <p:sp>
        <p:nvSpPr>
          <p:cNvPr id="53" name="Text 45"/>
          <p:cNvSpPr/>
          <p:nvPr/>
        </p:nvSpPr>
        <p:spPr>
          <a:xfrm>
            <a:off x="5862005" y="3620932"/>
            <a:ext cx="1426573" cy="280002"/>
          </a:xfrm>
          <a:prstGeom prst="rect">
            <a:avLst/>
          </a:prstGeom>
          <a:noFill/>
          <a:ln/>
        </p:spPr>
        <p:txBody>
          <a:bodyPr wrap="square" lIns="102108" tIns="85090" rIns="102108" bIns="85090" rtlCol="0" anchor="t">
            <a:spAutoFit/>
          </a:bodyPr>
          <a:lstStyle/>
          <a:p>
            <a:pPr algn="l" indent="0" marL="0">
              <a:lnSpc>
                <a:spcPct val="112000"/>
              </a:lnSpc>
              <a:buNone/>
            </a:pPr>
            <a:r>
              <a:rPr lang="en-US" sz="650" dirty="0">
                <a:solidFill>
                  <a:srgbClr val="333F48"/>
                </a:solidFill>
                <a:latin typeface="Segoe UI" pitchFamily="34" charset="0"/>
                <a:ea typeface="Segoe UI" pitchFamily="34" charset="-122"/>
                <a:cs typeface="Segoe UI" pitchFamily="34" charset="-120"/>
              </a:rPr>
              <a:t>To be evaluated</a:t>
            </a:r>
            <a:endParaRPr lang="en-US" sz="650" dirty="0"/>
          </a:p>
        </p:txBody>
      </p:sp>
      <p:sp>
        <p:nvSpPr>
          <p:cNvPr id="54" name="Text 46"/>
          <p:cNvSpPr/>
          <p:nvPr/>
        </p:nvSpPr>
        <p:spPr>
          <a:xfrm>
            <a:off x="7288578" y="3620932"/>
            <a:ext cx="1426797" cy="280002"/>
          </a:xfrm>
          <a:prstGeom prst="rect">
            <a:avLst/>
          </a:prstGeom>
          <a:noFill/>
          <a:ln/>
        </p:spPr>
        <p:txBody>
          <a:bodyPr wrap="square" lIns="102108" tIns="85090" rIns="102108" bIns="85090" rtlCol="0" anchor="t">
            <a:spAutoFit/>
          </a:bodyPr>
          <a:lstStyle/>
          <a:p>
            <a:pPr algn="l" indent="0" marL="0">
              <a:lnSpc>
                <a:spcPct val="112000"/>
              </a:lnSpc>
              <a:buNone/>
            </a:pPr>
            <a:r>
              <a:rPr lang="en-US" sz="650" dirty="0">
                <a:solidFill>
                  <a:srgbClr val="333F48"/>
                </a:solidFill>
                <a:latin typeface="Segoe UI" pitchFamily="34" charset="0"/>
                <a:ea typeface="Segoe UI" pitchFamily="34" charset="-122"/>
                <a:cs typeface="Segoe UI" pitchFamily="34" charset="-120"/>
              </a:rPr>
              <a:t>To be evaluated</a:t>
            </a:r>
            <a:endParaRPr lang="en-US" sz="650" dirty="0"/>
          </a:p>
        </p:txBody>
      </p:sp>
      <p:sp>
        <p:nvSpPr>
          <p:cNvPr id="55" name="Text 47"/>
          <p:cNvSpPr/>
          <p:nvPr/>
        </p:nvSpPr>
        <p:spPr>
          <a:xfrm>
            <a:off x="428625" y="3900934"/>
            <a:ext cx="2580233" cy="280002"/>
          </a:xfrm>
          <a:prstGeom prst="rect">
            <a:avLst/>
          </a:prstGeom>
          <a:noFill/>
          <a:ln/>
        </p:spPr>
        <p:txBody>
          <a:bodyPr wrap="square" lIns="102108" tIns="85090" rIns="102108" bIns="85090" rtlCol="0" anchor="t">
            <a:spAutoFit/>
          </a:bodyPr>
          <a:lstStyle/>
          <a:p>
            <a:pPr algn="l" indent="0" marL="0">
              <a:lnSpc>
                <a:spcPct val="112000"/>
              </a:lnSpc>
              <a:buNone/>
            </a:pPr>
            <a:r>
              <a:rPr lang="en-US" sz="650" dirty="0">
                <a:solidFill>
                  <a:srgbClr val="333F48"/>
                </a:solidFill>
                <a:latin typeface="Segoe UI" pitchFamily="34" charset="0"/>
                <a:ea typeface="Segoe UI" pitchFamily="34" charset="-122"/>
                <a:cs typeface="Segoe UI" pitchFamily="34" charset="-120"/>
              </a:rPr>
              <a:t>Multi-scale LBP + GLCM + SVM</a:t>
            </a:r>
            <a:endParaRPr lang="en-US" sz="650" dirty="0"/>
          </a:p>
        </p:txBody>
      </p:sp>
      <p:sp>
        <p:nvSpPr>
          <p:cNvPr id="56" name="Text 48"/>
          <p:cNvSpPr/>
          <p:nvPr/>
        </p:nvSpPr>
        <p:spPr>
          <a:xfrm>
            <a:off x="3008858" y="3900934"/>
            <a:ext cx="1426573" cy="280002"/>
          </a:xfrm>
          <a:prstGeom prst="rect">
            <a:avLst/>
          </a:prstGeom>
          <a:noFill/>
          <a:ln/>
        </p:spPr>
        <p:txBody>
          <a:bodyPr wrap="square" lIns="102108" tIns="85090" rIns="102108" bIns="85090" rtlCol="0" anchor="t">
            <a:spAutoFit/>
          </a:bodyPr>
          <a:lstStyle/>
          <a:p>
            <a:pPr algn="l" indent="0" marL="0">
              <a:lnSpc>
                <a:spcPct val="112000"/>
              </a:lnSpc>
              <a:buNone/>
            </a:pPr>
            <a:r>
              <a:rPr lang="en-US" sz="650" dirty="0">
                <a:solidFill>
                  <a:srgbClr val="333F48"/>
                </a:solidFill>
                <a:latin typeface="Segoe UI" pitchFamily="34" charset="0"/>
                <a:ea typeface="Segoe UI" pitchFamily="34" charset="-122"/>
                <a:cs typeface="Segoe UI" pitchFamily="34" charset="-120"/>
              </a:rPr>
              <a:t>To be evaluated</a:t>
            </a:r>
            <a:endParaRPr lang="en-US" sz="650" dirty="0"/>
          </a:p>
        </p:txBody>
      </p:sp>
      <p:sp>
        <p:nvSpPr>
          <p:cNvPr id="57" name="Text 49"/>
          <p:cNvSpPr/>
          <p:nvPr/>
        </p:nvSpPr>
        <p:spPr>
          <a:xfrm>
            <a:off x="4435432" y="3900934"/>
            <a:ext cx="1426573" cy="280002"/>
          </a:xfrm>
          <a:prstGeom prst="rect">
            <a:avLst/>
          </a:prstGeom>
          <a:noFill/>
          <a:ln/>
        </p:spPr>
        <p:txBody>
          <a:bodyPr wrap="square" lIns="102108" tIns="85090" rIns="102108" bIns="85090" rtlCol="0" anchor="t">
            <a:spAutoFit/>
          </a:bodyPr>
          <a:lstStyle/>
          <a:p>
            <a:pPr algn="l" indent="0" marL="0">
              <a:lnSpc>
                <a:spcPct val="112000"/>
              </a:lnSpc>
              <a:buNone/>
            </a:pPr>
            <a:r>
              <a:rPr lang="en-US" sz="650" dirty="0">
                <a:solidFill>
                  <a:srgbClr val="333F48"/>
                </a:solidFill>
                <a:latin typeface="Segoe UI" pitchFamily="34" charset="0"/>
                <a:ea typeface="Segoe UI" pitchFamily="34" charset="-122"/>
                <a:cs typeface="Segoe UI" pitchFamily="34" charset="-120"/>
              </a:rPr>
              <a:t>To be evaluated</a:t>
            </a:r>
            <a:endParaRPr lang="en-US" sz="650" dirty="0"/>
          </a:p>
        </p:txBody>
      </p:sp>
      <p:sp>
        <p:nvSpPr>
          <p:cNvPr id="58" name="Text 50"/>
          <p:cNvSpPr/>
          <p:nvPr/>
        </p:nvSpPr>
        <p:spPr>
          <a:xfrm>
            <a:off x="5862005" y="3900934"/>
            <a:ext cx="1426573" cy="280002"/>
          </a:xfrm>
          <a:prstGeom prst="rect">
            <a:avLst/>
          </a:prstGeom>
          <a:noFill/>
          <a:ln/>
        </p:spPr>
        <p:txBody>
          <a:bodyPr wrap="square" lIns="102108" tIns="85090" rIns="102108" bIns="85090" rtlCol="0" anchor="t">
            <a:spAutoFit/>
          </a:bodyPr>
          <a:lstStyle/>
          <a:p>
            <a:pPr algn="l" indent="0" marL="0">
              <a:lnSpc>
                <a:spcPct val="112000"/>
              </a:lnSpc>
              <a:buNone/>
            </a:pPr>
            <a:r>
              <a:rPr lang="en-US" sz="650" dirty="0">
                <a:solidFill>
                  <a:srgbClr val="333F48"/>
                </a:solidFill>
                <a:latin typeface="Segoe UI" pitchFamily="34" charset="0"/>
                <a:ea typeface="Segoe UI" pitchFamily="34" charset="-122"/>
                <a:cs typeface="Segoe UI" pitchFamily="34" charset="-120"/>
              </a:rPr>
              <a:t>To be evaluated</a:t>
            </a:r>
            <a:endParaRPr lang="en-US" sz="650" dirty="0"/>
          </a:p>
        </p:txBody>
      </p:sp>
      <p:sp>
        <p:nvSpPr>
          <p:cNvPr id="59" name="Text 51"/>
          <p:cNvSpPr/>
          <p:nvPr/>
        </p:nvSpPr>
        <p:spPr>
          <a:xfrm>
            <a:off x="7288578" y="3900934"/>
            <a:ext cx="1426797" cy="280002"/>
          </a:xfrm>
          <a:prstGeom prst="rect">
            <a:avLst/>
          </a:prstGeom>
          <a:noFill/>
          <a:ln/>
        </p:spPr>
        <p:txBody>
          <a:bodyPr wrap="square" lIns="102108" tIns="85090" rIns="102108" bIns="85090" rtlCol="0" anchor="t">
            <a:spAutoFit/>
          </a:bodyPr>
          <a:lstStyle/>
          <a:p>
            <a:pPr algn="l" indent="0" marL="0">
              <a:lnSpc>
                <a:spcPct val="112000"/>
              </a:lnSpc>
              <a:buNone/>
            </a:pPr>
            <a:r>
              <a:rPr lang="en-US" sz="650" dirty="0">
                <a:solidFill>
                  <a:srgbClr val="333F48"/>
                </a:solidFill>
                <a:latin typeface="Segoe UI" pitchFamily="34" charset="0"/>
                <a:ea typeface="Segoe UI" pitchFamily="34" charset="-122"/>
                <a:cs typeface="Segoe UI" pitchFamily="34" charset="-120"/>
              </a:rPr>
              <a:t>To be evaluated</a:t>
            </a:r>
            <a:endParaRPr lang="en-US" sz="650" dirty="0"/>
          </a:p>
        </p:txBody>
      </p:sp>
      <p:sp>
        <p:nvSpPr>
          <p:cNvPr id="60" name="Text 52"/>
          <p:cNvSpPr/>
          <p:nvPr/>
        </p:nvSpPr>
        <p:spPr>
          <a:xfrm>
            <a:off x="7363699" y="4900613"/>
            <a:ext cx="1351676" cy="100013"/>
          </a:xfrm>
          <a:prstGeom prst="rect">
            <a:avLst/>
          </a:prstGeom>
          <a:noFill/>
          <a:ln/>
        </p:spPr>
        <p:txBody>
          <a:bodyPr wrap="square" lIns="0" tIns="0" rIns="0" bIns="0" rtlCol="0" anchor="t">
            <a:spAutoFit/>
          </a:bodyPr>
          <a:lstStyle/>
          <a:p>
            <a:pPr algn="l" indent="0" marL="0">
              <a:buNone/>
            </a:pPr>
            <a:r>
              <a:rPr lang="en-US" sz="600" dirty="0">
                <a:solidFill>
                  <a:srgbClr val="888888"/>
                </a:solidFill>
                <a:latin typeface="Segoe UI" pitchFamily="34" charset="0"/>
                <a:ea typeface="Segoe UI" pitchFamily="34" charset="-122"/>
                <a:cs typeface="Segoe UI" pitchFamily="34" charset="-120"/>
              </a:rPr>
              <a:t>Page 9 | Review-1 Project Proposal</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285750"/>
            <a:ext cx="4252652" cy="307181"/>
          </a:xfrm>
          <a:prstGeom prst="rect">
            <a:avLst/>
          </a:prstGeom>
          <a:noFill/>
          <a:ln/>
        </p:spPr>
        <p:txBody>
          <a:bodyPr wrap="square" lIns="0" tIns="0" rIns="0" bIns="42545" rtlCol="0" anchor="t">
            <a:spAutoFit/>
          </a:bodyPr>
          <a:lstStyle/>
          <a:p>
            <a:pPr algn="l" indent="0" marL="0">
              <a:buNone/>
            </a:pPr>
            <a:r>
              <a:rPr lang="en-US" sz="1700" dirty="0">
                <a:solidFill>
                  <a:srgbClr val="0A192F"/>
                </a:solidFill>
                <a:latin typeface="Courier New" pitchFamily="34" charset="0"/>
                <a:ea typeface="Courier New" pitchFamily="34" charset="-122"/>
                <a:cs typeface="Courier New" pitchFamily="34" charset="-120"/>
              </a:rPr>
              <a:t>RESEARCH NOVELTY &amp; CONTRIBUTION</a:t>
            </a:r>
            <a:endParaRPr lang="en-US" sz="1700" dirty="0"/>
          </a:p>
        </p:txBody>
      </p:sp>
      <p:sp>
        <p:nvSpPr>
          <p:cNvPr id="5" name="Shape 1"/>
          <p:cNvSpPr/>
          <p:nvPr/>
        </p:nvSpPr>
        <p:spPr>
          <a:xfrm>
            <a:off x="428625" y="807244"/>
            <a:ext cx="2666963" cy="1143000"/>
          </a:xfrm>
          <a:prstGeom prst="rect">
            <a:avLst/>
          </a:prstGeom>
          <a:solidFill>
            <a:srgbClr val="FFFFFF"/>
          </a:solidFill>
          <a:ln w="9144">
            <a:solidFill>
              <a:srgbClr val="0A192F">
                <a:alpha val="10000"/>
              </a:srgbClr>
            </a:solidFill>
            <a:prstDash val="solid"/>
          </a:ln>
        </p:spPr>
      </p:sp>
      <p:sp>
        <p:nvSpPr>
          <p:cNvPr id="6" name="Text 2"/>
          <p:cNvSpPr/>
          <p:nvPr/>
        </p:nvSpPr>
        <p:spPr>
          <a:xfrm>
            <a:off x="571500" y="950119"/>
            <a:ext cx="2381213" cy="192881"/>
          </a:xfrm>
          <a:prstGeom prst="rect">
            <a:avLst/>
          </a:prstGeom>
          <a:noFill/>
          <a:ln/>
        </p:spPr>
        <p:txBody>
          <a:bodyPr wrap="square" lIns="0" tIns="0" rIns="0" bIns="0" rtlCol="0" anchor="t">
            <a:spAutoFit/>
          </a:bodyPr>
          <a:lstStyle/>
          <a:p>
            <a:pPr algn="l" indent="0" marL="0">
              <a:buNone/>
            </a:pPr>
            <a:r>
              <a:rPr lang="en-US" sz="1200" b="1" dirty="0">
                <a:solidFill>
                  <a:srgbClr val="D95D39"/>
                </a:solidFill>
                <a:latin typeface="Courier New" pitchFamily="34" charset="0"/>
                <a:ea typeface="Courier New" pitchFamily="34" charset="-122"/>
                <a:cs typeface="Courier New" pitchFamily="34" charset="-120"/>
              </a:rPr>
              <a:t>01</a:t>
            </a:r>
            <a:endParaRPr lang="en-US" sz="1200" dirty="0"/>
          </a:p>
        </p:txBody>
      </p:sp>
      <p:sp>
        <p:nvSpPr>
          <p:cNvPr id="7" name="Text 3"/>
          <p:cNvSpPr/>
          <p:nvPr/>
        </p:nvSpPr>
        <p:spPr>
          <a:xfrm>
            <a:off x="571500" y="1214438"/>
            <a:ext cx="2381213" cy="132159"/>
          </a:xfrm>
          <a:prstGeom prst="rect">
            <a:avLst/>
          </a:prstGeom>
          <a:noFill/>
          <a:ln/>
        </p:spPr>
        <p:txBody>
          <a:bodyPr wrap="square" lIns="0" tIns="0" rIns="0" bIns="0" rtlCol="0" anchor="t">
            <a:spAutoFit/>
          </a:bodyPr>
          <a:lstStyle/>
          <a:p>
            <a:pPr algn="l" indent="0" marL="0">
              <a:buNone/>
            </a:pPr>
            <a:r>
              <a:rPr lang="en-US" sz="800" b="1" dirty="0">
                <a:solidFill>
                  <a:srgbClr val="0A192F"/>
                </a:solidFill>
                <a:latin typeface="Segoe UI" pitchFamily="34" charset="0"/>
                <a:ea typeface="Segoe UI" pitchFamily="34" charset="-122"/>
                <a:cs typeface="Segoe UI" pitchFamily="34" charset="-120"/>
              </a:rPr>
              <a:t>MULTI-SCALE REPRESENTATION</a:t>
            </a:r>
            <a:endParaRPr lang="en-US" sz="800" dirty="0"/>
          </a:p>
        </p:txBody>
      </p:sp>
      <p:sp>
        <p:nvSpPr>
          <p:cNvPr id="8" name="Text 4"/>
          <p:cNvSpPr/>
          <p:nvPr/>
        </p:nvSpPr>
        <p:spPr>
          <a:xfrm>
            <a:off x="571500" y="1403747"/>
            <a:ext cx="2381213" cy="419919"/>
          </a:xfrm>
          <a:prstGeom prst="rect">
            <a:avLst/>
          </a:prstGeom>
          <a:noFill/>
          <a:ln/>
        </p:spPr>
        <p:txBody>
          <a:bodyPr wrap="square" lIns="0" tIns="0" rIns="0" bIns="0" rtlCol="0" anchor="t">
            <a:spAutoFit/>
          </a:bodyPr>
          <a:lstStyle/>
          <a:p>
            <a:pPr algn="l" indent="0" marL="0">
              <a:lnSpc>
                <a:spcPct val="112000"/>
              </a:lnSpc>
              <a:buNone/>
            </a:pPr>
            <a:r>
              <a:rPr lang="en-US" sz="750" dirty="0">
                <a:solidFill>
                  <a:srgbClr val="333F48"/>
                </a:solidFill>
                <a:latin typeface="Segoe UI" pitchFamily="34" charset="0"/>
                <a:ea typeface="Segoe UI" pitchFamily="34" charset="-122"/>
                <a:cs typeface="Segoe UI" pitchFamily="34" charset="-120"/>
              </a:rPr>
              <a:t>Systematic comparison of single-scale vs. multi-scale LBP to capture defects appearing at different spatial resolutions.</a:t>
            </a:r>
            <a:endParaRPr lang="en-US" sz="750" dirty="0"/>
          </a:p>
        </p:txBody>
      </p:sp>
      <p:sp>
        <p:nvSpPr>
          <p:cNvPr id="9" name="Shape 5"/>
          <p:cNvSpPr/>
          <p:nvPr/>
        </p:nvSpPr>
        <p:spPr>
          <a:xfrm>
            <a:off x="3238463" y="807244"/>
            <a:ext cx="2667019" cy="1143000"/>
          </a:xfrm>
          <a:prstGeom prst="rect">
            <a:avLst/>
          </a:prstGeom>
          <a:solidFill>
            <a:srgbClr val="FFFFFF"/>
          </a:solidFill>
          <a:ln w="9144">
            <a:solidFill>
              <a:srgbClr val="0A192F">
                <a:alpha val="10000"/>
              </a:srgbClr>
            </a:solidFill>
            <a:prstDash val="solid"/>
          </a:ln>
        </p:spPr>
      </p:sp>
      <p:sp>
        <p:nvSpPr>
          <p:cNvPr id="10" name="Text 6"/>
          <p:cNvSpPr/>
          <p:nvPr/>
        </p:nvSpPr>
        <p:spPr>
          <a:xfrm>
            <a:off x="3381338" y="950119"/>
            <a:ext cx="2381269" cy="192881"/>
          </a:xfrm>
          <a:prstGeom prst="rect">
            <a:avLst/>
          </a:prstGeom>
          <a:noFill/>
          <a:ln/>
        </p:spPr>
        <p:txBody>
          <a:bodyPr wrap="square" lIns="0" tIns="0" rIns="0" bIns="0" rtlCol="0" anchor="t">
            <a:spAutoFit/>
          </a:bodyPr>
          <a:lstStyle/>
          <a:p>
            <a:pPr algn="l" indent="0" marL="0">
              <a:buNone/>
            </a:pPr>
            <a:r>
              <a:rPr lang="en-US" sz="1200" b="1" dirty="0">
                <a:solidFill>
                  <a:srgbClr val="D95D39"/>
                </a:solidFill>
                <a:latin typeface="Courier New" pitchFamily="34" charset="0"/>
                <a:ea typeface="Courier New" pitchFamily="34" charset="-122"/>
                <a:cs typeface="Courier New" pitchFamily="34" charset="-120"/>
              </a:rPr>
              <a:t>02</a:t>
            </a:r>
            <a:endParaRPr lang="en-US" sz="1200" dirty="0"/>
          </a:p>
        </p:txBody>
      </p:sp>
      <p:sp>
        <p:nvSpPr>
          <p:cNvPr id="11" name="Text 7"/>
          <p:cNvSpPr/>
          <p:nvPr/>
        </p:nvSpPr>
        <p:spPr>
          <a:xfrm>
            <a:off x="3381338" y="1214438"/>
            <a:ext cx="2381269" cy="132159"/>
          </a:xfrm>
          <a:prstGeom prst="rect">
            <a:avLst/>
          </a:prstGeom>
          <a:noFill/>
          <a:ln/>
        </p:spPr>
        <p:txBody>
          <a:bodyPr wrap="square" lIns="0" tIns="0" rIns="0" bIns="0" rtlCol="0" anchor="t">
            <a:spAutoFit/>
          </a:bodyPr>
          <a:lstStyle/>
          <a:p>
            <a:pPr algn="l" indent="0" marL="0">
              <a:buNone/>
            </a:pPr>
            <a:r>
              <a:rPr lang="en-US" sz="800" b="1" dirty="0">
                <a:solidFill>
                  <a:srgbClr val="0A192F"/>
                </a:solidFill>
                <a:latin typeface="Segoe UI" pitchFamily="34" charset="0"/>
                <a:ea typeface="Segoe UI" pitchFamily="34" charset="-122"/>
                <a:cs typeface="Segoe UI" pitchFamily="34" charset="-120"/>
              </a:rPr>
              <a:t>HYBRID FEATURE FUSION</a:t>
            </a:r>
            <a:endParaRPr lang="en-US" sz="800" dirty="0"/>
          </a:p>
        </p:txBody>
      </p:sp>
      <p:sp>
        <p:nvSpPr>
          <p:cNvPr id="12" name="Text 8"/>
          <p:cNvSpPr/>
          <p:nvPr/>
        </p:nvSpPr>
        <p:spPr>
          <a:xfrm>
            <a:off x="3381338" y="1403747"/>
            <a:ext cx="2381269" cy="419919"/>
          </a:xfrm>
          <a:prstGeom prst="rect">
            <a:avLst/>
          </a:prstGeom>
          <a:noFill/>
          <a:ln/>
        </p:spPr>
        <p:txBody>
          <a:bodyPr wrap="square" lIns="0" tIns="0" rIns="0" bIns="0" rtlCol="0" anchor="t">
            <a:spAutoFit/>
          </a:bodyPr>
          <a:lstStyle/>
          <a:p>
            <a:pPr algn="l" indent="0" marL="0">
              <a:lnSpc>
                <a:spcPct val="112000"/>
              </a:lnSpc>
              <a:buNone/>
            </a:pPr>
            <a:r>
              <a:rPr lang="en-US" sz="750" dirty="0">
                <a:solidFill>
                  <a:srgbClr val="333F48"/>
                </a:solidFill>
                <a:latin typeface="Segoe UI" pitchFamily="34" charset="0"/>
                <a:ea typeface="Segoe UI" pitchFamily="34" charset="-122"/>
                <a:cs typeface="Segoe UI" pitchFamily="34" charset="-120"/>
              </a:rPr>
              <a:t>Combining LBP (local texture transitions) with GLCM (global statistical relationships) for a richer descriptor set.</a:t>
            </a:r>
            <a:endParaRPr lang="en-US" sz="750" dirty="0"/>
          </a:p>
        </p:txBody>
      </p:sp>
      <p:sp>
        <p:nvSpPr>
          <p:cNvPr id="13" name="Shape 9"/>
          <p:cNvSpPr/>
          <p:nvPr/>
        </p:nvSpPr>
        <p:spPr>
          <a:xfrm>
            <a:off x="6048356" y="807244"/>
            <a:ext cx="2667019" cy="1143000"/>
          </a:xfrm>
          <a:prstGeom prst="rect">
            <a:avLst/>
          </a:prstGeom>
          <a:solidFill>
            <a:srgbClr val="FFFFFF"/>
          </a:solidFill>
          <a:ln w="9144">
            <a:solidFill>
              <a:srgbClr val="0A192F">
                <a:alpha val="10000"/>
              </a:srgbClr>
            </a:solidFill>
            <a:prstDash val="solid"/>
          </a:ln>
        </p:spPr>
      </p:sp>
      <p:sp>
        <p:nvSpPr>
          <p:cNvPr id="14" name="Text 10"/>
          <p:cNvSpPr/>
          <p:nvPr/>
        </p:nvSpPr>
        <p:spPr>
          <a:xfrm>
            <a:off x="6191231" y="950119"/>
            <a:ext cx="2381269" cy="192881"/>
          </a:xfrm>
          <a:prstGeom prst="rect">
            <a:avLst/>
          </a:prstGeom>
          <a:noFill/>
          <a:ln/>
        </p:spPr>
        <p:txBody>
          <a:bodyPr wrap="square" lIns="0" tIns="0" rIns="0" bIns="0" rtlCol="0" anchor="t">
            <a:spAutoFit/>
          </a:bodyPr>
          <a:lstStyle/>
          <a:p>
            <a:pPr algn="l" indent="0" marL="0">
              <a:buNone/>
            </a:pPr>
            <a:r>
              <a:rPr lang="en-US" sz="1200" b="1" dirty="0">
                <a:solidFill>
                  <a:srgbClr val="D95D39"/>
                </a:solidFill>
                <a:latin typeface="Courier New" pitchFamily="34" charset="0"/>
                <a:ea typeface="Courier New" pitchFamily="34" charset="-122"/>
                <a:cs typeface="Courier New" pitchFamily="34" charset="-120"/>
              </a:rPr>
              <a:t>03</a:t>
            </a:r>
            <a:endParaRPr lang="en-US" sz="1200" dirty="0"/>
          </a:p>
        </p:txBody>
      </p:sp>
      <p:sp>
        <p:nvSpPr>
          <p:cNvPr id="15" name="Text 11"/>
          <p:cNvSpPr/>
          <p:nvPr/>
        </p:nvSpPr>
        <p:spPr>
          <a:xfrm>
            <a:off x="6191231" y="1214438"/>
            <a:ext cx="2381269" cy="132159"/>
          </a:xfrm>
          <a:prstGeom prst="rect">
            <a:avLst/>
          </a:prstGeom>
          <a:noFill/>
          <a:ln/>
        </p:spPr>
        <p:txBody>
          <a:bodyPr wrap="square" lIns="0" tIns="0" rIns="0" bIns="0" rtlCol="0" anchor="t">
            <a:spAutoFit/>
          </a:bodyPr>
          <a:lstStyle/>
          <a:p>
            <a:pPr algn="l" indent="0" marL="0">
              <a:buNone/>
            </a:pPr>
            <a:r>
              <a:rPr lang="en-US" sz="800" b="1" dirty="0">
                <a:solidFill>
                  <a:srgbClr val="0A192F"/>
                </a:solidFill>
                <a:latin typeface="Segoe UI" pitchFamily="34" charset="0"/>
                <a:ea typeface="Segoe UI" pitchFamily="34" charset="-122"/>
                <a:cs typeface="Segoe UI" pitchFamily="34" charset="-120"/>
              </a:rPr>
              <a:t>FEATURE SELECTION ANALYSIS</a:t>
            </a:r>
            <a:endParaRPr lang="en-US" sz="800" dirty="0"/>
          </a:p>
        </p:txBody>
      </p:sp>
      <p:sp>
        <p:nvSpPr>
          <p:cNvPr id="16" name="Text 12"/>
          <p:cNvSpPr/>
          <p:nvPr/>
        </p:nvSpPr>
        <p:spPr>
          <a:xfrm>
            <a:off x="6191231" y="1403747"/>
            <a:ext cx="2381269" cy="279946"/>
          </a:xfrm>
          <a:prstGeom prst="rect">
            <a:avLst/>
          </a:prstGeom>
          <a:noFill/>
          <a:ln/>
        </p:spPr>
        <p:txBody>
          <a:bodyPr wrap="square" lIns="0" tIns="0" rIns="0" bIns="0" rtlCol="0" anchor="t">
            <a:spAutoFit/>
          </a:bodyPr>
          <a:lstStyle/>
          <a:p>
            <a:pPr algn="l" indent="0" marL="0">
              <a:lnSpc>
                <a:spcPct val="112000"/>
              </a:lnSpc>
              <a:buNone/>
            </a:pPr>
            <a:r>
              <a:rPr lang="en-US" sz="750" dirty="0">
                <a:solidFill>
                  <a:srgbClr val="333F48"/>
                </a:solidFill>
                <a:latin typeface="Segoe UI" pitchFamily="34" charset="0"/>
                <a:ea typeface="Segoe UI" pitchFamily="34" charset="-122"/>
                <a:cs typeface="Segoe UI" pitchFamily="34" charset="-120"/>
              </a:rPr>
              <a:t>Investigating the impact of PCA and SelectKBest on classification efficiency and redundancy reduction.</a:t>
            </a:r>
            <a:endParaRPr lang="en-US" sz="750" dirty="0"/>
          </a:p>
        </p:txBody>
      </p:sp>
      <p:sp>
        <p:nvSpPr>
          <p:cNvPr id="17" name="Shape 13"/>
          <p:cNvSpPr/>
          <p:nvPr/>
        </p:nvSpPr>
        <p:spPr>
          <a:xfrm>
            <a:off x="428625" y="2093119"/>
            <a:ext cx="2666963" cy="1143000"/>
          </a:xfrm>
          <a:prstGeom prst="rect">
            <a:avLst/>
          </a:prstGeom>
          <a:solidFill>
            <a:srgbClr val="FFFFFF"/>
          </a:solidFill>
          <a:ln w="9144">
            <a:solidFill>
              <a:srgbClr val="0A192F">
                <a:alpha val="10000"/>
              </a:srgbClr>
            </a:solidFill>
            <a:prstDash val="solid"/>
          </a:ln>
        </p:spPr>
      </p:sp>
      <p:sp>
        <p:nvSpPr>
          <p:cNvPr id="18" name="Text 14"/>
          <p:cNvSpPr/>
          <p:nvPr/>
        </p:nvSpPr>
        <p:spPr>
          <a:xfrm>
            <a:off x="571500" y="2235994"/>
            <a:ext cx="2381213" cy="192881"/>
          </a:xfrm>
          <a:prstGeom prst="rect">
            <a:avLst/>
          </a:prstGeom>
          <a:noFill/>
          <a:ln/>
        </p:spPr>
        <p:txBody>
          <a:bodyPr wrap="square" lIns="0" tIns="0" rIns="0" bIns="0" rtlCol="0" anchor="t">
            <a:spAutoFit/>
          </a:bodyPr>
          <a:lstStyle/>
          <a:p>
            <a:pPr algn="l" indent="0" marL="0">
              <a:buNone/>
            </a:pPr>
            <a:r>
              <a:rPr lang="en-US" sz="1200" b="1" dirty="0">
                <a:solidFill>
                  <a:srgbClr val="D95D39"/>
                </a:solidFill>
                <a:latin typeface="Courier New" pitchFamily="34" charset="0"/>
                <a:ea typeface="Courier New" pitchFamily="34" charset="-122"/>
                <a:cs typeface="Courier New" pitchFamily="34" charset="-120"/>
              </a:rPr>
              <a:t>04</a:t>
            </a:r>
            <a:endParaRPr lang="en-US" sz="1200" dirty="0"/>
          </a:p>
        </p:txBody>
      </p:sp>
      <p:sp>
        <p:nvSpPr>
          <p:cNvPr id="19" name="Text 15"/>
          <p:cNvSpPr/>
          <p:nvPr/>
        </p:nvSpPr>
        <p:spPr>
          <a:xfrm>
            <a:off x="571500" y="2500313"/>
            <a:ext cx="2381213" cy="132159"/>
          </a:xfrm>
          <a:prstGeom prst="rect">
            <a:avLst/>
          </a:prstGeom>
          <a:noFill/>
          <a:ln/>
        </p:spPr>
        <p:txBody>
          <a:bodyPr wrap="square" lIns="0" tIns="0" rIns="0" bIns="0" rtlCol="0" anchor="t">
            <a:spAutoFit/>
          </a:bodyPr>
          <a:lstStyle/>
          <a:p>
            <a:pPr algn="l" indent="0" marL="0">
              <a:buNone/>
            </a:pPr>
            <a:r>
              <a:rPr lang="en-US" sz="800" b="1" dirty="0">
                <a:solidFill>
                  <a:srgbClr val="0A192F"/>
                </a:solidFill>
                <a:latin typeface="Segoe UI" pitchFamily="34" charset="0"/>
                <a:ea typeface="Segoe UI" pitchFamily="34" charset="-122"/>
                <a:cs typeface="Segoe UI" pitchFamily="34" charset="-120"/>
              </a:rPr>
              <a:t>LIGHTWEIGHT ARCHITECTURE</a:t>
            </a:r>
            <a:endParaRPr lang="en-US" sz="800" dirty="0"/>
          </a:p>
        </p:txBody>
      </p:sp>
      <p:sp>
        <p:nvSpPr>
          <p:cNvPr id="20" name="Text 16"/>
          <p:cNvSpPr/>
          <p:nvPr/>
        </p:nvSpPr>
        <p:spPr>
          <a:xfrm>
            <a:off x="571500" y="2689622"/>
            <a:ext cx="2381213" cy="419919"/>
          </a:xfrm>
          <a:prstGeom prst="rect">
            <a:avLst/>
          </a:prstGeom>
          <a:noFill/>
          <a:ln/>
        </p:spPr>
        <p:txBody>
          <a:bodyPr wrap="square" lIns="0" tIns="0" rIns="0" bIns="0" rtlCol="0" anchor="t">
            <a:spAutoFit/>
          </a:bodyPr>
          <a:lstStyle/>
          <a:p>
            <a:pPr algn="l" indent="0" marL="0">
              <a:lnSpc>
                <a:spcPct val="112000"/>
              </a:lnSpc>
              <a:buNone/>
            </a:pPr>
            <a:r>
              <a:rPr lang="en-US" sz="750" dirty="0">
                <a:solidFill>
                  <a:srgbClr val="333F48"/>
                </a:solidFill>
                <a:latin typeface="Segoe UI" pitchFamily="34" charset="0"/>
                <a:ea typeface="Segoe UI" pitchFamily="34" charset="-122"/>
                <a:cs typeface="Segoe UI" pitchFamily="34" charset="-120"/>
              </a:rPr>
              <a:t>Proposing a CPU-friendly alternative to GPU-intensive deep learning for constrained industrial deployment contexts.</a:t>
            </a:r>
            <a:endParaRPr lang="en-US" sz="750" dirty="0"/>
          </a:p>
        </p:txBody>
      </p:sp>
      <p:sp>
        <p:nvSpPr>
          <p:cNvPr id="21" name="Shape 17"/>
          <p:cNvSpPr/>
          <p:nvPr/>
        </p:nvSpPr>
        <p:spPr>
          <a:xfrm>
            <a:off x="3238463" y="2093119"/>
            <a:ext cx="5476912" cy="1143000"/>
          </a:xfrm>
          <a:prstGeom prst="rect">
            <a:avLst/>
          </a:prstGeom>
          <a:solidFill>
            <a:srgbClr val="FFFFFF"/>
          </a:solidFill>
          <a:ln w="9144">
            <a:solidFill>
              <a:srgbClr val="0A192F">
                <a:alpha val="10000"/>
              </a:srgbClr>
            </a:solidFill>
            <a:prstDash val="solid"/>
          </a:ln>
        </p:spPr>
      </p:sp>
      <p:sp>
        <p:nvSpPr>
          <p:cNvPr id="22" name="Text 18"/>
          <p:cNvSpPr/>
          <p:nvPr/>
        </p:nvSpPr>
        <p:spPr>
          <a:xfrm>
            <a:off x="3381338" y="2235994"/>
            <a:ext cx="5191162" cy="192881"/>
          </a:xfrm>
          <a:prstGeom prst="rect">
            <a:avLst/>
          </a:prstGeom>
          <a:noFill/>
          <a:ln/>
        </p:spPr>
        <p:txBody>
          <a:bodyPr wrap="square" lIns="0" tIns="0" rIns="0" bIns="0" rtlCol="0" anchor="t">
            <a:spAutoFit/>
          </a:bodyPr>
          <a:lstStyle/>
          <a:p>
            <a:pPr algn="l" indent="0" marL="0">
              <a:buNone/>
            </a:pPr>
            <a:r>
              <a:rPr lang="en-US" sz="1200" b="1" dirty="0">
                <a:solidFill>
                  <a:srgbClr val="D95D39"/>
                </a:solidFill>
                <a:latin typeface="Courier New" pitchFamily="34" charset="0"/>
                <a:ea typeface="Courier New" pitchFamily="34" charset="-122"/>
                <a:cs typeface="Courier New" pitchFamily="34" charset="-120"/>
              </a:rPr>
              <a:t>05</a:t>
            </a:r>
            <a:endParaRPr lang="en-US" sz="1200" dirty="0"/>
          </a:p>
        </p:txBody>
      </p:sp>
      <p:sp>
        <p:nvSpPr>
          <p:cNvPr id="23" name="Text 19"/>
          <p:cNvSpPr/>
          <p:nvPr/>
        </p:nvSpPr>
        <p:spPr>
          <a:xfrm>
            <a:off x="3381338" y="2500313"/>
            <a:ext cx="5191162" cy="132159"/>
          </a:xfrm>
          <a:prstGeom prst="rect">
            <a:avLst/>
          </a:prstGeom>
          <a:noFill/>
          <a:ln/>
        </p:spPr>
        <p:txBody>
          <a:bodyPr wrap="square" lIns="0" tIns="0" rIns="0" bIns="0" rtlCol="0" anchor="t">
            <a:spAutoFit/>
          </a:bodyPr>
          <a:lstStyle/>
          <a:p>
            <a:pPr algn="l" indent="0" marL="0">
              <a:buNone/>
            </a:pPr>
            <a:r>
              <a:rPr lang="en-US" sz="800" b="1" dirty="0">
                <a:solidFill>
                  <a:srgbClr val="0A192F"/>
                </a:solidFill>
                <a:latin typeface="Segoe UI" pitchFamily="34" charset="0"/>
                <a:ea typeface="Segoe UI" pitchFamily="34" charset="-122"/>
                <a:cs typeface="Segoe UI" pitchFamily="34" charset="-120"/>
              </a:rPr>
              <a:t>COMPARATIVE EXPERIMENTAL FRAMEWORK</a:t>
            </a:r>
            <a:endParaRPr lang="en-US" sz="800" dirty="0"/>
          </a:p>
        </p:txBody>
      </p:sp>
      <p:sp>
        <p:nvSpPr>
          <p:cNvPr id="24" name="Text 20"/>
          <p:cNvSpPr/>
          <p:nvPr/>
        </p:nvSpPr>
        <p:spPr>
          <a:xfrm>
            <a:off x="3381338" y="2689622"/>
            <a:ext cx="5191162" cy="279946"/>
          </a:xfrm>
          <a:prstGeom prst="rect">
            <a:avLst/>
          </a:prstGeom>
          <a:noFill/>
          <a:ln/>
        </p:spPr>
        <p:txBody>
          <a:bodyPr wrap="square" lIns="0" tIns="0" rIns="0" bIns="0" rtlCol="0" anchor="t">
            <a:spAutoFit/>
          </a:bodyPr>
          <a:lstStyle/>
          <a:p>
            <a:pPr algn="l" indent="0" marL="0">
              <a:lnSpc>
                <a:spcPct val="112000"/>
              </a:lnSpc>
              <a:buNone/>
            </a:pPr>
            <a:r>
              <a:rPr lang="en-US" sz="750" dirty="0">
                <a:solidFill>
                  <a:srgbClr val="333F48"/>
                </a:solidFill>
                <a:latin typeface="Segoe UI" pitchFamily="34" charset="0"/>
                <a:ea typeface="Segoe UI" pitchFamily="34" charset="-122"/>
                <a:cs typeface="Segoe UI" pitchFamily="34" charset="-120"/>
              </a:rPr>
              <a:t>A controlled, research-oriented protocol quantifying the performance gains from baseline LBP to advanced hybrid feature pipelines on the MVTec AD benchmark.</a:t>
            </a:r>
            <a:endParaRPr lang="en-US" sz="750" dirty="0"/>
          </a:p>
        </p:txBody>
      </p:sp>
      <p:sp>
        <p:nvSpPr>
          <p:cNvPr id="25" name="Text 21"/>
          <p:cNvSpPr/>
          <p:nvPr/>
        </p:nvSpPr>
        <p:spPr>
          <a:xfrm>
            <a:off x="428625" y="3814763"/>
            <a:ext cx="948277" cy="114300"/>
          </a:xfrm>
          <a:prstGeom prst="rect">
            <a:avLst/>
          </a:prstGeom>
          <a:noFill/>
          <a:ln/>
        </p:spPr>
        <p:txBody>
          <a:bodyPr wrap="none" lIns="0" tIns="0" rIns="0" bIns="0" rtlCol="0" anchor="t">
            <a:spAutoFit/>
          </a:bodyPr>
          <a:lstStyle/>
          <a:p>
            <a:pPr algn="l" indent="0" marL="0">
              <a:buNone/>
            </a:pPr>
            <a:r>
              <a:rPr lang="en-US" sz="700" b="1" dirty="0">
                <a:solidFill>
                  <a:srgbClr val="0A192F"/>
                </a:solidFill>
                <a:latin typeface="Segoe UI" pitchFamily="34" charset="0"/>
                <a:ea typeface="Segoe UI" pitchFamily="34" charset="-122"/>
                <a:cs typeface="Segoe UI" pitchFamily="34" charset="-120"/>
              </a:rPr>
              <a:t>INTERPRETABILITY</a:t>
            </a:r>
            <a:endParaRPr lang="en-US" sz="700" dirty="0"/>
          </a:p>
        </p:txBody>
      </p:sp>
      <p:sp>
        <p:nvSpPr>
          <p:cNvPr id="26" name="Shape 22"/>
          <p:cNvSpPr/>
          <p:nvPr/>
        </p:nvSpPr>
        <p:spPr>
          <a:xfrm>
            <a:off x="1519777" y="3857625"/>
            <a:ext cx="2800127" cy="28575"/>
          </a:xfrm>
          <a:prstGeom prst="rect">
            <a:avLst/>
          </a:prstGeom>
          <a:solidFill>
            <a:srgbClr val="EEEEEE"/>
          </a:solidFill>
          <a:ln/>
        </p:spPr>
      </p:sp>
      <p:sp>
        <p:nvSpPr>
          <p:cNvPr id="27" name="Text 23"/>
          <p:cNvSpPr/>
          <p:nvPr/>
        </p:nvSpPr>
        <p:spPr>
          <a:xfrm>
            <a:off x="4462779" y="3814763"/>
            <a:ext cx="1166775" cy="114300"/>
          </a:xfrm>
          <a:prstGeom prst="rect">
            <a:avLst/>
          </a:prstGeom>
          <a:noFill/>
          <a:ln/>
        </p:spPr>
        <p:txBody>
          <a:bodyPr wrap="none" lIns="0" tIns="0" rIns="0" bIns="0" rtlCol="0" anchor="t">
            <a:spAutoFit/>
          </a:bodyPr>
          <a:lstStyle/>
          <a:p>
            <a:pPr algn="l" indent="0" marL="0">
              <a:buNone/>
            </a:pPr>
            <a:r>
              <a:rPr lang="en-US" sz="700" b="1" dirty="0">
                <a:solidFill>
                  <a:srgbClr val="0A192F"/>
                </a:solidFill>
                <a:latin typeface="Segoe UI" pitchFamily="34" charset="0"/>
                <a:ea typeface="Segoe UI" pitchFamily="34" charset="-122"/>
                <a:cs typeface="Segoe UI" pitchFamily="34" charset="-120"/>
              </a:rPr>
              <a:t>COMPUTATIONAL COST</a:t>
            </a:r>
            <a:endParaRPr lang="en-US" sz="700" dirty="0"/>
          </a:p>
        </p:txBody>
      </p:sp>
      <p:sp>
        <p:nvSpPr>
          <p:cNvPr id="28" name="Shape 24"/>
          <p:cNvSpPr/>
          <p:nvPr/>
        </p:nvSpPr>
        <p:spPr>
          <a:xfrm>
            <a:off x="5772429" y="3857625"/>
            <a:ext cx="2800127" cy="28575"/>
          </a:xfrm>
          <a:prstGeom prst="rect">
            <a:avLst/>
          </a:prstGeom>
          <a:solidFill>
            <a:srgbClr val="EEEEEE"/>
          </a:solidFill>
          <a:ln/>
        </p:spPr>
      </p:sp>
      <p:sp>
        <p:nvSpPr>
          <p:cNvPr id="29" name="Text 25"/>
          <p:cNvSpPr/>
          <p:nvPr/>
        </p:nvSpPr>
        <p:spPr>
          <a:xfrm>
            <a:off x="7315981" y="4900613"/>
            <a:ext cx="1399394" cy="100013"/>
          </a:xfrm>
          <a:prstGeom prst="rect">
            <a:avLst/>
          </a:prstGeom>
          <a:noFill/>
          <a:ln/>
        </p:spPr>
        <p:txBody>
          <a:bodyPr wrap="square" lIns="0" tIns="0" rIns="0" bIns="0" rtlCol="0" anchor="t">
            <a:spAutoFit/>
          </a:bodyPr>
          <a:lstStyle/>
          <a:p>
            <a:pPr algn="l" indent="0" marL="0">
              <a:buNone/>
            </a:pPr>
            <a:r>
              <a:rPr lang="en-US" sz="600" dirty="0">
                <a:solidFill>
                  <a:srgbClr val="888888"/>
                </a:solidFill>
                <a:latin typeface="Segoe UI" pitchFamily="34" charset="0"/>
                <a:ea typeface="Segoe UI" pitchFamily="34" charset="-122"/>
                <a:cs typeface="Segoe UI" pitchFamily="34" charset="-120"/>
              </a:rPr>
              <a:t>Page 10 | Review-1 Project Proposal</a:t>
            </a:r>
            <a:endParaRPr lang="en-US" sz="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285750"/>
            <a:ext cx="2332100" cy="307181"/>
          </a:xfrm>
          <a:prstGeom prst="rect">
            <a:avLst/>
          </a:prstGeom>
          <a:noFill/>
          <a:ln/>
        </p:spPr>
        <p:txBody>
          <a:bodyPr wrap="square" lIns="0" tIns="0" rIns="0" bIns="42545" rtlCol="0" anchor="t">
            <a:spAutoFit/>
          </a:bodyPr>
          <a:lstStyle/>
          <a:p>
            <a:pPr algn="l" indent="0" marL="0">
              <a:buNone/>
            </a:pPr>
            <a:r>
              <a:rPr lang="en-US" sz="1700" dirty="0">
                <a:solidFill>
                  <a:srgbClr val="0A192F"/>
                </a:solidFill>
                <a:latin typeface="Courier New" pitchFamily="34" charset="0"/>
                <a:ea typeface="Courier New" pitchFamily="34" charset="-122"/>
                <a:cs typeface="Courier New" pitchFamily="34" charset="-120"/>
              </a:rPr>
              <a:t>PROJECT WORK PLAN</a:t>
            </a:r>
            <a:endParaRPr lang="en-US" sz="1700" dirty="0"/>
          </a:p>
        </p:txBody>
      </p:sp>
      <p:sp>
        <p:nvSpPr>
          <p:cNvPr id="5" name="Shape 1"/>
          <p:cNvSpPr/>
          <p:nvPr/>
        </p:nvSpPr>
        <p:spPr>
          <a:xfrm>
            <a:off x="428625" y="807244"/>
            <a:ext cx="8286750" cy="3175397"/>
          </a:xfrm>
          <a:prstGeom prst="rect">
            <a:avLst/>
          </a:prstGeom>
          <a:solidFill>
            <a:srgbClr val="FFFFFF"/>
          </a:solidFill>
          <a:ln w="9144">
            <a:solidFill>
              <a:srgbClr val="0A192F"/>
            </a:solidFill>
            <a:prstDash val="solid"/>
          </a:ln>
        </p:spPr>
      </p:sp>
      <p:sp>
        <p:nvSpPr>
          <p:cNvPr id="6" name="Shape 2"/>
          <p:cNvSpPr/>
          <p:nvPr/>
        </p:nvSpPr>
        <p:spPr>
          <a:xfrm>
            <a:off x="428625" y="807244"/>
            <a:ext cx="1785938" cy="271463"/>
          </a:xfrm>
          <a:prstGeom prst="rect">
            <a:avLst/>
          </a:prstGeom>
          <a:solidFill>
            <a:srgbClr val="0A192F"/>
          </a:solidFill>
          <a:ln/>
        </p:spPr>
      </p:sp>
      <p:sp>
        <p:nvSpPr>
          <p:cNvPr id="7" name="Text 3"/>
          <p:cNvSpPr/>
          <p:nvPr/>
        </p:nvSpPr>
        <p:spPr>
          <a:xfrm>
            <a:off x="428625" y="807244"/>
            <a:ext cx="1785938" cy="271463"/>
          </a:xfrm>
          <a:prstGeom prst="rect">
            <a:avLst/>
          </a:prstGeom>
          <a:noFill/>
          <a:ln/>
        </p:spPr>
        <p:txBody>
          <a:bodyPr wrap="square" lIns="127508" tIns="102108" rIns="42545" bIns="102108" rtlCol="0" anchor="ctr">
            <a:spAutoFit/>
          </a:bodyPr>
          <a:lstStyle/>
          <a:p>
            <a:pPr algn="l" indent="0" marL="0">
              <a:buNone/>
            </a:pPr>
            <a:r>
              <a:rPr lang="en-US" sz="600" b="1" spc="1" kern="0" dirty="0">
                <a:solidFill>
                  <a:srgbClr val="FFFFFF"/>
                </a:solidFill>
                <a:latin typeface="Segoe UI" pitchFamily="34" charset="0"/>
                <a:ea typeface="Segoe UI" pitchFamily="34" charset="-122"/>
                <a:cs typeface="Segoe UI" pitchFamily="34" charset="-120"/>
              </a:rPr>
              <a:t>PROJECT PHASE</a:t>
            </a:r>
            <a:endParaRPr lang="en-US" sz="600" dirty="0"/>
          </a:p>
        </p:txBody>
      </p:sp>
      <p:sp>
        <p:nvSpPr>
          <p:cNvPr id="8" name="Shape 4"/>
          <p:cNvSpPr/>
          <p:nvPr/>
        </p:nvSpPr>
        <p:spPr>
          <a:xfrm>
            <a:off x="2214563" y="807244"/>
            <a:ext cx="812155" cy="271463"/>
          </a:xfrm>
          <a:prstGeom prst="rect">
            <a:avLst/>
          </a:prstGeom>
          <a:solidFill>
            <a:srgbClr val="0A192F"/>
          </a:solidFill>
          <a:ln/>
        </p:spPr>
      </p:sp>
      <p:sp>
        <p:nvSpPr>
          <p:cNvPr id="9" name="Text 5"/>
          <p:cNvSpPr/>
          <p:nvPr/>
        </p:nvSpPr>
        <p:spPr>
          <a:xfrm>
            <a:off x="2214563" y="807244"/>
            <a:ext cx="812155" cy="271463"/>
          </a:xfrm>
          <a:prstGeom prst="rect">
            <a:avLst/>
          </a:prstGeom>
          <a:noFill/>
          <a:ln/>
        </p:spPr>
        <p:txBody>
          <a:bodyPr wrap="none" lIns="42545" tIns="102108" rIns="42545" bIns="102108" rtlCol="0" anchor="ctr">
            <a:spAutoFit/>
          </a:bodyPr>
          <a:lstStyle/>
          <a:p>
            <a:pPr algn="ctr" indent="0" marL="0">
              <a:buNone/>
            </a:pPr>
            <a:r>
              <a:rPr lang="en-US" sz="600" b="1" spc="1" kern="0" dirty="0">
                <a:solidFill>
                  <a:srgbClr val="FFFFFF"/>
                </a:solidFill>
                <a:latin typeface="Segoe UI" pitchFamily="34" charset="0"/>
                <a:ea typeface="Segoe UI" pitchFamily="34" charset="-122"/>
                <a:cs typeface="Segoe UI" pitchFamily="34" charset="-120"/>
              </a:rPr>
              <a:t>M1</a:t>
            </a:r>
            <a:endParaRPr lang="en-US" sz="600" dirty="0"/>
          </a:p>
        </p:txBody>
      </p:sp>
      <p:sp>
        <p:nvSpPr>
          <p:cNvPr id="10" name="Shape 6"/>
          <p:cNvSpPr/>
          <p:nvPr/>
        </p:nvSpPr>
        <p:spPr>
          <a:xfrm>
            <a:off x="3026718" y="807244"/>
            <a:ext cx="812155" cy="271463"/>
          </a:xfrm>
          <a:prstGeom prst="rect">
            <a:avLst/>
          </a:prstGeom>
          <a:solidFill>
            <a:srgbClr val="0A192F"/>
          </a:solidFill>
          <a:ln/>
        </p:spPr>
      </p:sp>
      <p:sp>
        <p:nvSpPr>
          <p:cNvPr id="11" name="Text 7"/>
          <p:cNvSpPr/>
          <p:nvPr/>
        </p:nvSpPr>
        <p:spPr>
          <a:xfrm>
            <a:off x="3026718" y="807244"/>
            <a:ext cx="812155" cy="271463"/>
          </a:xfrm>
          <a:prstGeom prst="rect">
            <a:avLst/>
          </a:prstGeom>
          <a:noFill/>
          <a:ln/>
        </p:spPr>
        <p:txBody>
          <a:bodyPr wrap="none" lIns="42545" tIns="102108" rIns="42545" bIns="102108" rtlCol="0" anchor="ctr">
            <a:spAutoFit/>
          </a:bodyPr>
          <a:lstStyle/>
          <a:p>
            <a:pPr algn="ctr" indent="0" marL="0">
              <a:buNone/>
            </a:pPr>
            <a:r>
              <a:rPr lang="en-US" sz="600" b="1" spc="1" kern="0" dirty="0">
                <a:solidFill>
                  <a:srgbClr val="FFFFFF"/>
                </a:solidFill>
                <a:latin typeface="Segoe UI" pitchFamily="34" charset="0"/>
                <a:ea typeface="Segoe UI" pitchFamily="34" charset="-122"/>
                <a:cs typeface="Segoe UI" pitchFamily="34" charset="-120"/>
              </a:rPr>
              <a:t>M2</a:t>
            </a:r>
            <a:endParaRPr lang="en-US" sz="600" dirty="0"/>
          </a:p>
        </p:txBody>
      </p:sp>
      <p:sp>
        <p:nvSpPr>
          <p:cNvPr id="12" name="Shape 8"/>
          <p:cNvSpPr/>
          <p:nvPr/>
        </p:nvSpPr>
        <p:spPr>
          <a:xfrm>
            <a:off x="3838873" y="807244"/>
            <a:ext cx="812155" cy="271463"/>
          </a:xfrm>
          <a:prstGeom prst="rect">
            <a:avLst/>
          </a:prstGeom>
          <a:solidFill>
            <a:srgbClr val="0A192F"/>
          </a:solidFill>
          <a:ln/>
        </p:spPr>
      </p:sp>
      <p:sp>
        <p:nvSpPr>
          <p:cNvPr id="13" name="Text 9"/>
          <p:cNvSpPr/>
          <p:nvPr/>
        </p:nvSpPr>
        <p:spPr>
          <a:xfrm>
            <a:off x="3838873" y="807244"/>
            <a:ext cx="812155" cy="271463"/>
          </a:xfrm>
          <a:prstGeom prst="rect">
            <a:avLst/>
          </a:prstGeom>
          <a:noFill/>
          <a:ln/>
        </p:spPr>
        <p:txBody>
          <a:bodyPr wrap="none" lIns="42545" tIns="102108" rIns="42545" bIns="102108" rtlCol="0" anchor="ctr">
            <a:spAutoFit/>
          </a:bodyPr>
          <a:lstStyle/>
          <a:p>
            <a:pPr algn="ctr" indent="0" marL="0">
              <a:buNone/>
            </a:pPr>
            <a:r>
              <a:rPr lang="en-US" sz="600" b="1" spc="1" kern="0" dirty="0">
                <a:solidFill>
                  <a:srgbClr val="FFFFFF"/>
                </a:solidFill>
                <a:latin typeface="Segoe UI" pitchFamily="34" charset="0"/>
                <a:ea typeface="Segoe UI" pitchFamily="34" charset="-122"/>
                <a:cs typeface="Segoe UI" pitchFamily="34" charset="-120"/>
              </a:rPr>
              <a:t>M3</a:t>
            </a:r>
            <a:endParaRPr lang="en-US" sz="600" dirty="0"/>
          </a:p>
        </p:txBody>
      </p:sp>
      <p:sp>
        <p:nvSpPr>
          <p:cNvPr id="14" name="Shape 10"/>
          <p:cNvSpPr/>
          <p:nvPr/>
        </p:nvSpPr>
        <p:spPr>
          <a:xfrm>
            <a:off x="4651028" y="807244"/>
            <a:ext cx="812155" cy="271463"/>
          </a:xfrm>
          <a:prstGeom prst="rect">
            <a:avLst/>
          </a:prstGeom>
          <a:solidFill>
            <a:srgbClr val="0A192F"/>
          </a:solidFill>
          <a:ln/>
        </p:spPr>
      </p:sp>
      <p:sp>
        <p:nvSpPr>
          <p:cNvPr id="15" name="Text 11"/>
          <p:cNvSpPr/>
          <p:nvPr/>
        </p:nvSpPr>
        <p:spPr>
          <a:xfrm>
            <a:off x="4651028" y="807244"/>
            <a:ext cx="812155" cy="271463"/>
          </a:xfrm>
          <a:prstGeom prst="rect">
            <a:avLst/>
          </a:prstGeom>
          <a:noFill/>
          <a:ln/>
        </p:spPr>
        <p:txBody>
          <a:bodyPr wrap="none" lIns="42545" tIns="102108" rIns="42545" bIns="102108" rtlCol="0" anchor="ctr">
            <a:spAutoFit/>
          </a:bodyPr>
          <a:lstStyle/>
          <a:p>
            <a:pPr algn="ctr" indent="0" marL="0">
              <a:buNone/>
            </a:pPr>
            <a:r>
              <a:rPr lang="en-US" sz="600" b="1" spc="1" kern="0" dirty="0">
                <a:solidFill>
                  <a:srgbClr val="FFFFFF"/>
                </a:solidFill>
                <a:latin typeface="Segoe UI" pitchFamily="34" charset="0"/>
                <a:ea typeface="Segoe UI" pitchFamily="34" charset="-122"/>
                <a:cs typeface="Segoe UI" pitchFamily="34" charset="-120"/>
              </a:rPr>
              <a:t>M4</a:t>
            </a:r>
            <a:endParaRPr lang="en-US" sz="600" dirty="0"/>
          </a:p>
        </p:txBody>
      </p:sp>
      <p:sp>
        <p:nvSpPr>
          <p:cNvPr id="16" name="Shape 12"/>
          <p:cNvSpPr/>
          <p:nvPr/>
        </p:nvSpPr>
        <p:spPr>
          <a:xfrm>
            <a:off x="5463183" y="807244"/>
            <a:ext cx="812155" cy="271463"/>
          </a:xfrm>
          <a:prstGeom prst="rect">
            <a:avLst/>
          </a:prstGeom>
          <a:solidFill>
            <a:srgbClr val="0A192F"/>
          </a:solidFill>
          <a:ln/>
        </p:spPr>
      </p:sp>
      <p:sp>
        <p:nvSpPr>
          <p:cNvPr id="17" name="Text 13"/>
          <p:cNvSpPr/>
          <p:nvPr/>
        </p:nvSpPr>
        <p:spPr>
          <a:xfrm>
            <a:off x="5463183" y="807244"/>
            <a:ext cx="812155" cy="271463"/>
          </a:xfrm>
          <a:prstGeom prst="rect">
            <a:avLst/>
          </a:prstGeom>
          <a:noFill/>
          <a:ln/>
        </p:spPr>
        <p:txBody>
          <a:bodyPr wrap="none" lIns="42545" tIns="102108" rIns="42545" bIns="102108" rtlCol="0" anchor="ctr">
            <a:spAutoFit/>
          </a:bodyPr>
          <a:lstStyle/>
          <a:p>
            <a:pPr algn="ctr" indent="0" marL="0">
              <a:buNone/>
            </a:pPr>
            <a:r>
              <a:rPr lang="en-US" sz="600" b="1" spc="1" kern="0" dirty="0">
                <a:solidFill>
                  <a:srgbClr val="FFFFFF"/>
                </a:solidFill>
                <a:latin typeface="Segoe UI" pitchFamily="34" charset="0"/>
                <a:ea typeface="Segoe UI" pitchFamily="34" charset="-122"/>
                <a:cs typeface="Segoe UI" pitchFamily="34" charset="-120"/>
              </a:rPr>
              <a:t>M5</a:t>
            </a:r>
            <a:endParaRPr lang="en-US" sz="600" dirty="0"/>
          </a:p>
        </p:txBody>
      </p:sp>
      <p:sp>
        <p:nvSpPr>
          <p:cNvPr id="18" name="Shape 14"/>
          <p:cNvSpPr/>
          <p:nvPr/>
        </p:nvSpPr>
        <p:spPr>
          <a:xfrm>
            <a:off x="6275338" y="807244"/>
            <a:ext cx="812155" cy="271463"/>
          </a:xfrm>
          <a:prstGeom prst="rect">
            <a:avLst/>
          </a:prstGeom>
          <a:solidFill>
            <a:srgbClr val="0A192F"/>
          </a:solidFill>
          <a:ln/>
        </p:spPr>
      </p:sp>
      <p:sp>
        <p:nvSpPr>
          <p:cNvPr id="19" name="Text 15"/>
          <p:cNvSpPr/>
          <p:nvPr/>
        </p:nvSpPr>
        <p:spPr>
          <a:xfrm>
            <a:off x="6275338" y="807244"/>
            <a:ext cx="812155" cy="271463"/>
          </a:xfrm>
          <a:prstGeom prst="rect">
            <a:avLst/>
          </a:prstGeom>
          <a:noFill/>
          <a:ln/>
        </p:spPr>
        <p:txBody>
          <a:bodyPr wrap="none" lIns="42545" tIns="102108" rIns="42545" bIns="102108" rtlCol="0" anchor="ctr">
            <a:spAutoFit/>
          </a:bodyPr>
          <a:lstStyle/>
          <a:p>
            <a:pPr algn="ctr" indent="0" marL="0">
              <a:buNone/>
            </a:pPr>
            <a:r>
              <a:rPr lang="en-US" sz="600" b="1" spc="1" kern="0" dirty="0">
                <a:solidFill>
                  <a:srgbClr val="FFFFFF"/>
                </a:solidFill>
                <a:latin typeface="Segoe UI" pitchFamily="34" charset="0"/>
                <a:ea typeface="Segoe UI" pitchFamily="34" charset="-122"/>
                <a:cs typeface="Segoe UI" pitchFamily="34" charset="-120"/>
              </a:rPr>
              <a:t>M6</a:t>
            </a:r>
            <a:endParaRPr lang="en-US" sz="600" dirty="0"/>
          </a:p>
        </p:txBody>
      </p:sp>
      <p:sp>
        <p:nvSpPr>
          <p:cNvPr id="20" name="Shape 16"/>
          <p:cNvSpPr/>
          <p:nvPr/>
        </p:nvSpPr>
        <p:spPr>
          <a:xfrm>
            <a:off x="7087493" y="807244"/>
            <a:ext cx="812155" cy="271463"/>
          </a:xfrm>
          <a:prstGeom prst="rect">
            <a:avLst/>
          </a:prstGeom>
          <a:solidFill>
            <a:srgbClr val="0A192F"/>
          </a:solidFill>
          <a:ln/>
        </p:spPr>
      </p:sp>
      <p:sp>
        <p:nvSpPr>
          <p:cNvPr id="21" name="Text 17"/>
          <p:cNvSpPr/>
          <p:nvPr/>
        </p:nvSpPr>
        <p:spPr>
          <a:xfrm>
            <a:off x="7087493" y="807244"/>
            <a:ext cx="812155" cy="271463"/>
          </a:xfrm>
          <a:prstGeom prst="rect">
            <a:avLst/>
          </a:prstGeom>
          <a:noFill/>
          <a:ln/>
        </p:spPr>
        <p:txBody>
          <a:bodyPr wrap="none" lIns="42545" tIns="102108" rIns="42545" bIns="102108" rtlCol="0" anchor="ctr">
            <a:spAutoFit/>
          </a:bodyPr>
          <a:lstStyle/>
          <a:p>
            <a:pPr algn="ctr" indent="0" marL="0">
              <a:buNone/>
            </a:pPr>
            <a:r>
              <a:rPr lang="en-US" sz="600" b="1" spc="1" kern="0" dirty="0">
                <a:solidFill>
                  <a:srgbClr val="FFFFFF"/>
                </a:solidFill>
                <a:latin typeface="Segoe UI" pitchFamily="34" charset="0"/>
                <a:ea typeface="Segoe UI" pitchFamily="34" charset="-122"/>
                <a:cs typeface="Segoe UI" pitchFamily="34" charset="-120"/>
              </a:rPr>
              <a:t>M7</a:t>
            </a:r>
            <a:endParaRPr lang="en-US" sz="600" dirty="0"/>
          </a:p>
        </p:txBody>
      </p:sp>
      <p:sp>
        <p:nvSpPr>
          <p:cNvPr id="22" name="Shape 18"/>
          <p:cNvSpPr/>
          <p:nvPr/>
        </p:nvSpPr>
        <p:spPr>
          <a:xfrm>
            <a:off x="7899648" y="807244"/>
            <a:ext cx="812155" cy="271463"/>
          </a:xfrm>
          <a:prstGeom prst="rect">
            <a:avLst/>
          </a:prstGeom>
          <a:solidFill>
            <a:srgbClr val="0A192F"/>
          </a:solidFill>
          <a:ln/>
        </p:spPr>
      </p:sp>
      <p:sp>
        <p:nvSpPr>
          <p:cNvPr id="23" name="Text 19"/>
          <p:cNvSpPr/>
          <p:nvPr/>
        </p:nvSpPr>
        <p:spPr>
          <a:xfrm>
            <a:off x="7899648" y="807244"/>
            <a:ext cx="812155" cy="271463"/>
          </a:xfrm>
          <a:prstGeom prst="rect">
            <a:avLst/>
          </a:prstGeom>
          <a:noFill/>
          <a:ln/>
        </p:spPr>
        <p:txBody>
          <a:bodyPr wrap="none" lIns="42545" tIns="102108" rIns="42545" bIns="102108" rtlCol="0" anchor="ctr">
            <a:spAutoFit/>
          </a:bodyPr>
          <a:lstStyle/>
          <a:p>
            <a:pPr algn="ctr" indent="0" marL="0">
              <a:buNone/>
            </a:pPr>
            <a:r>
              <a:rPr lang="en-US" sz="600" b="1" spc="1" kern="0" dirty="0">
                <a:solidFill>
                  <a:srgbClr val="FFFFFF"/>
                </a:solidFill>
                <a:latin typeface="Segoe UI" pitchFamily="34" charset="0"/>
                <a:ea typeface="Segoe UI" pitchFamily="34" charset="-122"/>
                <a:cs typeface="Segoe UI" pitchFamily="34" charset="-120"/>
              </a:rPr>
              <a:t>M8</a:t>
            </a:r>
            <a:endParaRPr lang="en-US" sz="600" dirty="0"/>
          </a:p>
        </p:txBody>
      </p:sp>
      <p:sp>
        <p:nvSpPr>
          <p:cNvPr id="24" name="Text 20"/>
          <p:cNvSpPr/>
          <p:nvPr/>
        </p:nvSpPr>
        <p:spPr>
          <a:xfrm>
            <a:off x="428625" y="1078706"/>
            <a:ext cx="1785938" cy="321469"/>
          </a:xfrm>
          <a:prstGeom prst="rect">
            <a:avLst/>
          </a:prstGeom>
          <a:noFill/>
          <a:ln/>
        </p:spPr>
        <p:txBody>
          <a:bodyPr wrap="square" lIns="127508" tIns="85090" rIns="42545" bIns="85090" rtlCol="0" anchor="ctr">
            <a:spAutoFit/>
          </a:bodyPr>
          <a:lstStyle/>
          <a:p>
            <a:pPr algn="l" indent="0" marL="0">
              <a:buNone/>
            </a:pPr>
            <a:r>
              <a:rPr lang="en-US" sz="650" b="1" dirty="0">
                <a:solidFill>
                  <a:srgbClr val="0A192F"/>
                </a:solidFill>
                <a:latin typeface="Segoe UI" pitchFamily="34" charset="0"/>
                <a:ea typeface="Segoe UI" pitchFamily="34" charset="-122"/>
                <a:cs typeface="Segoe UI" pitchFamily="34" charset="-120"/>
              </a:rPr>
              <a:t>1. Literature Survey</a:t>
            </a:r>
            <a:endParaRPr lang="en-US" sz="650" dirty="0"/>
          </a:p>
        </p:txBody>
      </p:sp>
      <p:sp>
        <p:nvSpPr>
          <p:cNvPr id="25" name="Text 21"/>
          <p:cNvSpPr/>
          <p:nvPr/>
        </p:nvSpPr>
        <p:spPr>
          <a:xfrm>
            <a:off x="428625" y="1400175"/>
            <a:ext cx="1785938" cy="321469"/>
          </a:xfrm>
          <a:prstGeom prst="rect">
            <a:avLst/>
          </a:prstGeom>
          <a:noFill/>
          <a:ln/>
        </p:spPr>
        <p:txBody>
          <a:bodyPr wrap="square" lIns="127508" tIns="85090" rIns="42545" bIns="85090" rtlCol="0" anchor="ctr">
            <a:spAutoFit/>
          </a:bodyPr>
          <a:lstStyle/>
          <a:p>
            <a:pPr algn="l" indent="0" marL="0">
              <a:buNone/>
            </a:pPr>
            <a:r>
              <a:rPr lang="en-US" sz="650" b="1" dirty="0">
                <a:solidFill>
                  <a:srgbClr val="0A192F"/>
                </a:solidFill>
                <a:latin typeface="Segoe UI" pitchFamily="34" charset="0"/>
                <a:ea typeface="Segoe UI" pitchFamily="34" charset="-122"/>
                <a:cs typeface="Segoe UI" pitchFamily="34" charset="-120"/>
              </a:rPr>
              <a:t>2. MVTec AD Preparation</a:t>
            </a:r>
            <a:endParaRPr lang="en-US" sz="650" dirty="0"/>
          </a:p>
        </p:txBody>
      </p:sp>
      <p:sp>
        <p:nvSpPr>
          <p:cNvPr id="26" name="Text 22"/>
          <p:cNvSpPr/>
          <p:nvPr/>
        </p:nvSpPr>
        <p:spPr>
          <a:xfrm>
            <a:off x="428625" y="1721644"/>
            <a:ext cx="1785938" cy="321469"/>
          </a:xfrm>
          <a:prstGeom prst="rect">
            <a:avLst/>
          </a:prstGeom>
          <a:noFill/>
          <a:ln/>
        </p:spPr>
        <p:txBody>
          <a:bodyPr wrap="square" lIns="127508" tIns="85090" rIns="42545" bIns="85090" rtlCol="0" anchor="ctr">
            <a:spAutoFit/>
          </a:bodyPr>
          <a:lstStyle/>
          <a:p>
            <a:pPr algn="l" indent="0" marL="0">
              <a:buNone/>
            </a:pPr>
            <a:r>
              <a:rPr lang="en-US" sz="650" b="1" dirty="0">
                <a:solidFill>
                  <a:srgbClr val="0A192F"/>
                </a:solidFill>
                <a:latin typeface="Segoe UI" pitchFamily="34" charset="0"/>
                <a:ea typeface="Segoe UI" pitchFamily="34" charset="-122"/>
                <a:cs typeface="Segoe UI" pitchFamily="34" charset="-120"/>
              </a:rPr>
              <a:t>3. Preprocessing Implementation</a:t>
            </a:r>
            <a:endParaRPr lang="en-US" sz="650" dirty="0"/>
          </a:p>
        </p:txBody>
      </p:sp>
      <p:sp>
        <p:nvSpPr>
          <p:cNvPr id="27" name="Text 23"/>
          <p:cNvSpPr/>
          <p:nvPr/>
        </p:nvSpPr>
        <p:spPr>
          <a:xfrm>
            <a:off x="428625" y="2043113"/>
            <a:ext cx="1785938" cy="321469"/>
          </a:xfrm>
          <a:prstGeom prst="rect">
            <a:avLst/>
          </a:prstGeom>
          <a:noFill/>
          <a:ln/>
        </p:spPr>
        <p:txBody>
          <a:bodyPr wrap="square" lIns="127508" tIns="85090" rIns="42545" bIns="85090" rtlCol="0" anchor="ctr">
            <a:spAutoFit/>
          </a:bodyPr>
          <a:lstStyle/>
          <a:p>
            <a:pPr algn="l" indent="0" marL="0">
              <a:buNone/>
            </a:pPr>
            <a:r>
              <a:rPr lang="en-US" sz="650" b="1" dirty="0">
                <a:solidFill>
                  <a:srgbClr val="0A192F"/>
                </a:solidFill>
                <a:latin typeface="Segoe UI" pitchFamily="34" charset="0"/>
                <a:ea typeface="Segoe UI" pitchFamily="34" charset="-122"/>
                <a:cs typeface="Segoe UI" pitchFamily="34" charset="-120"/>
              </a:rPr>
              <a:t>4. Single-Scale LBP Baseline</a:t>
            </a:r>
            <a:endParaRPr lang="en-US" sz="650" dirty="0"/>
          </a:p>
        </p:txBody>
      </p:sp>
      <p:sp>
        <p:nvSpPr>
          <p:cNvPr id="28" name="Text 24"/>
          <p:cNvSpPr/>
          <p:nvPr/>
        </p:nvSpPr>
        <p:spPr>
          <a:xfrm>
            <a:off x="428625" y="2364581"/>
            <a:ext cx="1785938" cy="321469"/>
          </a:xfrm>
          <a:prstGeom prst="rect">
            <a:avLst/>
          </a:prstGeom>
          <a:noFill/>
          <a:ln/>
        </p:spPr>
        <p:txBody>
          <a:bodyPr wrap="square" lIns="127508" tIns="85090" rIns="42545" bIns="85090" rtlCol="0" anchor="ctr">
            <a:spAutoFit/>
          </a:bodyPr>
          <a:lstStyle/>
          <a:p>
            <a:pPr algn="l" indent="0" marL="0">
              <a:buNone/>
            </a:pPr>
            <a:r>
              <a:rPr lang="en-US" sz="650" b="1" dirty="0">
                <a:solidFill>
                  <a:srgbClr val="0A192F"/>
                </a:solidFill>
                <a:latin typeface="Segoe UI" pitchFamily="34" charset="0"/>
                <a:ea typeface="Segoe UI" pitchFamily="34" charset="-122"/>
                <a:cs typeface="Segoe UI" pitchFamily="34" charset="-120"/>
              </a:rPr>
              <a:t>5. Multi-Scale LBP Model</a:t>
            </a:r>
            <a:endParaRPr lang="en-US" sz="650" dirty="0"/>
          </a:p>
        </p:txBody>
      </p:sp>
      <p:sp>
        <p:nvSpPr>
          <p:cNvPr id="29" name="Text 25"/>
          <p:cNvSpPr/>
          <p:nvPr/>
        </p:nvSpPr>
        <p:spPr>
          <a:xfrm>
            <a:off x="428625" y="2686050"/>
            <a:ext cx="1785938" cy="321469"/>
          </a:xfrm>
          <a:prstGeom prst="rect">
            <a:avLst/>
          </a:prstGeom>
          <a:noFill/>
          <a:ln/>
        </p:spPr>
        <p:txBody>
          <a:bodyPr wrap="square" lIns="127508" tIns="85090" rIns="42545" bIns="85090" rtlCol="0" anchor="ctr">
            <a:spAutoFit/>
          </a:bodyPr>
          <a:lstStyle/>
          <a:p>
            <a:pPr algn="l" indent="0" marL="0">
              <a:buNone/>
            </a:pPr>
            <a:r>
              <a:rPr lang="en-US" sz="650" b="1" dirty="0">
                <a:solidFill>
                  <a:srgbClr val="0A192F"/>
                </a:solidFill>
                <a:latin typeface="Segoe UI" pitchFamily="34" charset="0"/>
                <a:ea typeface="Segoe UI" pitchFamily="34" charset="-122"/>
                <a:cs typeface="Segoe UI" pitchFamily="34" charset="-120"/>
              </a:rPr>
              <a:t>6. GLCM + Feature Fusion</a:t>
            </a:r>
            <a:endParaRPr lang="en-US" sz="650" dirty="0"/>
          </a:p>
        </p:txBody>
      </p:sp>
      <p:sp>
        <p:nvSpPr>
          <p:cNvPr id="30" name="Text 26"/>
          <p:cNvSpPr/>
          <p:nvPr/>
        </p:nvSpPr>
        <p:spPr>
          <a:xfrm>
            <a:off x="428625" y="3007519"/>
            <a:ext cx="1785938" cy="321469"/>
          </a:xfrm>
          <a:prstGeom prst="rect">
            <a:avLst/>
          </a:prstGeom>
          <a:noFill/>
          <a:ln/>
        </p:spPr>
        <p:txBody>
          <a:bodyPr wrap="square" lIns="127508" tIns="85090" rIns="42545" bIns="85090" rtlCol="0" anchor="ctr">
            <a:spAutoFit/>
          </a:bodyPr>
          <a:lstStyle/>
          <a:p>
            <a:pPr algn="l" indent="0" marL="0">
              <a:buNone/>
            </a:pPr>
            <a:r>
              <a:rPr lang="en-US" sz="650" b="1" dirty="0">
                <a:solidFill>
                  <a:srgbClr val="0A192F"/>
                </a:solidFill>
                <a:latin typeface="Segoe UI" pitchFamily="34" charset="0"/>
                <a:ea typeface="Segoe UI" pitchFamily="34" charset="-122"/>
                <a:cs typeface="Segoe UI" pitchFamily="34" charset="-120"/>
              </a:rPr>
              <a:t>7. SVM Training &amp; Selection</a:t>
            </a:r>
            <a:endParaRPr lang="en-US" sz="650" dirty="0"/>
          </a:p>
        </p:txBody>
      </p:sp>
      <p:sp>
        <p:nvSpPr>
          <p:cNvPr id="31" name="Text 27"/>
          <p:cNvSpPr/>
          <p:nvPr/>
        </p:nvSpPr>
        <p:spPr>
          <a:xfrm>
            <a:off x="428625" y="3328988"/>
            <a:ext cx="1785938" cy="321469"/>
          </a:xfrm>
          <a:prstGeom prst="rect">
            <a:avLst/>
          </a:prstGeom>
          <a:noFill/>
          <a:ln/>
        </p:spPr>
        <p:txBody>
          <a:bodyPr wrap="square" lIns="127508" tIns="85090" rIns="42545" bIns="85090" rtlCol="0" anchor="ctr">
            <a:spAutoFit/>
          </a:bodyPr>
          <a:lstStyle/>
          <a:p>
            <a:pPr algn="l" indent="0" marL="0">
              <a:buNone/>
            </a:pPr>
            <a:r>
              <a:rPr lang="en-US" sz="650" b="1" dirty="0">
                <a:solidFill>
                  <a:srgbClr val="0A192F"/>
                </a:solidFill>
                <a:latin typeface="Segoe UI" pitchFamily="34" charset="0"/>
                <a:ea typeface="Segoe UI" pitchFamily="34" charset="-122"/>
                <a:cs typeface="Segoe UI" pitchFamily="34" charset="-120"/>
              </a:rPr>
              <a:t>8. Evaluation &amp; Analysis</a:t>
            </a:r>
            <a:endParaRPr lang="en-US" sz="650" dirty="0"/>
          </a:p>
        </p:txBody>
      </p:sp>
      <p:sp>
        <p:nvSpPr>
          <p:cNvPr id="32" name="Text 28"/>
          <p:cNvSpPr/>
          <p:nvPr/>
        </p:nvSpPr>
        <p:spPr>
          <a:xfrm>
            <a:off x="428625" y="3650456"/>
            <a:ext cx="1785938" cy="321469"/>
          </a:xfrm>
          <a:prstGeom prst="rect">
            <a:avLst/>
          </a:prstGeom>
          <a:noFill/>
          <a:ln/>
        </p:spPr>
        <p:txBody>
          <a:bodyPr wrap="square" lIns="127508" tIns="85090" rIns="42545" bIns="85090" rtlCol="0" anchor="ctr">
            <a:spAutoFit/>
          </a:bodyPr>
          <a:lstStyle/>
          <a:p>
            <a:pPr algn="l" indent="0" marL="0">
              <a:buNone/>
            </a:pPr>
            <a:r>
              <a:rPr lang="en-US" sz="650" b="1" dirty="0">
                <a:solidFill>
                  <a:srgbClr val="0A192F"/>
                </a:solidFill>
                <a:latin typeface="Segoe UI" pitchFamily="34" charset="0"/>
                <a:ea typeface="Segoe UI" pitchFamily="34" charset="-122"/>
                <a:cs typeface="Segoe UI" pitchFamily="34" charset="-120"/>
              </a:rPr>
              <a:t>9. Documentation &amp; Delivery</a:t>
            </a:r>
            <a:endParaRPr lang="en-US" sz="650" dirty="0"/>
          </a:p>
        </p:txBody>
      </p:sp>
      <p:sp>
        <p:nvSpPr>
          <p:cNvPr id="33" name="Text 29"/>
          <p:cNvSpPr/>
          <p:nvPr/>
        </p:nvSpPr>
        <p:spPr>
          <a:xfrm>
            <a:off x="3081468" y="4204097"/>
            <a:ext cx="544376" cy="114300"/>
          </a:xfrm>
          <a:prstGeom prst="rect">
            <a:avLst/>
          </a:prstGeom>
          <a:noFill/>
          <a:ln/>
        </p:spPr>
        <p:txBody>
          <a:bodyPr wrap="none" lIns="0" tIns="0" rIns="0" bIns="0" rtlCol="0" anchor="t">
            <a:spAutoFit/>
          </a:bodyPr>
          <a:lstStyle/>
          <a:p>
            <a:pPr algn="l" indent="0" marL="0">
              <a:buNone/>
            </a:pPr>
            <a:r>
              <a:rPr lang="en-US" sz="700" b="1" dirty="0">
                <a:solidFill>
                  <a:srgbClr val="333F48"/>
                </a:solidFill>
                <a:latin typeface="Segoe UI" pitchFamily="34" charset="0"/>
                <a:ea typeface="Segoe UI" pitchFamily="34" charset="-122"/>
                <a:cs typeface="Segoe UI" pitchFamily="34" charset="-120"/>
              </a:rPr>
              <a:t>Foundation</a:t>
            </a:r>
            <a:endParaRPr lang="en-US" sz="700" dirty="0"/>
          </a:p>
        </p:txBody>
      </p:sp>
      <p:sp>
        <p:nvSpPr>
          <p:cNvPr id="34" name="Text 30"/>
          <p:cNvSpPr/>
          <p:nvPr/>
        </p:nvSpPr>
        <p:spPr>
          <a:xfrm>
            <a:off x="4125906" y="4204097"/>
            <a:ext cx="628036" cy="114300"/>
          </a:xfrm>
          <a:prstGeom prst="rect">
            <a:avLst/>
          </a:prstGeom>
          <a:noFill/>
          <a:ln/>
        </p:spPr>
        <p:txBody>
          <a:bodyPr wrap="none" lIns="0" tIns="0" rIns="0" bIns="0" rtlCol="0" anchor="t">
            <a:spAutoFit/>
          </a:bodyPr>
          <a:lstStyle/>
          <a:p>
            <a:pPr algn="l" indent="0" marL="0">
              <a:buNone/>
            </a:pPr>
            <a:r>
              <a:rPr lang="en-US" sz="700" b="1" dirty="0">
                <a:solidFill>
                  <a:srgbClr val="333F48"/>
                </a:solidFill>
                <a:latin typeface="Segoe UI" pitchFamily="34" charset="0"/>
                <a:ea typeface="Segoe UI" pitchFamily="34" charset="-122"/>
                <a:cs typeface="Segoe UI" pitchFamily="34" charset="-120"/>
              </a:rPr>
              <a:t>Development</a:t>
            </a:r>
            <a:endParaRPr lang="en-US" sz="700" dirty="0"/>
          </a:p>
        </p:txBody>
      </p:sp>
      <p:sp>
        <p:nvSpPr>
          <p:cNvPr id="35" name="Text 31"/>
          <p:cNvSpPr/>
          <p:nvPr/>
        </p:nvSpPr>
        <p:spPr>
          <a:xfrm>
            <a:off x="5254005" y="4204097"/>
            <a:ext cx="1022784" cy="114300"/>
          </a:xfrm>
          <a:prstGeom prst="rect">
            <a:avLst/>
          </a:prstGeom>
          <a:noFill/>
          <a:ln/>
        </p:spPr>
        <p:txBody>
          <a:bodyPr wrap="none" lIns="0" tIns="0" rIns="0" bIns="0" rtlCol="0" anchor="t">
            <a:spAutoFit/>
          </a:bodyPr>
          <a:lstStyle/>
          <a:p>
            <a:pPr algn="l" indent="0" marL="0">
              <a:buNone/>
            </a:pPr>
            <a:r>
              <a:rPr lang="en-US" sz="700" b="1" dirty="0">
                <a:solidFill>
                  <a:srgbClr val="333F48"/>
                </a:solidFill>
                <a:latin typeface="Segoe UI" pitchFamily="34" charset="0"/>
                <a:ea typeface="Segoe UI" pitchFamily="34" charset="-122"/>
                <a:cs typeface="Segoe UI" pitchFamily="34" charset="-120"/>
              </a:rPr>
              <a:t>Evaluation &amp; Delivery</a:t>
            </a:r>
            <a:endParaRPr lang="en-US" sz="700" dirty="0"/>
          </a:p>
        </p:txBody>
      </p:sp>
      <p:sp>
        <p:nvSpPr>
          <p:cNvPr id="36" name="Text 32"/>
          <p:cNvSpPr/>
          <p:nvPr/>
        </p:nvSpPr>
        <p:spPr>
          <a:xfrm>
            <a:off x="7322344" y="4900613"/>
            <a:ext cx="1393031" cy="100013"/>
          </a:xfrm>
          <a:prstGeom prst="rect">
            <a:avLst/>
          </a:prstGeom>
          <a:noFill/>
          <a:ln/>
        </p:spPr>
        <p:txBody>
          <a:bodyPr wrap="square" lIns="0" tIns="0" rIns="0" bIns="0" rtlCol="0" anchor="t">
            <a:spAutoFit/>
          </a:bodyPr>
          <a:lstStyle/>
          <a:p>
            <a:pPr algn="l" indent="0" marL="0">
              <a:buNone/>
            </a:pPr>
            <a:r>
              <a:rPr lang="en-US" sz="600" dirty="0">
                <a:solidFill>
                  <a:srgbClr val="888888"/>
                </a:solidFill>
                <a:latin typeface="Segoe UI" pitchFamily="34" charset="0"/>
                <a:ea typeface="Segoe UI" pitchFamily="34" charset="-122"/>
                <a:cs typeface="Segoe UI" pitchFamily="34" charset="-120"/>
              </a:rPr>
              <a:t>Page 11 | Review-1 Project Proposal</a:t>
            </a:r>
            <a:endParaRPr lang="en-US" sz="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285750"/>
            <a:ext cx="3978287" cy="307181"/>
          </a:xfrm>
          <a:prstGeom prst="rect">
            <a:avLst/>
          </a:prstGeom>
          <a:noFill/>
          <a:ln/>
        </p:spPr>
        <p:txBody>
          <a:bodyPr wrap="square" lIns="0" tIns="0" rIns="0" bIns="42545" rtlCol="0" anchor="t">
            <a:spAutoFit/>
          </a:bodyPr>
          <a:lstStyle/>
          <a:p>
            <a:pPr algn="l" indent="0" marL="0">
              <a:buNone/>
            </a:pPr>
            <a:r>
              <a:rPr lang="en-US" sz="1700" dirty="0">
                <a:solidFill>
                  <a:srgbClr val="0A192F"/>
                </a:solidFill>
                <a:latin typeface="Courier New" pitchFamily="34" charset="0"/>
                <a:ea typeface="Courier New" pitchFamily="34" charset="-122"/>
                <a:cs typeface="Courier New" pitchFamily="34" charset="-120"/>
              </a:rPr>
              <a:t>EXPECTED RESULTS &amp; CONCLUSION</a:t>
            </a:r>
            <a:endParaRPr lang="en-US" sz="1700" dirty="0"/>
          </a:p>
        </p:txBody>
      </p:sp>
      <p:sp>
        <p:nvSpPr>
          <p:cNvPr id="5" name="Shape 1"/>
          <p:cNvSpPr/>
          <p:nvPr/>
        </p:nvSpPr>
        <p:spPr>
          <a:xfrm>
            <a:off x="428625" y="878681"/>
            <a:ext cx="4000500" cy="3429000"/>
          </a:xfrm>
          <a:prstGeom prst="rect">
            <a:avLst/>
          </a:prstGeom>
          <a:solidFill>
            <a:srgbClr val="FFFFFF"/>
          </a:solidFill>
          <a:ln w="9144">
            <a:solidFill>
              <a:srgbClr val="0A192F">
                <a:alpha val="10000"/>
              </a:srgbClr>
            </a:solidFill>
            <a:prstDash val="solid"/>
          </a:ln>
        </p:spPr>
      </p:sp>
      <p:sp>
        <p:nvSpPr>
          <p:cNvPr id="6" name="Text 2"/>
          <p:cNvSpPr/>
          <p:nvPr/>
        </p:nvSpPr>
        <p:spPr>
          <a:xfrm>
            <a:off x="642938" y="1057275"/>
            <a:ext cx="3571875" cy="228600"/>
          </a:xfrm>
          <a:prstGeom prst="rect">
            <a:avLst/>
          </a:prstGeom>
          <a:noFill/>
          <a:ln/>
        </p:spPr>
        <p:txBody>
          <a:bodyPr wrap="square" lIns="0" tIns="0" rIns="0" bIns="85090" rtlCol="0" anchor="t">
            <a:spAutoFit/>
          </a:bodyPr>
          <a:lstStyle/>
          <a:p>
            <a:pPr algn="l" indent="0" marL="0">
              <a:buNone/>
            </a:pPr>
            <a:r>
              <a:rPr lang="en-US" sz="900" b="1" spc="1" kern="0" dirty="0">
                <a:solidFill>
                  <a:srgbClr val="0A192F"/>
                </a:solidFill>
                <a:latin typeface="Segoe UI" pitchFamily="34" charset="0"/>
                <a:ea typeface="Segoe UI" pitchFamily="34" charset="-122"/>
                <a:cs typeface="Segoe UI" pitchFamily="34" charset="-120"/>
              </a:rPr>
              <a:t>EXPECTED OUTCOMES</a:t>
            </a:r>
            <a:endParaRPr lang="en-US" sz="900" dirty="0"/>
          </a:p>
        </p:txBody>
      </p:sp>
      <p:sp>
        <p:nvSpPr>
          <p:cNvPr id="7" name="Text 3"/>
          <p:cNvSpPr/>
          <p:nvPr/>
        </p:nvSpPr>
        <p:spPr>
          <a:xfrm>
            <a:off x="642938" y="1428750"/>
            <a:ext cx="3571875" cy="320018"/>
          </a:xfrm>
          <a:prstGeom prst="rect">
            <a:avLst/>
          </a:prstGeom>
          <a:noFill/>
          <a:ln/>
        </p:spPr>
        <p:txBody>
          <a:bodyPr wrap="square" lIns="212598" tIns="0" rIns="0" bIns="0" rtlCol="0" anchor="t">
            <a:spAutoFit/>
          </a:bodyPr>
          <a:lstStyle/>
          <a:p>
            <a:pPr algn="l" indent="0" marL="0">
              <a:lnSpc>
                <a:spcPct val="112000"/>
              </a:lnSpc>
              <a:buNone/>
            </a:pPr>
            <a:r>
              <a:rPr lang="en-US" sz="850" dirty="0">
                <a:solidFill>
                  <a:srgbClr val="333F48"/>
                </a:solidFill>
                <a:latin typeface="Segoe UI" pitchFamily="34" charset="0"/>
                <a:ea typeface="Segoe UI" pitchFamily="34" charset="-122"/>
                <a:cs typeface="Segoe UI" pitchFamily="34" charset="-120"/>
              </a:rPr>
              <a:t>A working lightweight industrial defect classification pipeline on MVTec AD.</a:t>
            </a:r>
            <a:endParaRPr lang="en-US" sz="850" dirty="0"/>
          </a:p>
        </p:txBody>
      </p:sp>
      <p:sp>
        <p:nvSpPr>
          <p:cNvPr id="8" name="Text 4"/>
          <p:cNvSpPr/>
          <p:nvPr/>
        </p:nvSpPr>
        <p:spPr>
          <a:xfrm>
            <a:off x="642938" y="1855924"/>
            <a:ext cx="3571875" cy="320018"/>
          </a:xfrm>
          <a:prstGeom prst="rect">
            <a:avLst/>
          </a:prstGeom>
          <a:noFill/>
          <a:ln/>
        </p:spPr>
        <p:txBody>
          <a:bodyPr wrap="square" lIns="212598" tIns="0" rIns="0" bIns="0" rtlCol="0" anchor="t">
            <a:spAutoFit/>
          </a:bodyPr>
          <a:lstStyle/>
          <a:p>
            <a:pPr algn="l" indent="0" marL="0">
              <a:lnSpc>
                <a:spcPct val="112000"/>
              </a:lnSpc>
              <a:buNone/>
            </a:pPr>
            <a:r>
              <a:rPr lang="en-US" sz="850" dirty="0">
                <a:solidFill>
                  <a:srgbClr val="333F48"/>
                </a:solidFill>
                <a:latin typeface="Segoe UI" pitchFamily="34" charset="0"/>
                <a:ea typeface="Segoe UI" pitchFamily="34" charset="-122"/>
                <a:cs typeface="Segoe UI" pitchFamily="34" charset="-120"/>
              </a:rPr>
              <a:t>Quantitative comparison of single-scale vs. multi-scale LBP performance.</a:t>
            </a:r>
            <a:endParaRPr lang="en-US" sz="850" dirty="0"/>
          </a:p>
        </p:txBody>
      </p:sp>
      <p:sp>
        <p:nvSpPr>
          <p:cNvPr id="9" name="Text 5"/>
          <p:cNvSpPr/>
          <p:nvPr/>
        </p:nvSpPr>
        <p:spPr>
          <a:xfrm>
            <a:off x="642938" y="2283098"/>
            <a:ext cx="3571875" cy="160009"/>
          </a:xfrm>
          <a:prstGeom prst="rect">
            <a:avLst/>
          </a:prstGeom>
          <a:noFill/>
          <a:ln/>
        </p:spPr>
        <p:txBody>
          <a:bodyPr wrap="none" lIns="212598" tIns="0" rIns="0" bIns="0" rtlCol="0" anchor="t">
            <a:spAutoFit/>
          </a:bodyPr>
          <a:lstStyle/>
          <a:p>
            <a:pPr algn="l" indent="0" marL="0">
              <a:lnSpc>
                <a:spcPct val="112000"/>
              </a:lnSpc>
              <a:buNone/>
            </a:pPr>
            <a:r>
              <a:rPr lang="en-US" sz="850" dirty="0">
                <a:solidFill>
                  <a:srgbClr val="333F48"/>
                </a:solidFill>
                <a:latin typeface="Segoe UI" pitchFamily="34" charset="0"/>
                <a:ea typeface="Segoe UI" pitchFamily="34" charset="-122"/>
                <a:cs typeface="Segoe UI" pitchFamily="34" charset="-120"/>
              </a:rPr>
              <a:t>Evaluation of LBP + GLCM feature fusion effectiveness.</a:t>
            </a:r>
            <a:endParaRPr lang="en-US" sz="850" dirty="0"/>
          </a:p>
        </p:txBody>
      </p:sp>
      <p:sp>
        <p:nvSpPr>
          <p:cNvPr id="10" name="Text 6"/>
          <p:cNvSpPr/>
          <p:nvPr/>
        </p:nvSpPr>
        <p:spPr>
          <a:xfrm>
            <a:off x="642938" y="2550263"/>
            <a:ext cx="3571875" cy="160009"/>
          </a:xfrm>
          <a:prstGeom prst="rect">
            <a:avLst/>
          </a:prstGeom>
          <a:noFill/>
          <a:ln/>
        </p:spPr>
        <p:txBody>
          <a:bodyPr wrap="none" lIns="212598" tIns="0" rIns="0" bIns="0" rtlCol="0" anchor="t">
            <a:spAutoFit/>
          </a:bodyPr>
          <a:lstStyle/>
          <a:p>
            <a:pPr algn="l" indent="0" marL="0">
              <a:lnSpc>
                <a:spcPct val="112000"/>
              </a:lnSpc>
              <a:buNone/>
            </a:pPr>
            <a:r>
              <a:rPr lang="en-US" sz="850" dirty="0">
                <a:solidFill>
                  <a:srgbClr val="333F48"/>
                </a:solidFill>
                <a:latin typeface="Segoe UI" pitchFamily="34" charset="0"/>
                <a:ea typeface="Segoe UI" pitchFamily="34" charset="-122"/>
                <a:cs typeface="Segoe UI" pitchFamily="34" charset="-120"/>
              </a:rPr>
              <a:t>Analysis of SVM kernel (Linear vs. RBF) performance trade-offs.</a:t>
            </a:r>
            <a:endParaRPr lang="en-US" sz="850" dirty="0"/>
          </a:p>
        </p:txBody>
      </p:sp>
      <p:sp>
        <p:nvSpPr>
          <p:cNvPr id="11" name="Text 7"/>
          <p:cNvSpPr/>
          <p:nvPr/>
        </p:nvSpPr>
        <p:spPr>
          <a:xfrm>
            <a:off x="642938" y="2817428"/>
            <a:ext cx="3571875" cy="320018"/>
          </a:xfrm>
          <a:prstGeom prst="rect">
            <a:avLst/>
          </a:prstGeom>
          <a:noFill/>
          <a:ln/>
        </p:spPr>
        <p:txBody>
          <a:bodyPr wrap="square" lIns="212598" tIns="0" rIns="0" bIns="0" rtlCol="0" anchor="t">
            <a:spAutoFit/>
          </a:bodyPr>
          <a:lstStyle/>
          <a:p>
            <a:pPr algn="l" indent="0" marL="0">
              <a:lnSpc>
                <a:spcPct val="112000"/>
              </a:lnSpc>
              <a:buNone/>
            </a:pPr>
            <a:r>
              <a:rPr lang="en-US" sz="850" dirty="0">
                <a:solidFill>
                  <a:srgbClr val="333F48"/>
                </a:solidFill>
                <a:latin typeface="Segoe UI" pitchFamily="34" charset="0"/>
                <a:ea typeface="Segoe UI" pitchFamily="34" charset="-122"/>
                <a:cs typeface="Segoe UI" pitchFamily="34" charset="-120"/>
              </a:rPr>
              <a:t>Detailed metrics: Accuracy, Precision, Recall, F1-score, and Confusion Matrices.</a:t>
            </a:r>
            <a:endParaRPr lang="en-US" sz="850" dirty="0"/>
          </a:p>
        </p:txBody>
      </p:sp>
      <p:sp>
        <p:nvSpPr>
          <p:cNvPr id="12" name="Text 8"/>
          <p:cNvSpPr/>
          <p:nvPr/>
        </p:nvSpPr>
        <p:spPr>
          <a:xfrm>
            <a:off x="642938" y="3244602"/>
            <a:ext cx="3571875" cy="320018"/>
          </a:xfrm>
          <a:prstGeom prst="rect">
            <a:avLst/>
          </a:prstGeom>
          <a:noFill/>
          <a:ln/>
        </p:spPr>
        <p:txBody>
          <a:bodyPr wrap="square" lIns="212598" tIns="0" rIns="0" bIns="0" rtlCol="0" anchor="t">
            <a:spAutoFit/>
          </a:bodyPr>
          <a:lstStyle/>
          <a:p>
            <a:pPr algn="l" indent="0" marL="0">
              <a:lnSpc>
                <a:spcPct val="112000"/>
              </a:lnSpc>
              <a:buNone/>
            </a:pPr>
            <a:r>
              <a:rPr lang="en-US" sz="850" dirty="0">
                <a:solidFill>
                  <a:srgbClr val="333F48"/>
                </a:solidFill>
                <a:latin typeface="Segoe UI" pitchFamily="34" charset="0"/>
                <a:ea typeface="Segoe UI" pitchFamily="34" charset="-122"/>
                <a:cs typeface="Segoe UI" pitchFamily="34" charset="-120"/>
              </a:rPr>
              <a:t>Insight into the trade-off between feature complexity and computational cost.</a:t>
            </a:r>
            <a:endParaRPr lang="en-US" sz="850" dirty="0"/>
          </a:p>
        </p:txBody>
      </p:sp>
      <p:pic>
        <p:nvPicPr>
          <p:cNvPr id="13" name="Image 1" descr="preencoded.png">    </p:cNvPr>
          <p:cNvPicPr>
            <a:picLocks noChangeAspect="1"/>
          </p:cNvPicPr>
          <p:nvPr/>
        </p:nvPicPr>
        <p:blipFill>
          <a:blip r:embed="rId2"/>
          <a:stretch>
            <a:fillRect/>
          </a:stretch>
        </p:blipFill>
        <p:spPr>
          <a:xfrm>
            <a:off x="642938" y="1428750"/>
            <a:ext cx="100013" cy="139973"/>
          </a:xfrm>
          <a:prstGeom prst="rect">
            <a:avLst/>
          </a:prstGeom>
        </p:spPr>
      </p:pic>
      <p:pic>
        <p:nvPicPr>
          <p:cNvPr id="14" name="Image 2" descr="preencoded.png">    </p:cNvPr>
          <p:cNvPicPr>
            <a:picLocks noChangeAspect="1"/>
          </p:cNvPicPr>
          <p:nvPr/>
        </p:nvPicPr>
        <p:blipFill>
          <a:blip r:embed="rId3"/>
          <a:stretch>
            <a:fillRect/>
          </a:stretch>
        </p:blipFill>
        <p:spPr>
          <a:xfrm>
            <a:off x="642938" y="1855924"/>
            <a:ext cx="100013" cy="139973"/>
          </a:xfrm>
          <a:prstGeom prst="rect">
            <a:avLst/>
          </a:prstGeom>
        </p:spPr>
      </p:pic>
      <p:pic>
        <p:nvPicPr>
          <p:cNvPr id="15" name="Image 3" descr="preencoded.png">    </p:cNvPr>
          <p:cNvPicPr>
            <a:picLocks noChangeAspect="1"/>
          </p:cNvPicPr>
          <p:nvPr/>
        </p:nvPicPr>
        <p:blipFill>
          <a:blip r:embed="rId4"/>
          <a:stretch>
            <a:fillRect/>
          </a:stretch>
        </p:blipFill>
        <p:spPr>
          <a:xfrm>
            <a:off x="642938" y="2283098"/>
            <a:ext cx="100013" cy="139973"/>
          </a:xfrm>
          <a:prstGeom prst="rect">
            <a:avLst/>
          </a:prstGeom>
        </p:spPr>
      </p:pic>
      <p:pic>
        <p:nvPicPr>
          <p:cNvPr id="16" name="Image 4" descr="preencoded.png">    </p:cNvPr>
          <p:cNvPicPr>
            <a:picLocks noChangeAspect="1"/>
          </p:cNvPicPr>
          <p:nvPr/>
        </p:nvPicPr>
        <p:blipFill>
          <a:blip r:embed="rId5"/>
          <a:stretch>
            <a:fillRect/>
          </a:stretch>
        </p:blipFill>
        <p:spPr>
          <a:xfrm>
            <a:off x="642938" y="2550263"/>
            <a:ext cx="100013" cy="139973"/>
          </a:xfrm>
          <a:prstGeom prst="rect">
            <a:avLst/>
          </a:prstGeom>
        </p:spPr>
      </p:pic>
      <p:pic>
        <p:nvPicPr>
          <p:cNvPr id="17" name="Image 5" descr="preencoded.png">    </p:cNvPr>
          <p:cNvPicPr>
            <a:picLocks noChangeAspect="1"/>
          </p:cNvPicPr>
          <p:nvPr/>
        </p:nvPicPr>
        <p:blipFill>
          <a:blip r:embed="rId6"/>
          <a:stretch>
            <a:fillRect/>
          </a:stretch>
        </p:blipFill>
        <p:spPr>
          <a:xfrm>
            <a:off x="642938" y="2817428"/>
            <a:ext cx="100013" cy="139973"/>
          </a:xfrm>
          <a:prstGeom prst="rect">
            <a:avLst/>
          </a:prstGeom>
        </p:spPr>
      </p:pic>
      <p:pic>
        <p:nvPicPr>
          <p:cNvPr id="18" name="Image 6" descr="preencoded.png">    </p:cNvPr>
          <p:cNvPicPr>
            <a:picLocks noChangeAspect="1"/>
          </p:cNvPicPr>
          <p:nvPr/>
        </p:nvPicPr>
        <p:blipFill>
          <a:blip r:embed="rId7"/>
          <a:stretch>
            <a:fillRect/>
          </a:stretch>
        </p:blipFill>
        <p:spPr>
          <a:xfrm>
            <a:off x="642938" y="3244602"/>
            <a:ext cx="100013" cy="139973"/>
          </a:xfrm>
          <a:prstGeom prst="rect">
            <a:avLst/>
          </a:prstGeom>
        </p:spPr>
      </p:pic>
      <p:sp>
        <p:nvSpPr>
          <p:cNvPr id="19" name="Shape 9"/>
          <p:cNvSpPr/>
          <p:nvPr/>
        </p:nvSpPr>
        <p:spPr>
          <a:xfrm>
            <a:off x="4714875" y="878681"/>
            <a:ext cx="4000500" cy="3429000"/>
          </a:xfrm>
          <a:prstGeom prst="rect">
            <a:avLst/>
          </a:prstGeom>
          <a:solidFill>
            <a:srgbClr val="FFFFFF"/>
          </a:solidFill>
          <a:ln w="9144">
            <a:solidFill>
              <a:srgbClr val="0A192F">
                <a:alpha val="10000"/>
              </a:srgbClr>
            </a:solidFill>
            <a:prstDash val="solid"/>
          </a:ln>
        </p:spPr>
      </p:sp>
      <p:sp>
        <p:nvSpPr>
          <p:cNvPr id="20" name="Text 10"/>
          <p:cNvSpPr/>
          <p:nvPr/>
        </p:nvSpPr>
        <p:spPr>
          <a:xfrm>
            <a:off x="4929188" y="1057275"/>
            <a:ext cx="3571875" cy="228600"/>
          </a:xfrm>
          <a:prstGeom prst="rect">
            <a:avLst/>
          </a:prstGeom>
          <a:noFill/>
          <a:ln/>
        </p:spPr>
        <p:txBody>
          <a:bodyPr wrap="square" lIns="0" tIns="0" rIns="0" bIns="85090" rtlCol="0" anchor="t">
            <a:spAutoFit/>
          </a:bodyPr>
          <a:lstStyle/>
          <a:p>
            <a:pPr algn="l" indent="0" marL="0">
              <a:buNone/>
            </a:pPr>
            <a:r>
              <a:rPr lang="en-US" sz="900" b="1" spc="1" kern="0" dirty="0">
                <a:solidFill>
                  <a:srgbClr val="0A192F"/>
                </a:solidFill>
                <a:latin typeface="Segoe UI" pitchFamily="34" charset="0"/>
                <a:ea typeface="Segoe UI" pitchFamily="34" charset="-122"/>
                <a:cs typeface="Segoe UI" pitchFamily="34" charset="-120"/>
              </a:rPr>
              <a:t>CONCLUSION</a:t>
            </a:r>
            <a:endParaRPr lang="en-US" sz="900" dirty="0"/>
          </a:p>
        </p:txBody>
      </p:sp>
      <p:sp>
        <p:nvSpPr>
          <p:cNvPr id="21" name="Text 11"/>
          <p:cNvSpPr/>
          <p:nvPr/>
        </p:nvSpPr>
        <p:spPr>
          <a:xfrm>
            <a:off x="4929188" y="1428750"/>
            <a:ext cx="3571875" cy="914400"/>
          </a:xfrm>
          <a:prstGeom prst="rect">
            <a:avLst/>
          </a:prstGeom>
          <a:noFill/>
          <a:ln/>
        </p:spPr>
        <p:txBody>
          <a:bodyPr wrap="square" lIns="170053" tIns="0" rIns="0" bIns="0" rtlCol="0" anchor="t">
            <a:spAutoFit/>
          </a:bodyPr>
          <a:lstStyle/>
          <a:p>
            <a:pPr algn="l" indent="0" marL="0">
              <a:lnSpc>
                <a:spcPct val="128000"/>
              </a:lnSpc>
              <a:buNone/>
            </a:pPr>
            <a:r>
              <a:rPr lang="en-US" sz="1050" i="1" dirty="0">
                <a:solidFill>
                  <a:srgbClr val="0A192F"/>
                </a:solidFill>
                <a:latin typeface="Segoe UI" pitchFamily="34" charset="0"/>
                <a:ea typeface="Segoe UI" pitchFamily="34" charset="-122"/>
                <a:cs typeface="Segoe UI" pitchFamily="34" charset="-120"/>
              </a:rPr>
              <a:t>"The project investigates whether carefully designed classical texture descriptors can provide an accurate, efficient, and interpretable alternative for industrial defect detection on the MVTec AD dataset."</a:t>
            </a:r>
            <a:endParaRPr lang="en-US" sz="1050" dirty="0"/>
          </a:p>
        </p:txBody>
      </p:sp>
      <p:sp>
        <p:nvSpPr>
          <p:cNvPr id="22" name="Text 12"/>
          <p:cNvSpPr/>
          <p:nvPr/>
        </p:nvSpPr>
        <p:spPr>
          <a:xfrm>
            <a:off x="4929188" y="2557463"/>
            <a:ext cx="3571875" cy="132159"/>
          </a:xfrm>
          <a:prstGeom prst="rect">
            <a:avLst/>
          </a:prstGeom>
          <a:noFill/>
          <a:ln/>
        </p:spPr>
        <p:txBody>
          <a:bodyPr wrap="square" lIns="0" tIns="0" rIns="0" bIns="0" rtlCol="0" anchor="t">
            <a:spAutoFit/>
          </a:bodyPr>
          <a:lstStyle/>
          <a:p>
            <a:pPr algn="l" indent="0" marL="0">
              <a:buNone/>
            </a:pPr>
            <a:r>
              <a:rPr lang="en-US" sz="800" b="1" dirty="0">
                <a:solidFill>
                  <a:srgbClr val="008080"/>
                </a:solidFill>
                <a:latin typeface="Segoe UI" pitchFamily="34" charset="0"/>
                <a:ea typeface="Segoe UI" pitchFamily="34" charset="-122"/>
                <a:cs typeface="Segoe UI" pitchFamily="34" charset="-120"/>
              </a:rPr>
              <a:t>FUTURE SCOPE</a:t>
            </a:r>
            <a:endParaRPr lang="en-US" sz="800" dirty="0"/>
          </a:p>
        </p:txBody>
      </p:sp>
      <p:sp>
        <p:nvSpPr>
          <p:cNvPr id="23" name="Text 13"/>
          <p:cNvSpPr/>
          <p:nvPr/>
        </p:nvSpPr>
        <p:spPr>
          <a:xfrm>
            <a:off x="4929188" y="2796778"/>
            <a:ext cx="3571875" cy="139973"/>
          </a:xfrm>
          <a:prstGeom prst="rect">
            <a:avLst/>
          </a:prstGeom>
          <a:noFill/>
          <a:ln/>
        </p:spPr>
        <p:txBody>
          <a:bodyPr wrap="none" lIns="212598" tIns="0" rIns="0" bIns="0" rtlCol="0" anchor="t">
            <a:spAutoFit/>
          </a:bodyPr>
          <a:lstStyle/>
          <a:p>
            <a:pPr algn="l" indent="0" marL="0">
              <a:lnSpc>
                <a:spcPct val="112000"/>
              </a:lnSpc>
              <a:buNone/>
            </a:pPr>
            <a:r>
              <a:rPr lang="en-US" sz="750" dirty="0">
                <a:solidFill>
                  <a:srgbClr val="333F48"/>
                </a:solidFill>
                <a:latin typeface="Segoe UI" pitchFamily="34" charset="0"/>
                <a:ea typeface="Segoe UI" pitchFamily="34" charset="-122"/>
                <a:cs typeface="Segoe UI" pitchFamily="34" charset="-120"/>
              </a:rPr>
              <a:t>Extend binary classification to pixel-level anomaly localization.</a:t>
            </a:r>
            <a:endParaRPr lang="en-US" sz="750" dirty="0"/>
          </a:p>
        </p:txBody>
      </p:sp>
      <p:sp>
        <p:nvSpPr>
          <p:cNvPr id="24" name="Text 14"/>
          <p:cNvSpPr/>
          <p:nvPr/>
        </p:nvSpPr>
        <p:spPr>
          <a:xfrm>
            <a:off x="4929188" y="2993901"/>
            <a:ext cx="3571875" cy="139973"/>
          </a:xfrm>
          <a:prstGeom prst="rect">
            <a:avLst/>
          </a:prstGeom>
          <a:noFill/>
          <a:ln/>
        </p:spPr>
        <p:txBody>
          <a:bodyPr wrap="none" lIns="212598" tIns="0" rIns="0" bIns="0" rtlCol="0" anchor="t">
            <a:spAutoFit/>
          </a:bodyPr>
          <a:lstStyle/>
          <a:p>
            <a:pPr algn="l" indent="0" marL="0">
              <a:lnSpc>
                <a:spcPct val="112000"/>
              </a:lnSpc>
              <a:buNone/>
            </a:pPr>
            <a:r>
              <a:rPr lang="en-US" sz="750" dirty="0">
                <a:solidFill>
                  <a:srgbClr val="333F48"/>
                </a:solidFill>
                <a:latin typeface="Segoe UI" pitchFamily="34" charset="0"/>
                <a:ea typeface="Segoe UI" pitchFamily="34" charset="-122"/>
                <a:cs typeface="Segoe UI" pitchFamily="34" charset="-120"/>
              </a:rPr>
              <a:t>Evaluate category-wise robustness across all 15 MVTec AD classes.</a:t>
            </a:r>
            <a:endParaRPr lang="en-US" sz="750" dirty="0"/>
          </a:p>
        </p:txBody>
      </p:sp>
      <p:sp>
        <p:nvSpPr>
          <p:cNvPr id="25" name="Text 15"/>
          <p:cNvSpPr/>
          <p:nvPr/>
        </p:nvSpPr>
        <p:spPr>
          <a:xfrm>
            <a:off x="4929188" y="3191024"/>
            <a:ext cx="3571875" cy="139973"/>
          </a:xfrm>
          <a:prstGeom prst="rect">
            <a:avLst/>
          </a:prstGeom>
          <a:noFill/>
          <a:ln/>
        </p:spPr>
        <p:txBody>
          <a:bodyPr wrap="none" lIns="212598" tIns="0" rIns="0" bIns="0" rtlCol="0" anchor="t">
            <a:spAutoFit/>
          </a:bodyPr>
          <a:lstStyle/>
          <a:p>
            <a:pPr algn="l" indent="0" marL="0">
              <a:lnSpc>
                <a:spcPct val="112000"/>
              </a:lnSpc>
              <a:buNone/>
            </a:pPr>
            <a:r>
              <a:rPr lang="en-US" sz="750" dirty="0">
                <a:solidFill>
                  <a:srgbClr val="333F48"/>
                </a:solidFill>
                <a:latin typeface="Segoe UI" pitchFamily="34" charset="0"/>
                <a:ea typeface="Segoe UI" pitchFamily="34" charset="-122"/>
                <a:cs typeface="Segoe UI" pitchFamily="34" charset="-120"/>
              </a:rPr>
              <a:t>Investigate adaptive scale selection for LBP based on texture density.</a:t>
            </a:r>
            <a:endParaRPr lang="en-US" sz="750" dirty="0"/>
          </a:p>
        </p:txBody>
      </p:sp>
      <p:sp>
        <p:nvSpPr>
          <p:cNvPr id="26" name="Text 16"/>
          <p:cNvSpPr/>
          <p:nvPr/>
        </p:nvSpPr>
        <p:spPr>
          <a:xfrm>
            <a:off x="4929188" y="3388147"/>
            <a:ext cx="3571875" cy="279946"/>
          </a:xfrm>
          <a:prstGeom prst="rect">
            <a:avLst/>
          </a:prstGeom>
          <a:noFill/>
          <a:ln/>
        </p:spPr>
        <p:txBody>
          <a:bodyPr wrap="square" lIns="212598" tIns="0" rIns="0" bIns="0" rtlCol="0" anchor="t">
            <a:spAutoFit/>
          </a:bodyPr>
          <a:lstStyle/>
          <a:p>
            <a:pPr algn="l" indent="0" marL="0">
              <a:lnSpc>
                <a:spcPct val="112000"/>
              </a:lnSpc>
              <a:buNone/>
            </a:pPr>
            <a:r>
              <a:rPr lang="en-US" sz="750" dirty="0">
                <a:solidFill>
                  <a:srgbClr val="333F48"/>
                </a:solidFill>
                <a:latin typeface="Segoe UI" pitchFamily="34" charset="0"/>
                <a:ea typeface="Segoe UI" pitchFamily="34" charset="-122"/>
                <a:cs typeface="Segoe UI" pitchFamily="34" charset="-120"/>
              </a:rPr>
              <a:t>Compare against compact deep-learning baselines under matched compute budgets.</a:t>
            </a:r>
            <a:endParaRPr lang="en-US" sz="750" dirty="0"/>
          </a:p>
        </p:txBody>
      </p:sp>
      <p:sp>
        <p:nvSpPr>
          <p:cNvPr id="27" name="Text 17"/>
          <p:cNvSpPr/>
          <p:nvPr/>
        </p:nvSpPr>
        <p:spPr>
          <a:xfrm>
            <a:off x="7315981" y="4900613"/>
            <a:ext cx="1399394" cy="100013"/>
          </a:xfrm>
          <a:prstGeom prst="rect">
            <a:avLst/>
          </a:prstGeom>
          <a:noFill/>
          <a:ln/>
        </p:spPr>
        <p:txBody>
          <a:bodyPr wrap="square" lIns="0" tIns="0" rIns="0" bIns="0" rtlCol="0" anchor="t">
            <a:spAutoFit/>
          </a:bodyPr>
          <a:lstStyle/>
          <a:p>
            <a:pPr algn="l" indent="0" marL="0">
              <a:buNone/>
            </a:pPr>
            <a:r>
              <a:rPr lang="en-US" sz="600" dirty="0">
                <a:solidFill>
                  <a:srgbClr val="888888"/>
                </a:solidFill>
                <a:latin typeface="Segoe UI" pitchFamily="34" charset="0"/>
                <a:ea typeface="Segoe UI" pitchFamily="34" charset="-122"/>
                <a:cs typeface="Segoe UI" pitchFamily="34" charset="-120"/>
              </a:rPr>
              <a:t>Page 12 | Review-1 Project Proposal</a:t>
            </a:r>
            <a:endParaRPr lang="en-US" sz="600" dirty="0"/>
          </a:p>
        </p:txBody>
      </p:sp>
      <p:pic>
        <p:nvPicPr>
          <p:cNvPr id="28" name="Image 7" descr="preencoded.png">    </p:cNvPr>
          <p:cNvPicPr>
            <a:picLocks noChangeAspect="1"/>
          </p:cNvPicPr>
          <p:nvPr/>
        </p:nvPicPr>
        <p:blipFill>
          <a:blip r:embed="rId8"/>
          <a:stretch>
            <a:fillRect/>
          </a:stretch>
        </p:blipFill>
        <p:spPr>
          <a:xfrm>
            <a:off x="4929188" y="2796778"/>
            <a:ext cx="100013" cy="139973"/>
          </a:xfrm>
          <a:prstGeom prst="rect">
            <a:avLst/>
          </a:prstGeom>
        </p:spPr>
      </p:pic>
      <p:pic>
        <p:nvPicPr>
          <p:cNvPr id="29" name="Image 8" descr="preencoded.png">    </p:cNvPr>
          <p:cNvPicPr>
            <a:picLocks noChangeAspect="1"/>
          </p:cNvPicPr>
          <p:nvPr/>
        </p:nvPicPr>
        <p:blipFill>
          <a:blip r:embed="rId9"/>
          <a:stretch>
            <a:fillRect/>
          </a:stretch>
        </p:blipFill>
        <p:spPr>
          <a:xfrm>
            <a:off x="4929188" y="2993901"/>
            <a:ext cx="100013" cy="139973"/>
          </a:xfrm>
          <a:prstGeom prst="rect">
            <a:avLst/>
          </a:prstGeom>
        </p:spPr>
      </p:pic>
      <p:pic>
        <p:nvPicPr>
          <p:cNvPr id="30" name="Image 9" descr="preencoded.png">    </p:cNvPr>
          <p:cNvPicPr>
            <a:picLocks noChangeAspect="1"/>
          </p:cNvPicPr>
          <p:nvPr/>
        </p:nvPicPr>
        <p:blipFill>
          <a:blip r:embed="rId10"/>
          <a:stretch>
            <a:fillRect/>
          </a:stretch>
        </p:blipFill>
        <p:spPr>
          <a:xfrm>
            <a:off x="4929188" y="3191024"/>
            <a:ext cx="100013" cy="139973"/>
          </a:xfrm>
          <a:prstGeom prst="rect">
            <a:avLst/>
          </a:prstGeom>
        </p:spPr>
      </p:pic>
      <p:pic>
        <p:nvPicPr>
          <p:cNvPr id="31" name="Image 10" descr="preencoded.png">    </p:cNvPr>
          <p:cNvPicPr>
            <a:picLocks noChangeAspect="1"/>
          </p:cNvPicPr>
          <p:nvPr/>
        </p:nvPicPr>
        <p:blipFill>
          <a:blip r:embed="rId11"/>
          <a:stretch>
            <a:fillRect/>
          </a:stretch>
        </p:blipFill>
        <p:spPr>
          <a:xfrm>
            <a:off x="4929188" y="3388147"/>
            <a:ext cx="100013" cy="13997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2026-08-22T14:08:39Z</dcterms:created>
  <dcterms:modified xsi:type="dcterms:W3CDTF">2026-08-22T14:08:39Z</dcterms:modified>
</cp:coreProperties>
</file>